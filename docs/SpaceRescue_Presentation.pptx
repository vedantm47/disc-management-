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a:solidFill>
                  <a:srgbClr val="0F1B2D"/>
                </a:solidFill>
              </a:rPr>
              <a:t>Full C: scan, warm cache (s) by threads</a:t>
            </a:r>
          </a:p>
        </c:rich>
      </c:tx>
      <c:layout/>
      <c:overlay val="0"/>
    </c:title>
    <c:autoTitleDeleted val="0"/>
    <c:plotArea>
      <c:barChart>
        <c:barDir val="col"/>
        <c:grouping val="clustered"/>
        <c:ser>
          <c:idx val="0"/>
          <c:order val="0"/>
          <c:tx>
            <c:strRef>
              <c:f>Sheet1!$B$1</c:f>
              <c:strCache>
                <c:ptCount val="1"/>
                <c:pt idx="0">
                  <c:v>Seconds</c:v>
                </c:pt>
              </c:strCache>
            </c:strRef>
          </c:tx>
          <c:spPr>
            <a:solidFill>
              <a:srgbClr val="3E6FD8"/>
            </a:solidFill>
          </c:spPr>
          <c:dPt>
            <c:idx val="3"/>
            <c:spPr>
              <a:solidFill>
                <a:srgbClr val="F5A623"/>
              </a:solidFill>
            </c:spPr>
          </c:dPt>
          <c:cat>
            <c:strRef>
              <c:f>Sheet1!$A$2:$A$6</c:f>
              <c:strCache>
                <c:ptCount val="5"/>
                <c:pt idx="0">
                  <c:v>1</c:v>
                </c:pt>
                <c:pt idx="1">
                  <c:v>2</c:v>
                </c:pt>
                <c:pt idx="2">
                  <c:v>4</c:v>
                </c:pt>
                <c:pt idx="3">
                  <c:v>8</c:v>
                </c:pt>
                <c:pt idx="4">
                  <c:v>12</c:v>
                </c:pt>
              </c:strCache>
            </c:strRef>
          </c:cat>
          <c:val>
            <c:numRef>
              <c:f>Sheet1!$B$2:$B$6</c:f>
              <c:numCache>
                <c:formatCode>General</c:formatCode>
                <c:ptCount val="5"/>
                <c:pt idx="0">
                  <c:v>25.1</c:v>
                </c:pt>
                <c:pt idx="1">
                  <c:v>14.4</c:v>
                </c:pt>
                <c:pt idx="2">
                  <c:v>11.6</c:v>
                </c:pt>
                <c:pt idx="3">
                  <c:v>8.2</c:v>
                </c:pt>
                <c:pt idx="4">
                  <c:v>11.8</c:v>
                </c:pt>
              </c:numCache>
            </c:numRef>
          </c:val>
        </c:ser>
        <c:dLbls>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SpaceRescue is a Windows disk manager built for the moment the system drive is full. At that moment Windows updates fail, apps crash, and most disk tools also fail because they need disk space and memory themselves. Our tool scans fast, explains what is safe to remove, and writes nothing to the full drive. It also shows the operating-system internals behind disk space: clusters, the MFT, extents and slack.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the problem and why Windows' own tools do not solve it, then the users we designed for. The middle of the talk is the operating-systems content: file systems, concurrency, memory and scheduling, each tied to our code. Then algorithms, architecture, the product itself, measured results and an honest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Underneath, Windows knows exactly where every byte is: NTFS keeps a record per file in the Master File Table, and the volume tracks free clusters. The user only gets a red bar in Explorer. SpaceRescue reads the same structures the OS uses and turns them into answers a person can act on safely.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scenario we designed around. With almost no free space, Windows itself becomes unstable. Disk tools make it worse: they write temp files, caches and settings, and they need memory exactly when the pagefile cannot grow. Our own first prototype needed 289 seconds to scan C: from a cold cache, measured on the test laptop. And no tool tells the user what is safe to remove, so people delete the wrong things.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are features, columns are the Windows 11 tools a user would try. Explorer's folder Properties gives one folder's size at a time. Settings &gt; Storage shows categories and can clean temporary files; Storage Sense can run when space is low, so alerts are 'partly'. Disk Cleanup removes a fixed list of categories without undo. Disk Management shows partitions and Optimize Drives shows fragmentation percentage, which is why they get 'partly' for internals. The gap we close: none of them shows where space went at file level with a safe, undoable cleanup and warnings before the disk is full. Our 'works at 0 bytes' is a design property; the 0-byte VHDX test is still pending.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scenario on this slide is supported by the current build. The student case is the core one: Rescue Mode turns on below 1 GB or 2% free, and the quick-win pre-scan answers in about three seconds. Developer caches are found by a rule table plus folder rules like node_modules next to package.json. System files such as pagefile.sys get a lock and the safe Windows tool instead of a delete button.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scenario on this slide is supported by the current build. Alerts run in a 1.6 MB tray process with hysteresis so they do not repeat. Quarantine copies to another drive, checks the size, then deletes, and can be undone. The Explorer right-click entry is implemented in setup.cpp but we have not yet tested it on a clean machine, so we say 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designed the flow from the user's side. First they notice, through a quiet tray alert, before the disk is full. Then they understand where space went; that is why results stream while the scan runs. Then they act, but only through a review list with confirmation and undo, never a one-click delete from the dashboard. Finally they stay safe: the reserve file can be re-created and the next alert re-arms only after space recovers.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answer to every problem we raised. Because the tool itself needs space and memory, Rescue Mode writes nothing to the full drive and can hand back a 512 MB reserve file instantly. Because scanning took minutes, the scanner now uses eight threads and finishes C: in 8.2 seconds, with a first answer after three seconds. Because users don't know what is safe, every item carries a safety badge and every action can be undone. System files get a lock and the Windows tool that shrinks them safely, and tray alerts warn long before the disk is full.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objectives drove the work. Rescue and fast scan are the hard engineering ones. Explain and clean safely are about trust. Warn early prevents the problem, and teach internals is the operating-systems angle: the same data we use to free space also shows how the file system allocates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studied five well-known tools. WinDirStat's three linked views shaped our Explore tab, and its cushion treemap paper trail led us to the van Wijk and Bruls papers. WizTree shows how fast MFT reading can be. None of them warns before the disk is full, and none is designed to run when the system drive itself has no free space. The gap column is our reading of their feature sets, not a benchmark of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NTFS Master File Table is the counterpart of the Unix inode table: one record per file with its attributes and where its data lives. Directory enumeration returns entries with name, size, timestamps and attributes. File data is stored as extents, runs of consecutive clusters; a file split into many extents is fragmented, and Disk Internals draws that strip. Free space is managed in clusters, and slack is internal fragmentation. Our reserve file is the same idea as ext4 reserving blocks for root.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cache is why the same scan took 289 seconds cold and 58 warm. Hard links are one file with several names: enumeration counts each name, the MFT counts the file once, which explained a 15 GB difference on C:. Junctions are not followed so we never loop or double count. Compressed and sparse files allocate less than their logical size. Recycling on the same volume is a rename, a journaled metadata operation, so it needs no new space; undo renames the file 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Disk scheduling: random directory reads cause many seeks, a sequential MFT read does not; FCFS, SSTF and SCAN from the syllabus all try to reduce that seek cost. The MFT reader uses unbuffered, cluster-aligned reads and overlapped I/O with eight reads in flight. The System tab lists restore points with the Windows tool to shrink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scanner.cpp. Run starts min(cores, 8) worker threads. They share one LIFO queue of folders protected by a std::mutex and a condition variable; in our build these compile to a Windows SRW lock and SleepConditionVariableSRW, which we confirmed in the executable's import table. A worker pops a folder, enumerates it with no lock held, reserves a contiguous block of nodes with one atomic fetch_add, and writes names into its own arena. Then it takes the lock briefly to push the sub-folders. When the queue is empty and no worker is busy, the condition variable wakes everyone to exit, and the scanner posts a message to the UI thread.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worker pool, the producer-consumer queue, mutual exclusion, the condition variable, atomics and thread-local storage are all in scanner.cpp. We checked the compiled executable: it imports AcquireSRWLockExclusive and SleepConditionVariableSRW, so the C++ mutex and condition variable are Windows slim reader-writer locks used in exclusive mode. Progress counters and node reservation use atomic fetch_add, so the hot path has no lock.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Races: two workers never touch the same folder's child list, because only the worker scanning a folder links its children. Deadlock: there is never more than one lock held at a time, and none is held during I/O. The shared queue balances load automatically. Workers never touch windows; they post messages. Amdahl's law shows up in our numbers: beyond 8 threads the disk and the queue lock become the serial part, and 12 threads were slower than 8. Files in use are opened with full sharing flags, and access-denied folders are counted, not fatal.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Rescue Mode the scan threads enter background mode, which lowers both CPU and I/O priority so the PC stays usable. Thread count is min(cores, 8) because extra threads only add context switches; we measured 12 threads slower than 8. A full disk also means less memory, because the pagefile cannot grow, so we cap the tree with a memory budget and fold small files. Nodes and names live in 1 MB arenas instead of millions of small heap allocations, which also avoids heap fragmentation.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scan crosses into kernel mode through NtQueryDirectoryFile or DeviceIoControl with NTFS FSCTLs. Reading the raw volume needs administrator rights; without them we fall back to directory enumeration. Access-denied folders are counted, 520 on our C:, and the scan continues. Windows-managed paths cannot be deleted from the app. The tray watcher is a message loop with a 30-second timer and Shell_NotifyIcon notifications.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full disk we lose both disk space and usable memory, so every design choice here saves one or the other. The scan tree never touches disk. Nodes are 64 bytes in 1 MB chunks, ASCII names take one byte per character, and a memory budget folds small files. Measured on our laptop: 255 MB peak working set for the scanner on 1.68 million files with 8 threads, 1.6 MB for the tray process, and 19 bytes written during a whole app scan of C: - that is the last-scan-path setting, which is suppressed in Rescue Mode by design.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algorithms do the heavy lifting. The scan is a depth-first traversal spread over workers. The MFT reader applies the update-sequence fixups and parses each record's attributes. Sizes are rolled up in one post-order pass. The treemap uses the squarified layout of Bruls, Huizing and van Wijk with van Wijk's cushion shading; full C: renders in 76 ms. The duplicate finder only reads file contents for files that already share a size.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Stale files use the last-access time only when NTFS updates it; on this PC the registry value 0x80000002 says it does, otherwise we fall back to last write. Extent merging joins physically adjacent runs; on a 6 GB ISO that turned fsutil's 86 runs into 24 fragments. Alerts fire once when crossing a threshold downward and re-arm only after free space rises 10% above it; 11 of 11 unit tests pass.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folder goes through four steps: enumerate with NtQueryDirectoryFile into a 64 KiB per-thread buffer, reserve a contiguous block of nodes with one atomic operation, push sub-folders, and at the end roll sizes up in post-order. The chart is measured today on the same laptop and drive: 1.68 million files, warm cache. Going from 1 to 8 threads cut 25.1 s to 8.2 s; 12 threads was slower, 11.8 s, because the disk and the queue lock became the bottleneck. The first prototype took 58 s warm and 289 s cold. We have not yet re-measured the new scanner with a cold cache, and the parallel MFT reader still needs an elevated benchmark.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has five stages, from scanning to acting with undo. For validation we benchmarked the scanner at 1 to 12 threads, compared our extent counts with Windows' fsutil file queryextents, unit-tested the alert thresholds, and drove the interface with posted clicks while it rendered frames to files. Two tests from our plan are still pending because they need administrator rights: filling a virtual disk to 0 bytes, and the install-uninstall cycle on a clean PC.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layers. Users reach the app through the window, the Explorer right-click entry and the tray alert. The UI layer is our own Direct2D interface with eight tabs, the review list and undo. The engine has the parallel scanner with the MFT fast path, the insights and cleanup rules, the actions with an undo log, disk internals and alerts. Only the engine talks to the operating system, through directory queries, NTFS FSCTLs, the Shell and DWM. The scan tree, caches and logs never go to the full drive: quarantine and logs go to the work volume, otherwise they stay in memory.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screen after a scan of our C:. The sunburst shows each folder level as a ring, coloured by the kind of files inside, with free space in grey. The meter splits what can be freed into Safe, Review and Caution: 29 GB was safe on this drive. Every card opens the item in Explore.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 up groups everything removable into four sections, each with a safety badge; clicking a group opens a review list with confirmation and undo. The System tab shows what Windows itself uses, 70.8 GB here, with a lock on each item and the Windows tool that can shrink it, such as turning off hibernation.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Disk Internals shows the cluster size, slack, a cluster map and the real extents of a file: this 8 GB emulator image is stored in 58 pieces. On the right is Rescue Mode, forced here with a high threshold in a test copy so we could capture it: the banner states that nothing is written to C:, and the reserve-file button appears when a reserve exists.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native: C++23 on the Win32 API, with Direct2D and DirectWrite for the interface. We build with clang from llvm-mingw, installed per user without admin, into one static x64 executable. PowerShell scripts build, package with Windows' own IExpress, and drive our tests. Claude Code was used as a pair programmer and for code audits.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numbers are measured on our test laptop. The full scan of C: went from 58 seconds warm with the first prototype to 8.2 seconds with eight threads. The quick-win pre-scan showed 12.5 GB safe to free three seconds after launch. The scanner peaked at 255 MB for 1.68 million files, the tray watcher uses 1.6 MB, and the cushion treemap of the whole drive renders in 76 ms. Space freed in the 0-byte virtual-disk test is still to be measured.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delivered a working tool: fast scans, a zero-write rescue mode, safe cleanup with undo, early alerts and an internals view. We are also clear about what is not done yet. The 0-byte virtual-disk test and the elevated benchmark of the parallel MFT reader need administrator rights, the cold-cache time of the new scanner is not re-measured, the installer is per-user and unsigned, and the Windows 11 top-level context-menu entry needs a packaged app identity, which we left for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OS concepts follow Silberschatz, Galvin and Gagne. The treemap follows Shneiderman's tree-maps, van Wijk and van de Wetering's cushion shading and the squarified layout of Bruls, Huizing and van Wijk; the sunburst follows Stasko and Zhang. The Windows APIs are documented on Microsoft Learn.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The ring is the same motif as the title slide, now showing a healthy drive: on our C:, SpaceRescue found 29 GB that is safe to free.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548640" y="685800"/>
            <a:ext cx="4572000" cy="274320"/>
          </a:xfrm>
          <a:prstGeom prst="rect">
            <a:avLst/>
          </a:prstGeom>
          <a:noFill/>
        </p:spPr>
        <p:txBody>
          <a:bodyPr wrap="square" lIns="0" rIns="0" tIns="0" bIns="0" anchor="t">
            <a:spAutoFit/>
          </a:bodyPr>
          <a:lstStyle/>
          <a:p>
            <a:pPr algn="l"/>
            <a:r>
              <a:rPr sz="1300" b="1" i="0">
                <a:solidFill>
                  <a:srgbClr val="F5A623"/>
                </a:solidFill>
                <a:latin typeface="Calibri"/>
              </a:rPr>
              <a:t>OPERATING SYSTEMS COURSE PROJECT</a:t>
            </a:r>
          </a:p>
        </p:txBody>
      </p:sp>
      <p:sp>
        <p:nvSpPr>
          <p:cNvPr id="3" name="TextBox 2"/>
          <p:cNvSpPr txBox="1"/>
          <p:nvPr/>
        </p:nvSpPr>
        <p:spPr>
          <a:xfrm>
            <a:off x="548640" y="1051560"/>
            <a:ext cx="5120640" cy="822960"/>
          </a:xfrm>
          <a:prstGeom prst="rect">
            <a:avLst/>
          </a:prstGeom>
          <a:noFill/>
        </p:spPr>
        <p:txBody>
          <a:bodyPr wrap="square" lIns="0" rIns="0" tIns="0" bIns="0" anchor="t">
            <a:spAutoFit/>
          </a:bodyPr>
          <a:lstStyle/>
          <a:p>
            <a:pPr algn="l"/>
            <a:r>
              <a:rPr sz="5400" b="1" i="0">
                <a:solidFill>
                  <a:srgbClr val="FFFFFF"/>
                </a:solidFill>
                <a:latin typeface="Cambria"/>
              </a:rPr>
              <a:t>SpaceRescue</a:t>
            </a:r>
          </a:p>
        </p:txBody>
      </p:sp>
      <p:sp>
        <p:nvSpPr>
          <p:cNvPr id="4" name="TextBox 3"/>
          <p:cNvSpPr txBox="1"/>
          <p:nvPr/>
        </p:nvSpPr>
        <p:spPr>
          <a:xfrm>
            <a:off x="548640" y="1920240"/>
            <a:ext cx="4754880" cy="914400"/>
          </a:xfrm>
          <a:prstGeom prst="rect">
            <a:avLst/>
          </a:prstGeom>
          <a:noFill/>
        </p:spPr>
        <p:txBody>
          <a:bodyPr wrap="square" lIns="0" rIns="0" tIns="0" bIns="0" anchor="t">
            <a:spAutoFit/>
          </a:bodyPr>
          <a:lstStyle/>
          <a:p>
            <a:pPr algn="l"/>
            <a:r>
              <a:rPr sz="2200" b="0" i="0">
                <a:solidFill>
                  <a:srgbClr val="DCE3EE"/>
                </a:solidFill>
                <a:latin typeface="Calibri"/>
              </a:rPr>
              <a:t>Disk management that still works when the disk is full</a:t>
            </a:r>
          </a:p>
        </p:txBody>
      </p:sp>
      <p:sp>
        <p:nvSpPr>
          <p:cNvPr id="5" name="TextBox 4"/>
          <p:cNvSpPr txBox="1"/>
          <p:nvPr/>
        </p:nvSpPr>
        <p:spPr>
          <a:xfrm>
            <a:off x="548640" y="3429000"/>
            <a:ext cx="5029200" cy="320040"/>
          </a:xfrm>
          <a:prstGeom prst="rect">
            <a:avLst/>
          </a:prstGeom>
          <a:noFill/>
        </p:spPr>
        <p:txBody>
          <a:bodyPr wrap="square" lIns="0" rIns="0" tIns="0" bIns="0" anchor="t">
            <a:spAutoFit/>
          </a:bodyPr>
          <a:lstStyle/>
          <a:p>
            <a:pPr algn="l"/>
            <a:r>
              <a:rPr sz="1800" b="1" i="0">
                <a:solidFill>
                  <a:srgbClr val="FFFFFF"/>
                </a:solidFill>
                <a:latin typeface="Calibri"/>
              </a:rPr>
              <a:t>Vedant  ·  Shreeviraj</a:t>
            </a:r>
          </a:p>
        </p:txBody>
      </p:sp>
      <p:sp>
        <p:nvSpPr>
          <p:cNvPr id="6" name="TextBox 5"/>
          <p:cNvSpPr txBox="1"/>
          <p:nvPr/>
        </p:nvSpPr>
        <p:spPr>
          <a:xfrm>
            <a:off x="548640" y="3794760"/>
            <a:ext cx="5029200" cy="274320"/>
          </a:xfrm>
          <a:prstGeom prst="rect">
            <a:avLst/>
          </a:prstGeom>
          <a:noFill/>
        </p:spPr>
        <p:txBody>
          <a:bodyPr wrap="square" lIns="0" rIns="0" tIns="0" bIns="0" anchor="t">
            <a:spAutoFit/>
          </a:bodyPr>
          <a:lstStyle/>
          <a:p>
            <a:pPr algn="l"/>
            <a:r>
              <a:rPr sz="1400" b="0" i="0">
                <a:solidFill>
                  <a:srgbClr val="8A9AAF"/>
                </a:solidFill>
                <a:latin typeface="Calibri"/>
              </a:rPr>
              <a:t>October 2026</a:t>
            </a:r>
          </a:p>
        </p:txBody>
      </p:sp>
      <p:sp>
        <p:nvSpPr>
          <p:cNvPr id="7" name="Donut 6"/>
          <p:cNvSpPr/>
          <p:nvPr/>
        </p:nvSpPr>
        <p:spPr>
          <a:xfrm>
            <a:off x="5806440" y="1188719"/>
            <a:ext cx="2286000" cy="2286000"/>
          </a:xfrm>
          <a:prstGeom prst="donut">
            <a:avLst>
              <a:gd name="adj" fmla="val 13000"/>
            </a:avLst>
          </a:prstGeom>
          <a:solidFill>
            <a:srgbClr val="2A3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lock Arc 7"/>
          <p:cNvSpPr/>
          <p:nvPr/>
        </p:nvSpPr>
        <p:spPr>
          <a:xfrm>
            <a:off x="5806440" y="1188719"/>
            <a:ext cx="2286000" cy="2286000"/>
          </a:xfrm>
          <a:prstGeom prst="blockArc">
            <a:avLst>
              <a:gd name="adj1" fmla="val 27000000"/>
              <a:gd name="adj2" fmla="val 26927999"/>
              <a:gd name="adj3" fmla="val 13000"/>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2039112"/>
            <a:ext cx="2286000" cy="365760"/>
          </a:xfrm>
          <a:prstGeom prst="rect">
            <a:avLst/>
          </a:prstGeom>
          <a:noFill/>
        </p:spPr>
        <p:txBody>
          <a:bodyPr wrap="square" lIns="0" rIns="0" tIns="0" bIns="0" anchor="t">
            <a:spAutoFit/>
          </a:bodyPr>
          <a:lstStyle/>
          <a:p>
            <a:pPr algn="ctr"/>
            <a:r>
              <a:rPr sz="2200" b="1" i="0">
                <a:solidFill>
                  <a:srgbClr val="FFFFFF"/>
                </a:solidFill>
                <a:latin typeface="Cambria"/>
              </a:rPr>
              <a:t>C: 512 MB</a:t>
            </a:r>
          </a:p>
        </p:txBody>
      </p:sp>
      <p:sp>
        <p:nvSpPr>
          <p:cNvPr id="10" name="TextBox 9"/>
          <p:cNvSpPr txBox="1"/>
          <p:nvPr/>
        </p:nvSpPr>
        <p:spPr>
          <a:xfrm>
            <a:off x="5806440" y="2404872"/>
            <a:ext cx="2286000" cy="274320"/>
          </a:xfrm>
          <a:prstGeom prst="rect">
            <a:avLst/>
          </a:prstGeom>
          <a:noFill/>
        </p:spPr>
        <p:txBody>
          <a:bodyPr wrap="square" lIns="0" rIns="0" tIns="0" bIns="0" anchor="t">
            <a:spAutoFit/>
          </a:bodyPr>
          <a:lstStyle/>
          <a:p>
            <a:pPr algn="ctr"/>
            <a:r>
              <a:rPr sz="1400" b="0" i="0">
                <a:solidFill>
                  <a:srgbClr val="B8C4D6"/>
                </a:solidFill>
                <a:latin typeface="Calibri"/>
              </a:rPr>
              <a:t>free of 292 GB</a:t>
            </a:r>
          </a:p>
        </p:txBody>
      </p:sp>
      <p:sp>
        <p:nvSpPr>
          <p:cNvPr id="11" name="Rounded Rectangle 10"/>
          <p:cNvSpPr/>
          <p:nvPr/>
        </p:nvSpPr>
        <p:spPr>
          <a:xfrm>
            <a:off x="5989320" y="3794760"/>
            <a:ext cx="1920240" cy="384048"/>
          </a:xfrm>
          <a:prstGeom prst="roundRect">
            <a:avLst>
              <a:gd name="adj" fmla="val 50000"/>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20" y="3794760"/>
            <a:ext cx="1920240" cy="384048"/>
          </a:xfrm>
          <a:prstGeom prst="rect">
            <a:avLst/>
          </a:prstGeom>
          <a:noFill/>
        </p:spPr>
        <p:txBody>
          <a:bodyPr wrap="square" lIns="0" rIns="0" tIns="0" bIns="0" anchor="ctr">
            <a:spAutoFit/>
          </a:bodyPr>
          <a:lstStyle/>
          <a:p>
            <a:pPr algn="ctr"/>
            <a:r>
              <a:rPr sz="1500" b="1" i="0">
                <a:solidFill>
                  <a:srgbClr val="FFFFFF"/>
                </a:solidFill>
                <a:latin typeface="Calibri"/>
              </a:rPr>
              <a:t>Disk is full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Agenda</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a:t>
            </a:r>
          </a:p>
        </p:txBody>
      </p:sp>
      <p:sp>
        <p:nvSpPr>
          <p:cNvPr id="5" name="Rounded Rectangle 4"/>
          <p:cNvSpPr/>
          <p:nvPr/>
        </p:nvSpPr>
        <p:spPr>
          <a:xfrm>
            <a:off x="457200" y="1097280"/>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8640" y="1152144"/>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01</a:t>
            </a:r>
          </a:p>
        </p:txBody>
      </p:sp>
      <p:sp>
        <p:nvSpPr>
          <p:cNvPr id="7" name="TextBox 6"/>
          <p:cNvSpPr txBox="1"/>
          <p:nvPr/>
        </p:nvSpPr>
        <p:spPr>
          <a:xfrm>
            <a:off x="1051560" y="1097280"/>
            <a:ext cx="3291840" cy="493776"/>
          </a:xfrm>
          <a:prstGeom prst="rect">
            <a:avLst/>
          </a:prstGeom>
          <a:noFill/>
        </p:spPr>
        <p:txBody>
          <a:bodyPr wrap="square" lIns="0" rIns="0" tIns="0" bIns="0" anchor="ctr">
            <a:spAutoFit/>
          </a:bodyPr>
          <a:lstStyle/>
          <a:p>
            <a:pPr algn="l"/>
            <a:r>
              <a:rPr sz="1900" b="1" i="0">
                <a:solidFill>
                  <a:srgbClr val="0F1B2D"/>
                </a:solidFill>
                <a:latin typeface="Calibri"/>
              </a:rPr>
              <a:t>Introduction</a:t>
            </a:r>
          </a:p>
        </p:txBody>
      </p:sp>
      <p:sp>
        <p:nvSpPr>
          <p:cNvPr id="8" name="Rounded Rectangle 7"/>
          <p:cNvSpPr/>
          <p:nvPr/>
        </p:nvSpPr>
        <p:spPr>
          <a:xfrm>
            <a:off x="457200" y="1700784"/>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755648"/>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02</a:t>
            </a:r>
          </a:p>
        </p:txBody>
      </p:sp>
      <p:sp>
        <p:nvSpPr>
          <p:cNvPr id="10" name="TextBox 9"/>
          <p:cNvSpPr txBox="1"/>
          <p:nvPr/>
        </p:nvSpPr>
        <p:spPr>
          <a:xfrm>
            <a:off x="1051560" y="1700784"/>
            <a:ext cx="3291840" cy="493776"/>
          </a:xfrm>
          <a:prstGeom prst="rect">
            <a:avLst/>
          </a:prstGeom>
          <a:noFill/>
        </p:spPr>
        <p:txBody>
          <a:bodyPr wrap="square" lIns="0" rIns="0" tIns="0" bIns="0" anchor="ctr">
            <a:spAutoFit/>
          </a:bodyPr>
          <a:lstStyle/>
          <a:p>
            <a:pPr algn="l"/>
            <a:r>
              <a:rPr sz="1900" b="1" i="0">
                <a:solidFill>
                  <a:srgbClr val="0F1B2D"/>
                </a:solidFill>
                <a:latin typeface="Calibri"/>
              </a:rPr>
              <a:t>Problem statement</a:t>
            </a:r>
          </a:p>
        </p:txBody>
      </p:sp>
      <p:sp>
        <p:nvSpPr>
          <p:cNvPr id="11" name="Rounded Rectangle 10"/>
          <p:cNvSpPr/>
          <p:nvPr/>
        </p:nvSpPr>
        <p:spPr>
          <a:xfrm>
            <a:off x="457200" y="2304288"/>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48640" y="235915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03</a:t>
            </a:r>
          </a:p>
        </p:txBody>
      </p:sp>
      <p:sp>
        <p:nvSpPr>
          <p:cNvPr id="13" name="TextBox 12"/>
          <p:cNvSpPr txBox="1"/>
          <p:nvPr/>
        </p:nvSpPr>
        <p:spPr>
          <a:xfrm>
            <a:off x="1051560" y="2304288"/>
            <a:ext cx="3291840" cy="493776"/>
          </a:xfrm>
          <a:prstGeom prst="rect">
            <a:avLst/>
          </a:prstGeom>
          <a:noFill/>
        </p:spPr>
        <p:txBody>
          <a:bodyPr wrap="square" lIns="0" rIns="0" tIns="0" bIns="0" anchor="ctr">
            <a:spAutoFit/>
          </a:bodyPr>
          <a:lstStyle/>
          <a:p>
            <a:pPr algn="l"/>
            <a:r>
              <a:rPr sz="1900" b="1" i="0">
                <a:solidFill>
                  <a:srgbClr val="0F1B2D"/>
                </a:solidFill>
                <a:latin typeface="Calibri"/>
              </a:rPr>
              <a:t>Gaps in Windows tools</a:t>
            </a:r>
          </a:p>
        </p:txBody>
      </p:sp>
      <p:sp>
        <p:nvSpPr>
          <p:cNvPr id="14" name="Rounded Rectangle 13"/>
          <p:cNvSpPr/>
          <p:nvPr/>
        </p:nvSpPr>
        <p:spPr>
          <a:xfrm>
            <a:off x="457200" y="2907791"/>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8640" y="2962656"/>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04</a:t>
            </a:r>
          </a:p>
        </p:txBody>
      </p:sp>
      <p:sp>
        <p:nvSpPr>
          <p:cNvPr id="16" name="TextBox 15"/>
          <p:cNvSpPr txBox="1"/>
          <p:nvPr/>
        </p:nvSpPr>
        <p:spPr>
          <a:xfrm>
            <a:off x="1051560" y="2907791"/>
            <a:ext cx="3291840" cy="493776"/>
          </a:xfrm>
          <a:prstGeom prst="rect">
            <a:avLst/>
          </a:prstGeom>
          <a:noFill/>
        </p:spPr>
        <p:txBody>
          <a:bodyPr wrap="square" lIns="0" rIns="0" tIns="0" bIns="0" anchor="ctr">
            <a:spAutoFit/>
          </a:bodyPr>
          <a:lstStyle/>
          <a:p>
            <a:pPr algn="l"/>
            <a:r>
              <a:rPr sz="1900" b="1" i="0">
                <a:solidFill>
                  <a:srgbClr val="0F1B2D"/>
                </a:solidFill>
                <a:latin typeface="Calibri"/>
              </a:rPr>
              <a:t>Use cases and objectives</a:t>
            </a:r>
          </a:p>
        </p:txBody>
      </p:sp>
      <p:sp>
        <p:nvSpPr>
          <p:cNvPr id="17" name="Rounded Rectangle 16"/>
          <p:cNvSpPr/>
          <p:nvPr/>
        </p:nvSpPr>
        <p:spPr>
          <a:xfrm>
            <a:off x="457200" y="3511296"/>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8640" y="3566160"/>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05</a:t>
            </a:r>
          </a:p>
        </p:txBody>
      </p:sp>
      <p:sp>
        <p:nvSpPr>
          <p:cNvPr id="19" name="TextBox 18"/>
          <p:cNvSpPr txBox="1"/>
          <p:nvPr/>
        </p:nvSpPr>
        <p:spPr>
          <a:xfrm>
            <a:off x="1051560" y="3511296"/>
            <a:ext cx="3291840" cy="493776"/>
          </a:xfrm>
          <a:prstGeom prst="rect">
            <a:avLst/>
          </a:prstGeom>
          <a:noFill/>
        </p:spPr>
        <p:txBody>
          <a:bodyPr wrap="square" lIns="0" rIns="0" tIns="0" bIns="0" anchor="ctr">
            <a:spAutoFit/>
          </a:bodyPr>
          <a:lstStyle/>
          <a:p>
            <a:pPr algn="l"/>
            <a:r>
              <a:rPr sz="1900" b="1" i="0">
                <a:solidFill>
                  <a:srgbClr val="0F1B2D"/>
                </a:solidFill>
                <a:latin typeface="Calibri"/>
              </a:rPr>
              <a:t>Related work</a:t>
            </a:r>
          </a:p>
        </p:txBody>
      </p:sp>
      <p:sp>
        <p:nvSpPr>
          <p:cNvPr id="20" name="Rounded Rectangle 19"/>
          <p:cNvSpPr/>
          <p:nvPr/>
        </p:nvSpPr>
        <p:spPr>
          <a:xfrm>
            <a:off x="457200" y="4114800"/>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8640" y="4169663"/>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06</a:t>
            </a:r>
          </a:p>
        </p:txBody>
      </p:sp>
      <p:sp>
        <p:nvSpPr>
          <p:cNvPr id="22" name="TextBox 21"/>
          <p:cNvSpPr txBox="1"/>
          <p:nvPr/>
        </p:nvSpPr>
        <p:spPr>
          <a:xfrm>
            <a:off x="1051560" y="4114800"/>
            <a:ext cx="3291840" cy="493776"/>
          </a:xfrm>
          <a:prstGeom prst="rect">
            <a:avLst/>
          </a:prstGeom>
          <a:noFill/>
        </p:spPr>
        <p:txBody>
          <a:bodyPr wrap="square" lIns="0" rIns="0" tIns="0" bIns="0" anchor="ctr">
            <a:spAutoFit/>
          </a:bodyPr>
          <a:lstStyle/>
          <a:p>
            <a:pPr algn="l"/>
            <a:r>
              <a:rPr sz="1900" b="1" i="0">
                <a:solidFill>
                  <a:srgbClr val="0F1B2D"/>
                </a:solidFill>
                <a:latin typeface="Calibri"/>
              </a:rPr>
              <a:t>OS concepts in our code</a:t>
            </a:r>
          </a:p>
        </p:txBody>
      </p:sp>
      <p:sp>
        <p:nvSpPr>
          <p:cNvPr id="23" name="Rounded Rectangle 22"/>
          <p:cNvSpPr/>
          <p:nvPr/>
        </p:nvSpPr>
        <p:spPr>
          <a:xfrm>
            <a:off x="4663440" y="1097280"/>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54879" y="1152144"/>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07</a:t>
            </a:r>
          </a:p>
        </p:txBody>
      </p:sp>
      <p:sp>
        <p:nvSpPr>
          <p:cNvPr id="25" name="TextBox 24"/>
          <p:cNvSpPr txBox="1"/>
          <p:nvPr/>
        </p:nvSpPr>
        <p:spPr>
          <a:xfrm>
            <a:off x="5257800" y="1097280"/>
            <a:ext cx="3291840" cy="493776"/>
          </a:xfrm>
          <a:prstGeom prst="rect">
            <a:avLst/>
          </a:prstGeom>
          <a:noFill/>
        </p:spPr>
        <p:txBody>
          <a:bodyPr wrap="square" lIns="0" rIns="0" tIns="0" bIns="0" anchor="ctr">
            <a:spAutoFit/>
          </a:bodyPr>
          <a:lstStyle/>
          <a:p>
            <a:pPr algn="l"/>
            <a:r>
              <a:rPr sz="1900" b="1" i="0">
                <a:solidFill>
                  <a:srgbClr val="0F1B2D"/>
                </a:solidFill>
                <a:latin typeface="Calibri"/>
              </a:rPr>
              <a:t>Built for 0 bytes free</a:t>
            </a:r>
          </a:p>
        </p:txBody>
      </p:sp>
      <p:sp>
        <p:nvSpPr>
          <p:cNvPr id="26" name="Rounded Rectangle 25"/>
          <p:cNvSpPr/>
          <p:nvPr/>
        </p:nvSpPr>
        <p:spPr>
          <a:xfrm>
            <a:off x="4663440" y="1700784"/>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754879" y="1755648"/>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08</a:t>
            </a:r>
          </a:p>
        </p:txBody>
      </p:sp>
      <p:sp>
        <p:nvSpPr>
          <p:cNvPr id="28" name="TextBox 27"/>
          <p:cNvSpPr txBox="1"/>
          <p:nvPr/>
        </p:nvSpPr>
        <p:spPr>
          <a:xfrm>
            <a:off x="5257800" y="1700784"/>
            <a:ext cx="3291840" cy="493776"/>
          </a:xfrm>
          <a:prstGeom prst="rect">
            <a:avLst/>
          </a:prstGeom>
          <a:noFill/>
        </p:spPr>
        <p:txBody>
          <a:bodyPr wrap="square" lIns="0" rIns="0" tIns="0" bIns="0" anchor="ctr">
            <a:spAutoFit/>
          </a:bodyPr>
          <a:lstStyle/>
          <a:p>
            <a:pPr algn="l"/>
            <a:r>
              <a:rPr sz="1900" b="1" i="0">
                <a:solidFill>
                  <a:srgbClr val="0F1B2D"/>
                </a:solidFill>
                <a:latin typeface="Calibri"/>
              </a:rPr>
              <a:t>Algorithms</a:t>
            </a:r>
          </a:p>
        </p:txBody>
      </p:sp>
      <p:sp>
        <p:nvSpPr>
          <p:cNvPr id="29" name="Rounded Rectangle 28"/>
          <p:cNvSpPr/>
          <p:nvPr/>
        </p:nvSpPr>
        <p:spPr>
          <a:xfrm>
            <a:off x="4663440" y="2304288"/>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54879" y="235915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09</a:t>
            </a:r>
          </a:p>
        </p:txBody>
      </p:sp>
      <p:sp>
        <p:nvSpPr>
          <p:cNvPr id="31" name="TextBox 30"/>
          <p:cNvSpPr txBox="1"/>
          <p:nvPr/>
        </p:nvSpPr>
        <p:spPr>
          <a:xfrm>
            <a:off x="5257800" y="2304288"/>
            <a:ext cx="3291840" cy="493776"/>
          </a:xfrm>
          <a:prstGeom prst="rect">
            <a:avLst/>
          </a:prstGeom>
          <a:noFill/>
        </p:spPr>
        <p:txBody>
          <a:bodyPr wrap="square" lIns="0" rIns="0" tIns="0" bIns="0" anchor="ctr">
            <a:spAutoFit/>
          </a:bodyPr>
          <a:lstStyle/>
          <a:p>
            <a:pPr algn="l"/>
            <a:r>
              <a:rPr sz="1900" b="1" i="0">
                <a:solidFill>
                  <a:srgbClr val="0F1B2D"/>
                </a:solidFill>
                <a:latin typeface="Calibri"/>
              </a:rPr>
              <a:t>Methodology and architecture</a:t>
            </a:r>
          </a:p>
        </p:txBody>
      </p:sp>
      <p:sp>
        <p:nvSpPr>
          <p:cNvPr id="32" name="Rounded Rectangle 31"/>
          <p:cNvSpPr/>
          <p:nvPr/>
        </p:nvSpPr>
        <p:spPr>
          <a:xfrm>
            <a:off x="4663440" y="2907791"/>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754879" y="2962656"/>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10</a:t>
            </a:r>
          </a:p>
        </p:txBody>
      </p:sp>
      <p:sp>
        <p:nvSpPr>
          <p:cNvPr id="34" name="TextBox 33"/>
          <p:cNvSpPr txBox="1"/>
          <p:nvPr/>
        </p:nvSpPr>
        <p:spPr>
          <a:xfrm>
            <a:off x="5257800" y="2907791"/>
            <a:ext cx="3291840" cy="493776"/>
          </a:xfrm>
          <a:prstGeom prst="rect">
            <a:avLst/>
          </a:prstGeom>
          <a:noFill/>
        </p:spPr>
        <p:txBody>
          <a:bodyPr wrap="square" lIns="0" rIns="0" tIns="0" bIns="0" anchor="ctr">
            <a:spAutoFit/>
          </a:bodyPr>
          <a:lstStyle/>
          <a:p>
            <a:pPr algn="l"/>
            <a:r>
              <a:rPr sz="1900" b="1" i="0">
                <a:solidFill>
                  <a:srgbClr val="0F1B2D"/>
                </a:solidFill>
                <a:latin typeface="Calibri"/>
              </a:rPr>
              <a:t>The product</a:t>
            </a:r>
          </a:p>
        </p:txBody>
      </p:sp>
      <p:sp>
        <p:nvSpPr>
          <p:cNvPr id="35" name="Rounded Rectangle 34"/>
          <p:cNvSpPr/>
          <p:nvPr/>
        </p:nvSpPr>
        <p:spPr>
          <a:xfrm>
            <a:off x="4663440" y="3511296"/>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754879" y="3566160"/>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11</a:t>
            </a:r>
          </a:p>
        </p:txBody>
      </p:sp>
      <p:sp>
        <p:nvSpPr>
          <p:cNvPr id="37" name="TextBox 36"/>
          <p:cNvSpPr txBox="1"/>
          <p:nvPr/>
        </p:nvSpPr>
        <p:spPr>
          <a:xfrm>
            <a:off x="5257800" y="3511296"/>
            <a:ext cx="3291840" cy="493776"/>
          </a:xfrm>
          <a:prstGeom prst="rect">
            <a:avLst/>
          </a:prstGeom>
          <a:noFill/>
        </p:spPr>
        <p:txBody>
          <a:bodyPr wrap="square" lIns="0" rIns="0" tIns="0" bIns="0" anchor="ctr">
            <a:spAutoFit/>
          </a:bodyPr>
          <a:lstStyle/>
          <a:p>
            <a:pPr algn="l"/>
            <a:r>
              <a:rPr sz="1900" b="1" i="0">
                <a:solidFill>
                  <a:srgbClr val="0F1B2D"/>
                </a:solidFill>
                <a:latin typeface="Calibri"/>
              </a:rPr>
              <a:t>Results</a:t>
            </a:r>
          </a:p>
        </p:txBody>
      </p:sp>
      <p:sp>
        <p:nvSpPr>
          <p:cNvPr id="38" name="Rounded Rectangle 37"/>
          <p:cNvSpPr/>
          <p:nvPr/>
        </p:nvSpPr>
        <p:spPr>
          <a:xfrm>
            <a:off x="4663440" y="4114800"/>
            <a:ext cx="4023360" cy="493776"/>
          </a:xfrm>
          <a:prstGeom prst="roundRect">
            <a:avLst>
              <a:gd name="adj" fmla="val 14814"/>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754879" y="4169663"/>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12</a:t>
            </a:r>
          </a:p>
        </p:txBody>
      </p:sp>
      <p:sp>
        <p:nvSpPr>
          <p:cNvPr id="40" name="TextBox 39"/>
          <p:cNvSpPr txBox="1"/>
          <p:nvPr/>
        </p:nvSpPr>
        <p:spPr>
          <a:xfrm>
            <a:off x="5257800" y="4114800"/>
            <a:ext cx="3291840" cy="493776"/>
          </a:xfrm>
          <a:prstGeom prst="rect">
            <a:avLst/>
          </a:prstGeom>
          <a:noFill/>
        </p:spPr>
        <p:txBody>
          <a:bodyPr wrap="square" lIns="0" rIns="0" tIns="0" bIns="0" anchor="ctr">
            <a:spAutoFit/>
          </a:bodyPr>
          <a:lstStyle/>
          <a:p>
            <a:pPr algn="l"/>
            <a:r>
              <a:rPr sz="1900" b="1" i="0">
                <a:solidFill>
                  <a:srgbClr val="0F1B2D"/>
                </a:solidFill>
                <a:latin typeface="Calibri"/>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Introduction</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3</a:t>
            </a:r>
          </a:p>
        </p:txBody>
      </p:sp>
      <p:sp>
        <p:nvSpPr>
          <p:cNvPr id="5" name="Rounded Rectangle 4"/>
          <p:cNvSpPr/>
          <p:nvPr/>
        </p:nvSpPr>
        <p:spPr>
          <a:xfrm>
            <a:off x="457200" y="1097280"/>
            <a:ext cx="3977639" cy="2606040"/>
          </a:xfrm>
          <a:prstGeom prst="roundRect">
            <a:avLst>
              <a:gd name="adj" fmla="val 2807"/>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1298448"/>
            <a:ext cx="457200" cy="457200"/>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7" name="TextBox 6"/>
          <p:cNvSpPr txBox="1"/>
          <p:nvPr/>
        </p:nvSpPr>
        <p:spPr>
          <a:xfrm>
            <a:off x="1280160" y="1298448"/>
            <a:ext cx="3017520" cy="457200"/>
          </a:xfrm>
          <a:prstGeom prst="rect">
            <a:avLst/>
          </a:prstGeom>
          <a:noFill/>
        </p:spPr>
        <p:txBody>
          <a:bodyPr wrap="square" lIns="0" rIns="0" tIns="0" bIns="0" anchor="ctr">
            <a:spAutoFit/>
          </a:bodyPr>
          <a:lstStyle/>
          <a:p>
            <a:pPr algn="l"/>
            <a:r>
              <a:rPr sz="2400" b="1" i="0">
                <a:solidFill>
                  <a:srgbClr val="0F1B2D"/>
                </a:solidFill>
                <a:latin typeface="Calibri"/>
              </a:rPr>
              <a:t>What the OS sees</a:t>
            </a:r>
          </a:p>
        </p:txBody>
      </p:sp>
      <p:sp>
        <p:nvSpPr>
          <p:cNvPr id="8" name="TextBox 7"/>
          <p:cNvSpPr txBox="1"/>
          <p:nvPr/>
        </p:nvSpPr>
        <p:spPr>
          <a:xfrm>
            <a:off x="731520" y="1965960"/>
            <a:ext cx="3520440" cy="1645920"/>
          </a:xfrm>
          <a:prstGeom prst="rect">
            <a:avLst/>
          </a:prstGeom>
          <a:noFill/>
        </p:spPr>
        <p:txBody>
          <a:bodyPr wrap="square" lIns="0" rIns="0" tIns="0" bIns="0" anchor="t">
            <a:spAutoFit/>
          </a:bodyPr>
          <a:lstStyle/>
          <a:p>
            <a:pPr algn="l">
              <a:spcAft>
                <a:spcPts val="800"/>
              </a:spcAft>
            </a:pPr>
            <a:r>
              <a:rPr sz="1800" b="0" i="0">
                <a:solidFill>
                  <a:srgbClr val="0F1B2D"/>
                </a:solidFill>
                <a:latin typeface="Calibri"/>
              </a:rPr>
              <a:t>Clusters, extents and a free-cluster count</a:t>
            </a:r>
          </a:p>
          <a:p>
            <a:pPr algn="l">
              <a:spcAft>
                <a:spcPts val="800"/>
              </a:spcAft>
            </a:pPr>
            <a:r>
              <a:rPr sz="1800" b="0" i="0">
                <a:solidFill>
                  <a:srgbClr val="0F1B2D"/>
                </a:solidFill>
                <a:latin typeface="Calibri"/>
              </a:rPr>
              <a:t>An MFT record for every file</a:t>
            </a:r>
          </a:p>
          <a:p>
            <a:pPr algn="l">
              <a:spcAft>
                <a:spcPts val="800"/>
              </a:spcAft>
            </a:pPr>
            <a:r>
              <a:rPr sz="1800" b="0" i="0">
                <a:solidFill>
                  <a:srgbClr val="0F1B2D"/>
                </a:solidFill>
                <a:latin typeface="Calibri"/>
              </a:rPr>
              <a:t>Exact bytes allocated on disk</a:t>
            </a:r>
          </a:p>
        </p:txBody>
      </p:sp>
      <p:sp>
        <p:nvSpPr>
          <p:cNvPr id="9" name="Rounded Rectangle 8"/>
          <p:cNvSpPr/>
          <p:nvPr/>
        </p:nvSpPr>
        <p:spPr>
          <a:xfrm>
            <a:off x="4709160" y="1097280"/>
            <a:ext cx="3977639" cy="2606040"/>
          </a:xfrm>
          <a:prstGeom prst="roundRect">
            <a:avLst>
              <a:gd name="adj" fmla="val 2807"/>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37760" y="1298448"/>
            <a:ext cx="457200" cy="457200"/>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11" name="TextBox 10"/>
          <p:cNvSpPr txBox="1"/>
          <p:nvPr/>
        </p:nvSpPr>
        <p:spPr>
          <a:xfrm>
            <a:off x="5532120" y="1298448"/>
            <a:ext cx="3017520" cy="457200"/>
          </a:xfrm>
          <a:prstGeom prst="rect">
            <a:avLst/>
          </a:prstGeom>
          <a:noFill/>
        </p:spPr>
        <p:txBody>
          <a:bodyPr wrap="square" lIns="0" rIns="0" tIns="0" bIns="0" anchor="ctr">
            <a:spAutoFit/>
          </a:bodyPr>
          <a:lstStyle/>
          <a:p>
            <a:pPr algn="l"/>
            <a:r>
              <a:rPr sz="2400" b="1" i="0">
                <a:solidFill>
                  <a:srgbClr val="0F1B2D"/>
                </a:solidFill>
                <a:latin typeface="Calibri"/>
              </a:rPr>
              <a:t>What the user sees</a:t>
            </a:r>
          </a:p>
        </p:txBody>
      </p:sp>
      <p:sp>
        <p:nvSpPr>
          <p:cNvPr id="12" name="TextBox 11"/>
          <p:cNvSpPr txBox="1"/>
          <p:nvPr/>
        </p:nvSpPr>
        <p:spPr>
          <a:xfrm>
            <a:off x="4983480" y="1965960"/>
            <a:ext cx="3520440" cy="1645920"/>
          </a:xfrm>
          <a:prstGeom prst="rect">
            <a:avLst/>
          </a:prstGeom>
          <a:noFill/>
        </p:spPr>
        <p:txBody>
          <a:bodyPr wrap="square" lIns="0" rIns="0" tIns="0" bIns="0" anchor="t">
            <a:spAutoFit/>
          </a:bodyPr>
          <a:lstStyle/>
          <a:p>
            <a:pPr algn="l">
              <a:spcAft>
                <a:spcPts val="800"/>
              </a:spcAft>
            </a:pPr>
            <a:r>
              <a:rPr sz="1800" b="0" i="0">
                <a:solidFill>
                  <a:srgbClr val="0F1B2D"/>
                </a:solidFill>
                <a:latin typeface="Calibri"/>
              </a:rPr>
              <a:t>“Low disk space”</a:t>
            </a:r>
          </a:p>
          <a:p>
            <a:pPr algn="l">
              <a:spcAft>
                <a:spcPts val="800"/>
              </a:spcAft>
            </a:pPr>
            <a:r>
              <a:rPr sz="1800" b="0" i="0">
                <a:solidFill>
                  <a:srgbClr val="0F1B2D"/>
                </a:solidFill>
                <a:latin typeface="Calibri"/>
              </a:rPr>
              <a:t>No idea which folders grew</a:t>
            </a:r>
          </a:p>
          <a:p>
            <a:pPr algn="l">
              <a:spcAft>
                <a:spcPts val="800"/>
              </a:spcAft>
            </a:pPr>
            <a:r>
              <a:rPr sz="1800" b="0" i="0">
                <a:solidFill>
                  <a:srgbClr val="0F1B2D"/>
                </a:solidFill>
                <a:latin typeface="Calibri"/>
              </a:rPr>
              <a:t>No idea what is safe to delete</a:t>
            </a:r>
          </a:p>
        </p:txBody>
      </p:sp>
      <p:sp>
        <p:nvSpPr>
          <p:cNvPr id="13" name="Rounded Rectangle 12"/>
          <p:cNvSpPr/>
          <p:nvPr/>
        </p:nvSpPr>
        <p:spPr>
          <a:xfrm>
            <a:off x="457200" y="3931920"/>
            <a:ext cx="8229600" cy="502920"/>
          </a:xfrm>
          <a:prstGeom prst="roundRect">
            <a:avLst>
              <a:gd name="adj" fmla="val 14545"/>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31920"/>
            <a:ext cx="7772400" cy="502920"/>
          </a:xfrm>
          <a:prstGeom prst="rect">
            <a:avLst/>
          </a:prstGeom>
          <a:noFill/>
        </p:spPr>
        <p:txBody>
          <a:bodyPr wrap="square" lIns="0" rIns="0" tIns="0" bIns="0" anchor="ctr">
            <a:spAutoFit/>
          </a:bodyPr>
          <a:lstStyle/>
          <a:p>
            <a:pPr algn="l"/>
            <a:r>
              <a:rPr sz="1700" b="1" i="0">
                <a:solidFill>
                  <a:srgbClr val="F5A623"/>
                </a:solidFill>
                <a:latin typeface="Calibri"/>
              </a:rPr>
              <a:t>SpaceRescue connects the two: </a:t>
            </a:r>
            <a:r>
              <a:rPr sz="1700" b="0" i="0">
                <a:solidFill>
                  <a:srgbClr val="FFFFFF"/>
                </a:solidFill>
                <a:latin typeface="Calibri"/>
              </a:rPr>
              <a:t>it reads what the OS knows and explains it in plain words.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Problem statement</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4</a:t>
            </a:r>
          </a:p>
        </p:txBody>
      </p:sp>
      <p:sp>
        <p:nvSpPr>
          <p:cNvPr id="5" name="Rounded Rectangle 4"/>
          <p:cNvSpPr/>
          <p:nvPr/>
        </p:nvSpPr>
        <p:spPr>
          <a:xfrm>
            <a:off x="457200" y="1051560"/>
            <a:ext cx="8229600" cy="685800"/>
          </a:xfrm>
          <a:prstGeom prst="roundRect">
            <a:avLst>
              <a:gd name="adj" fmla="val 10666"/>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161288"/>
            <a:ext cx="457200" cy="457200"/>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7" name="TextBox 6"/>
          <p:cNvSpPr txBox="1"/>
          <p:nvPr/>
        </p:nvSpPr>
        <p:spPr>
          <a:xfrm>
            <a:off x="1188720" y="1051560"/>
            <a:ext cx="7315200" cy="685800"/>
          </a:xfrm>
          <a:prstGeom prst="rect">
            <a:avLst/>
          </a:prstGeom>
          <a:noFill/>
        </p:spPr>
        <p:txBody>
          <a:bodyPr wrap="square" lIns="0" rIns="0" tIns="0" bIns="0" anchor="ctr">
            <a:spAutoFit/>
          </a:bodyPr>
          <a:lstStyle/>
          <a:p>
            <a:pPr algn="l"/>
            <a:r>
              <a:rPr sz="1800" b="1" i="0">
                <a:solidFill>
                  <a:srgbClr val="0F1B2D"/>
                </a:solidFill>
                <a:latin typeface="Calibri"/>
              </a:rPr>
              <a:t>C: has 512 MB free. A Windows update fails, apps start crashing, the user opens a disk tool…</a:t>
            </a:r>
          </a:p>
        </p:txBody>
      </p:sp>
      <p:sp>
        <p:nvSpPr>
          <p:cNvPr id="8" name="Rounded Rectangle 7"/>
          <p:cNvSpPr/>
          <p:nvPr/>
        </p:nvSpPr>
        <p:spPr>
          <a:xfrm>
            <a:off x="457200" y="1920240"/>
            <a:ext cx="2615184" cy="1828800"/>
          </a:xfrm>
          <a:prstGeom prst="roundRect">
            <a:avLst>
              <a:gd name="adj" fmla="val 400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21792" y="2084831"/>
            <a:ext cx="411480" cy="411480"/>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0">
                <a:solidFill>
                  <a:srgbClr val="FFFFFF"/>
                </a:solidFill>
                <a:latin typeface="Segoe MDL2 Assets"/>
              </a:rPr>
              <a:t></a:t>
            </a:r>
          </a:p>
        </p:txBody>
      </p:sp>
      <p:sp>
        <p:nvSpPr>
          <p:cNvPr id="10" name="TextBox 9"/>
          <p:cNvSpPr txBox="1"/>
          <p:nvPr/>
        </p:nvSpPr>
        <p:spPr>
          <a:xfrm>
            <a:off x="1143000" y="2048256"/>
            <a:ext cx="1828800" cy="502920"/>
          </a:xfrm>
          <a:prstGeom prst="rect">
            <a:avLst/>
          </a:prstGeom>
          <a:noFill/>
        </p:spPr>
        <p:txBody>
          <a:bodyPr wrap="square" lIns="0" rIns="0" tIns="0" bIns="0" anchor="ctr">
            <a:spAutoFit/>
          </a:bodyPr>
          <a:lstStyle/>
          <a:p>
            <a:pPr algn="l"/>
            <a:r>
              <a:rPr sz="1900" b="1" i="0">
                <a:solidFill>
                  <a:srgbClr val="0F1B2D"/>
                </a:solidFill>
                <a:latin typeface="Calibri"/>
              </a:rPr>
              <a:t>The tool needs space too</a:t>
            </a:r>
          </a:p>
        </p:txBody>
      </p:sp>
      <p:sp>
        <p:nvSpPr>
          <p:cNvPr id="11" name="TextBox 10"/>
          <p:cNvSpPr txBox="1"/>
          <p:nvPr/>
        </p:nvSpPr>
        <p:spPr>
          <a:xfrm>
            <a:off x="640080" y="2651760"/>
            <a:ext cx="2286000" cy="1051560"/>
          </a:xfrm>
          <a:prstGeom prst="rect">
            <a:avLst/>
          </a:prstGeom>
          <a:noFill/>
        </p:spPr>
        <p:txBody>
          <a:bodyPr wrap="square" lIns="0" rIns="0" tIns="0" bIns="0" anchor="t">
            <a:spAutoFit/>
          </a:bodyPr>
          <a:lstStyle/>
          <a:p>
            <a:pPr algn="l"/>
            <a:r>
              <a:rPr sz="1600" b="0" i="0">
                <a:solidFill>
                  <a:srgbClr val="0F1B2D"/>
                </a:solidFill>
                <a:latin typeface="Calibri"/>
              </a:rPr>
              <a:t>Temp files, logs and RAM. The pagefile can't grow on a full disk.</a:t>
            </a:r>
          </a:p>
        </p:txBody>
      </p:sp>
      <p:sp>
        <p:nvSpPr>
          <p:cNvPr id="12" name="Rounded Rectangle 11"/>
          <p:cNvSpPr/>
          <p:nvPr/>
        </p:nvSpPr>
        <p:spPr>
          <a:xfrm>
            <a:off x="3264408" y="1920240"/>
            <a:ext cx="2615184" cy="1828800"/>
          </a:xfrm>
          <a:prstGeom prst="roundRect">
            <a:avLst>
              <a:gd name="adj" fmla="val 400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429000" y="2084831"/>
            <a:ext cx="411480" cy="411480"/>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0">
                <a:solidFill>
                  <a:srgbClr val="FFFFFF"/>
                </a:solidFill>
                <a:latin typeface="Segoe MDL2 Assets"/>
              </a:rPr>
              <a:t></a:t>
            </a:r>
          </a:p>
        </p:txBody>
      </p:sp>
      <p:sp>
        <p:nvSpPr>
          <p:cNvPr id="14" name="TextBox 13"/>
          <p:cNvSpPr txBox="1"/>
          <p:nvPr/>
        </p:nvSpPr>
        <p:spPr>
          <a:xfrm>
            <a:off x="3950208" y="2048256"/>
            <a:ext cx="1828800" cy="502920"/>
          </a:xfrm>
          <a:prstGeom prst="rect">
            <a:avLst/>
          </a:prstGeom>
          <a:noFill/>
        </p:spPr>
        <p:txBody>
          <a:bodyPr wrap="square" lIns="0" rIns="0" tIns="0" bIns="0" anchor="ctr">
            <a:spAutoFit/>
          </a:bodyPr>
          <a:lstStyle/>
          <a:p>
            <a:pPr algn="l"/>
            <a:r>
              <a:rPr sz="1900" b="1" i="0">
                <a:solidFill>
                  <a:srgbClr val="0F1B2D"/>
                </a:solidFill>
                <a:latin typeface="Calibri"/>
              </a:rPr>
              <a:t>Scanning takes minutes</a:t>
            </a:r>
          </a:p>
        </p:txBody>
      </p:sp>
      <p:sp>
        <p:nvSpPr>
          <p:cNvPr id="15" name="TextBox 14"/>
          <p:cNvSpPr txBox="1"/>
          <p:nvPr/>
        </p:nvSpPr>
        <p:spPr>
          <a:xfrm>
            <a:off x="3447288" y="2651760"/>
            <a:ext cx="2286000" cy="1051560"/>
          </a:xfrm>
          <a:prstGeom prst="rect">
            <a:avLst/>
          </a:prstGeom>
          <a:noFill/>
        </p:spPr>
        <p:txBody>
          <a:bodyPr wrap="square" lIns="0" rIns="0" tIns="0" bIns="0" anchor="t">
            <a:spAutoFit/>
          </a:bodyPr>
          <a:lstStyle/>
          <a:p>
            <a:pPr algn="l"/>
            <a:r>
              <a:rPr sz="1600" b="0" i="0">
                <a:solidFill>
                  <a:srgbClr val="0F1B2D"/>
                </a:solidFill>
                <a:latin typeface="Calibri"/>
              </a:rPr>
              <a:t>Our first prototype: 289 s for C: with a cold cache.</a:t>
            </a:r>
          </a:p>
        </p:txBody>
      </p:sp>
      <p:sp>
        <p:nvSpPr>
          <p:cNvPr id="16" name="Rounded Rectangle 15"/>
          <p:cNvSpPr/>
          <p:nvPr/>
        </p:nvSpPr>
        <p:spPr>
          <a:xfrm>
            <a:off x="6071616" y="1920240"/>
            <a:ext cx="2615184" cy="1828800"/>
          </a:xfrm>
          <a:prstGeom prst="roundRect">
            <a:avLst>
              <a:gd name="adj" fmla="val 400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36207" y="2084831"/>
            <a:ext cx="411480" cy="411480"/>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0">
                <a:solidFill>
                  <a:srgbClr val="FFFFFF"/>
                </a:solidFill>
                <a:latin typeface="Segoe MDL2 Assets"/>
              </a:rPr>
              <a:t></a:t>
            </a:r>
          </a:p>
        </p:txBody>
      </p:sp>
      <p:sp>
        <p:nvSpPr>
          <p:cNvPr id="18" name="TextBox 17"/>
          <p:cNvSpPr txBox="1"/>
          <p:nvPr/>
        </p:nvSpPr>
        <p:spPr>
          <a:xfrm>
            <a:off x="6757416" y="2048256"/>
            <a:ext cx="1828800" cy="502920"/>
          </a:xfrm>
          <a:prstGeom prst="rect">
            <a:avLst/>
          </a:prstGeom>
          <a:noFill/>
        </p:spPr>
        <p:txBody>
          <a:bodyPr wrap="square" lIns="0" rIns="0" tIns="0" bIns="0" anchor="ctr">
            <a:spAutoFit/>
          </a:bodyPr>
          <a:lstStyle/>
          <a:p>
            <a:pPr algn="l"/>
            <a:r>
              <a:rPr sz="1900" b="1" i="0">
                <a:solidFill>
                  <a:srgbClr val="0F1B2D"/>
                </a:solidFill>
                <a:latin typeface="Calibri"/>
              </a:rPr>
              <a:t>Nothing says what is safe</a:t>
            </a:r>
          </a:p>
        </p:txBody>
      </p:sp>
      <p:sp>
        <p:nvSpPr>
          <p:cNvPr id="19" name="TextBox 18"/>
          <p:cNvSpPr txBox="1"/>
          <p:nvPr/>
        </p:nvSpPr>
        <p:spPr>
          <a:xfrm>
            <a:off x="6254496" y="2651760"/>
            <a:ext cx="2286000" cy="1051560"/>
          </a:xfrm>
          <a:prstGeom prst="rect">
            <a:avLst/>
          </a:prstGeom>
          <a:noFill/>
        </p:spPr>
        <p:txBody>
          <a:bodyPr wrap="square" lIns="0" rIns="0" tIns="0" bIns="0" anchor="t">
            <a:spAutoFit/>
          </a:bodyPr>
          <a:lstStyle/>
          <a:p>
            <a:pPr algn="l"/>
            <a:r>
              <a:rPr sz="1600" b="0" i="0">
                <a:solidFill>
                  <a:srgbClr val="0F1B2D"/>
                </a:solidFill>
                <a:latin typeface="Calibri"/>
              </a:rPr>
              <a:t>Users delete the wrong files or give up.</a:t>
            </a:r>
          </a:p>
        </p:txBody>
      </p:sp>
      <p:sp>
        <p:nvSpPr>
          <p:cNvPr id="20" name="Rounded Rectangle 19"/>
          <p:cNvSpPr/>
          <p:nvPr/>
        </p:nvSpPr>
        <p:spPr>
          <a:xfrm>
            <a:off x="457200" y="3931920"/>
            <a:ext cx="8229600" cy="502920"/>
          </a:xfrm>
          <a:prstGeom prst="roundRect">
            <a:avLst>
              <a:gd name="adj" fmla="val 14545"/>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931920"/>
            <a:ext cx="7772400" cy="502920"/>
          </a:xfrm>
          <a:prstGeom prst="rect">
            <a:avLst/>
          </a:prstGeom>
          <a:noFill/>
        </p:spPr>
        <p:txBody>
          <a:bodyPr wrap="square" lIns="0" rIns="0" tIns="0" bIns="0" anchor="ctr">
            <a:spAutoFit/>
          </a:bodyPr>
          <a:lstStyle/>
          <a:p>
            <a:pPr algn="l"/>
            <a:r>
              <a:rPr sz="1700" b="1" i="0">
                <a:solidFill>
                  <a:srgbClr val="F5A623"/>
                </a:solidFill>
                <a:latin typeface="Calibri"/>
              </a:rPr>
              <a:t>Impact: </a:t>
            </a:r>
            <a:r>
              <a:rPr sz="1700" b="0" i="0">
                <a:solidFill>
                  <a:srgbClr val="FFFFFF"/>
                </a:solidFill>
                <a:latin typeface="Calibri"/>
              </a:rPr>
              <a:t>failed updates, crashing apps, lost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Gaps in Windows’ built-in tools</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5</a:t>
            </a:r>
          </a:p>
        </p:txBody>
      </p:sp>
      <p:graphicFrame>
        <p:nvGraphicFramePr>
          <p:cNvPr id="5" name="Table 4"/>
          <p:cNvGraphicFramePr>
            <a:graphicFrameLocks noGrp="1"/>
          </p:cNvGraphicFramePr>
          <p:nvPr/>
        </p:nvGraphicFramePr>
        <p:xfrm>
          <a:off x="457200" y="1005840"/>
          <a:ext cx="8229600" cy="3209544"/>
        </p:xfrm>
        <a:graphic>
          <a:graphicData uri="http://schemas.openxmlformats.org/drawingml/2006/table">
            <a:tbl>
              <a:tblPr firstRow="1" bandRow="1">
                <a:tableStyleId>{5940675A-B579-460E-94D1-54222C63F5DA}</a:tableStyleId>
              </a:tblPr>
              <a:tblGrid>
                <a:gridCol w="2560320"/>
                <a:gridCol w="941832"/>
                <a:gridCol w="941832"/>
                <a:gridCol w="941832"/>
                <a:gridCol w="941832"/>
                <a:gridCol w="960120"/>
                <a:gridCol w="941832"/>
              </a:tblGrid>
              <a:tr h="356616">
                <a:tc>
                  <a:txBody>
                    <a:bodyPr wrap="square"/>
                    <a:lstStyle/>
                    <a:p>
                      <a:pPr algn="l"/>
                      <a:r>
                        <a:rPr sz="1400" b="1">
                          <a:solidFill>
                            <a:srgbClr val="FFFFFF"/>
                          </a:solidFill>
                          <a:latin typeface="Calibri"/>
                        </a:rPr>
                        <a:t>Feature</a:t>
                      </a:r>
                    </a:p>
                  </a:txBody>
                  <a:tcPr marL="73152" marR="73152" marT="27432" marB="27432" anchor="ctr">
                    <a:solidFill>
                      <a:srgbClr val="0F1B2D"/>
                    </a:solidFill>
                  </a:tcPr>
                </a:tc>
                <a:tc>
                  <a:txBody>
                    <a:bodyPr wrap="square"/>
                    <a:lstStyle/>
                    <a:p>
                      <a:pPr algn="ctr"/>
                      <a:r>
                        <a:rPr sz="1400" b="1">
                          <a:solidFill>
                            <a:srgbClr val="FFFFFF"/>
                          </a:solidFill>
                          <a:latin typeface="Calibri"/>
                        </a:rPr>
                        <a:t>Explorer
Properties</a:t>
                      </a:r>
                    </a:p>
                  </a:txBody>
                  <a:tcPr marL="73152" marR="73152" marT="27432" marB="27432" anchor="ctr">
                    <a:solidFill>
                      <a:srgbClr val="0F1B2D"/>
                    </a:solidFill>
                  </a:tcPr>
                </a:tc>
                <a:tc>
                  <a:txBody>
                    <a:bodyPr wrap="square"/>
                    <a:lstStyle/>
                    <a:p>
                      <a:pPr algn="ctr"/>
                      <a:r>
                        <a:rPr sz="1400" b="1">
                          <a:solidFill>
                            <a:srgbClr val="FFFFFF"/>
                          </a:solidFill>
                          <a:latin typeface="Calibri"/>
                        </a:rPr>
                        <a:t>Settings
Storage</a:t>
                      </a:r>
                    </a:p>
                  </a:txBody>
                  <a:tcPr marL="73152" marR="73152" marT="27432" marB="27432" anchor="ctr">
                    <a:solidFill>
                      <a:srgbClr val="0F1B2D"/>
                    </a:solidFill>
                  </a:tcPr>
                </a:tc>
                <a:tc>
                  <a:txBody>
                    <a:bodyPr wrap="square"/>
                    <a:lstStyle/>
                    <a:p>
                      <a:pPr algn="ctr"/>
                      <a:r>
                        <a:rPr sz="1400" b="1">
                          <a:solidFill>
                            <a:srgbClr val="FFFFFF"/>
                          </a:solidFill>
                          <a:latin typeface="Calibri"/>
                        </a:rPr>
                        <a:t>Disk
Cleanup</a:t>
                      </a:r>
                    </a:p>
                  </a:txBody>
                  <a:tcPr marL="73152" marR="73152" marT="27432" marB="27432" anchor="ctr">
                    <a:solidFill>
                      <a:srgbClr val="0F1B2D"/>
                    </a:solidFill>
                  </a:tcPr>
                </a:tc>
                <a:tc>
                  <a:txBody>
                    <a:bodyPr wrap="square"/>
                    <a:lstStyle/>
                    <a:p>
                      <a:pPr algn="ctr"/>
                      <a:r>
                        <a:rPr sz="1400" b="1">
                          <a:solidFill>
                            <a:srgbClr val="FFFFFF"/>
                          </a:solidFill>
                          <a:latin typeface="Calibri"/>
                        </a:rPr>
                        <a:t>Disk
Mgmt</a:t>
                      </a:r>
                    </a:p>
                  </a:txBody>
                  <a:tcPr marL="73152" marR="73152" marT="27432" marB="27432" anchor="ctr">
                    <a:solidFill>
                      <a:srgbClr val="0F1B2D"/>
                    </a:solidFill>
                  </a:tcPr>
                </a:tc>
                <a:tc>
                  <a:txBody>
                    <a:bodyPr wrap="square"/>
                    <a:lstStyle/>
                    <a:p>
                      <a:pPr algn="ctr"/>
                      <a:r>
                        <a:rPr sz="1400" b="1">
                          <a:solidFill>
                            <a:srgbClr val="FFFFFF"/>
                          </a:solidFill>
                          <a:latin typeface="Calibri"/>
                        </a:rPr>
                        <a:t>Optimize
Drives</a:t>
                      </a:r>
                    </a:p>
                  </a:txBody>
                  <a:tcPr marL="73152" marR="73152" marT="27432" marB="27432" anchor="ctr">
                    <a:solidFill>
                      <a:srgbClr val="0F1B2D"/>
                    </a:solidFill>
                  </a:tcPr>
                </a:tc>
                <a:tc>
                  <a:txBody>
                    <a:bodyPr wrap="square"/>
                    <a:lstStyle/>
                    <a:p>
                      <a:pPr algn="ctr"/>
                      <a:r>
                        <a:rPr sz="1400" b="1">
                          <a:solidFill>
                            <a:srgbClr val="FFFFFF"/>
                          </a:solidFill>
                          <a:latin typeface="Calibri"/>
                        </a:rPr>
                        <a:t>Space
Rescue</a:t>
                      </a:r>
                    </a:p>
                  </a:txBody>
                  <a:tcPr marL="73152" marR="73152" marT="27432" marB="27432" anchor="ctr">
                    <a:solidFill>
                      <a:srgbClr val="0F1B2D"/>
                    </a:solidFill>
                  </a:tcPr>
                </a:tc>
              </a:tr>
              <a:tr h="356616">
                <a:tc>
                  <a:txBody>
                    <a:bodyPr wrap="square"/>
                    <a:lstStyle/>
                    <a:p>
                      <a:pPr algn="l"/>
                      <a:r>
                        <a:rPr sz="1600" b="1">
                          <a:solidFill>
                            <a:srgbClr val="0F1B2D"/>
                          </a:solidFill>
                          <a:latin typeface="Calibri"/>
                        </a:rPr>
                        <a:t>Shows where space went</a:t>
                      </a:r>
                    </a:p>
                  </a:txBody>
                  <a:tcPr marL="73152" marR="73152" marT="27432" marB="27432" anchor="ctr">
                    <a:solidFill>
                      <a:srgbClr val="FFFFFF"/>
                    </a:solidFill>
                  </a:tcPr>
                </a:tc>
                <a:tc>
                  <a:txBody>
                    <a:bodyPr wrap="square"/>
                    <a:lstStyle/>
                    <a:p>
                      <a:pPr algn="ctr"/>
                      <a:r>
                        <a:rPr sz="1800" b="1">
                          <a:solidFill>
                            <a:srgbClr val="F5A623"/>
                          </a:solidFill>
                          <a:latin typeface="Calibri"/>
                        </a:rPr>
                        <a:t>~</a:t>
                      </a:r>
                    </a:p>
                  </a:txBody>
                  <a:tcPr marL="73152" marR="73152" marT="27432" marB="27432" anchor="ctr">
                    <a:solidFill>
                      <a:srgbClr val="FFFFFF"/>
                    </a:solidFill>
                  </a:tcPr>
                </a:tc>
                <a:tc>
                  <a:txBody>
                    <a:bodyPr wrap="square"/>
                    <a:lstStyle/>
                    <a:p>
                      <a:pPr algn="ctr"/>
                      <a:r>
                        <a:rPr sz="1800" b="1">
                          <a:solidFill>
                            <a:srgbClr val="F5A623"/>
                          </a:solidFill>
                          <a:latin typeface="Calibri"/>
                        </a:rPr>
                        <a:t>~</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1F9E89"/>
                          </a:solidFill>
                          <a:latin typeface="Calibri"/>
                        </a:rPr>
                        <a:t>✓</a:t>
                      </a:r>
                    </a:p>
                  </a:txBody>
                  <a:tcPr marL="73152" marR="73152" marT="27432" marB="27432" anchor="ctr">
                    <a:solidFill>
                      <a:srgbClr val="FFFFFF"/>
                    </a:solidFill>
                  </a:tcPr>
                </a:tc>
              </a:tr>
              <a:tr h="356616">
                <a:tc>
                  <a:txBody>
                    <a:bodyPr wrap="square"/>
                    <a:lstStyle/>
                    <a:p>
                      <a:pPr algn="l"/>
                      <a:r>
                        <a:rPr sz="1600" b="1">
                          <a:solidFill>
                            <a:srgbClr val="0F1B2D"/>
                          </a:solidFill>
                          <a:latin typeface="Calibri"/>
                        </a:rPr>
                        <a:t>Visual map of the disk</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1F9E89"/>
                          </a:solidFill>
                          <a:latin typeface="Calibri"/>
                        </a:rPr>
                        <a:t>✓</a:t>
                      </a:r>
                    </a:p>
                  </a:txBody>
                  <a:tcPr marL="73152" marR="73152" marT="27432" marB="27432" anchor="ctr">
                    <a:solidFill>
                      <a:srgbClr val="F6F8FB"/>
                    </a:solidFill>
                  </a:tcPr>
                </a:tc>
              </a:tr>
              <a:tr h="356616">
                <a:tc>
                  <a:txBody>
                    <a:bodyPr wrap="square"/>
                    <a:lstStyle/>
                    <a:p>
                      <a:pPr algn="l"/>
                      <a:r>
                        <a:rPr sz="1600" b="1">
                          <a:solidFill>
                            <a:srgbClr val="0F1B2D"/>
                          </a:solidFill>
                          <a:latin typeface="Calibri"/>
                        </a:rPr>
                        <a:t>Works at 0 bytes free</a:t>
                      </a:r>
                    </a:p>
                  </a:txBody>
                  <a:tcPr marL="73152" marR="73152" marT="27432" marB="27432" anchor="ctr">
                    <a:solidFill>
                      <a:srgbClr val="FFFFFF"/>
                    </a:solidFill>
                  </a:tcPr>
                </a:tc>
                <a:tc>
                  <a:txBody>
                    <a:bodyPr wrap="square"/>
                    <a:lstStyle/>
                    <a:p>
                      <a:pPr algn="ctr"/>
                      <a:r>
                        <a:rPr sz="1800" b="1">
                          <a:solidFill>
                            <a:srgbClr val="1F9E89"/>
                          </a:solidFill>
                          <a:latin typeface="Calibri"/>
                        </a:rPr>
                        <a:t>✓</a:t>
                      </a:r>
                    </a:p>
                  </a:txBody>
                  <a:tcPr marL="73152" marR="73152" marT="27432" marB="27432" anchor="ctr">
                    <a:solidFill>
                      <a:srgbClr val="FFFFFF"/>
                    </a:solidFill>
                  </a:tcPr>
                </a:tc>
                <a:tc>
                  <a:txBody>
                    <a:bodyPr wrap="square"/>
                    <a:lstStyle/>
                    <a:p>
                      <a:pPr algn="ctr"/>
                      <a:r>
                        <a:rPr sz="1800" b="1">
                          <a:solidFill>
                            <a:srgbClr val="1F9E89"/>
                          </a:solidFill>
                          <a:latin typeface="Calibri"/>
                        </a:rPr>
                        <a:t>✓</a:t>
                      </a:r>
                    </a:p>
                  </a:txBody>
                  <a:tcPr marL="73152" marR="73152" marT="27432" marB="27432" anchor="ctr">
                    <a:solidFill>
                      <a:srgbClr val="FFFFFF"/>
                    </a:solidFill>
                  </a:tcPr>
                </a:tc>
                <a:tc>
                  <a:txBody>
                    <a:bodyPr wrap="square"/>
                    <a:lstStyle/>
                    <a:p>
                      <a:pPr algn="ctr"/>
                      <a:r>
                        <a:rPr sz="1800" b="1">
                          <a:solidFill>
                            <a:srgbClr val="1F9E89"/>
                          </a:solidFill>
                          <a:latin typeface="Calibri"/>
                        </a:rPr>
                        <a:t>✓</a:t>
                      </a:r>
                    </a:p>
                  </a:txBody>
                  <a:tcPr marL="73152" marR="73152" marT="27432" marB="27432" anchor="ctr">
                    <a:solidFill>
                      <a:srgbClr val="FFFFFF"/>
                    </a:solidFill>
                  </a:tcPr>
                </a:tc>
                <a:tc>
                  <a:txBody>
                    <a:bodyPr wrap="square"/>
                    <a:lstStyle/>
                    <a:p>
                      <a:pPr algn="ctr"/>
                      <a:r>
                        <a:rPr sz="1800" b="1">
                          <a:solidFill>
                            <a:srgbClr val="1F9E89"/>
                          </a:solidFill>
                          <a:latin typeface="Calibri"/>
                        </a:rPr>
                        <a:t>✓</a:t>
                      </a:r>
                    </a:p>
                  </a:txBody>
                  <a:tcPr marL="73152" marR="73152" marT="27432" marB="27432" anchor="ctr">
                    <a:solidFill>
                      <a:srgbClr val="FFFFFF"/>
                    </a:solidFill>
                  </a:tcPr>
                </a:tc>
                <a:tc>
                  <a:txBody>
                    <a:bodyPr wrap="square"/>
                    <a:lstStyle/>
                    <a:p>
                      <a:pPr algn="ctr"/>
                      <a:r>
                        <a:rPr sz="1800" b="1">
                          <a:solidFill>
                            <a:srgbClr val="F5A623"/>
                          </a:solidFill>
                          <a:latin typeface="Calibri"/>
                        </a:rPr>
                        <a:t>~</a:t>
                      </a:r>
                    </a:p>
                  </a:txBody>
                  <a:tcPr marL="73152" marR="73152" marT="27432" marB="27432" anchor="ctr">
                    <a:solidFill>
                      <a:srgbClr val="FFFFFF"/>
                    </a:solidFill>
                  </a:tcPr>
                </a:tc>
                <a:tc>
                  <a:txBody>
                    <a:bodyPr wrap="square"/>
                    <a:lstStyle/>
                    <a:p>
                      <a:pPr algn="ctr"/>
                      <a:r>
                        <a:rPr sz="1800" b="1">
                          <a:solidFill>
                            <a:srgbClr val="1F9E89"/>
                          </a:solidFill>
                          <a:latin typeface="Calibri"/>
                        </a:rPr>
                        <a:t>✓*</a:t>
                      </a:r>
                    </a:p>
                  </a:txBody>
                  <a:tcPr marL="73152" marR="73152" marT="27432" marB="27432" anchor="ctr">
                    <a:solidFill>
                      <a:srgbClr val="FFFFFF"/>
                    </a:solidFill>
                  </a:tcPr>
                </a:tc>
              </a:tr>
              <a:tr h="356616">
                <a:tc>
                  <a:txBody>
                    <a:bodyPr wrap="square"/>
                    <a:lstStyle/>
                    <a:p>
                      <a:pPr algn="l"/>
                      <a:r>
                        <a:rPr sz="1600" b="1">
                          <a:solidFill>
                            <a:srgbClr val="0F1B2D"/>
                          </a:solidFill>
                          <a:latin typeface="Calibri"/>
                        </a:rPr>
                        <a:t>Safe review + undo</a:t>
                      </a:r>
                    </a:p>
                  </a:txBody>
                  <a:tcPr marL="73152" marR="73152" marT="27432" marB="27432" anchor="ctr">
                    <a:solidFill>
                      <a:srgbClr val="F6F8FB"/>
                    </a:solidFill>
                  </a:tcPr>
                </a:tc>
                <a:tc>
                  <a:txBody>
                    <a:bodyPr wrap="square"/>
                    <a:lstStyle/>
                    <a:p>
                      <a:pPr algn="ctr"/>
                      <a:r>
                        <a:rPr sz="1800" b="1">
                          <a:solidFill>
                            <a:srgbClr val="F5A623"/>
                          </a:solidFill>
                          <a:latin typeface="Calibri"/>
                        </a:rPr>
                        <a:t>~</a:t>
                      </a:r>
                    </a:p>
                  </a:txBody>
                  <a:tcPr marL="73152" marR="73152" marT="27432" marB="27432" anchor="ctr">
                    <a:solidFill>
                      <a:srgbClr val="F6F8FB"/>
                    </a:solidFill>
                  </a:tcPr>
                </a:tc>
                <a:tc>
                  <a:txBody>
                    <a:bodyPr wrap="square"/>
                    <a:lstStyle/>
                    <a:p>
                      <a:pPr algn="ctr"/>
                      <a:r>
                        <a:rPr sz="1800" b="1">
                          <a:solidFill>
                            <a:srgbClr val="F5A623"/>
                          </a:solidFill>
                          <a:latin typeface="Calibri"/>
                        </a:rPr>
                        <a:t>~</a:t>
                      </a:r>
                    </a:p>
                  </a:txBody>
                  <a:tcPr marL="73152" marR="73152" marT="27432" marB="27432" anchor="ctr">
                    <a:solidFill>
                      <a:srgbClr val="F6F8FB"/>
                    </a:solidFill>
                  </a:tcPr>
                </a:tc>
                <a:tc>
                  <a:txBody>
                    <a:bodyPr wrap="square"/>
                    <a:lstStyle/>
                    <a:p>
                      <a:pPr algn="ctr"/>
                      <a:r>
                        <a:rPr sz="1800" b="1">
                          <a:solidFill>
                            <a:srgbClr val="F5A623"/>
                          </a:solidFill>
                          <a:latin typeface="Calibri"/>
                        </a:rPr>
                        <a:t>~</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1F9E89"/>
                          </a:solidFill>
                          <a:latin typeface="Calibri"/>
                        </a:rPr>
                        <a:t>✓</a:t>
                      </a:r>
                    </a:p>
                  </a:txBody>
                  <a:tcPr marL="73152" marR="73152" marT="27432" marB="27432" anchor="ctr">
                    <a:solidFill>
                      <a:srgbClr val="F6F8FB"/>
                    </a:solidFill>
                  </a:tcPr>
                </a:tc>
              </a:tr>
              <a:tr h="356616">
                <a:tc>
                  <a:txBody>
                    <a:bodyPr wrap="square"/>
                    <a:lstStyle/>
                    <a:p>
                      <a:pPr algn="l"/>
                      <a:r>
                        <a:rPr sz="1600" b="1">
                          <a:solidFill>
                            <a:srgbClr val="0F1B2D"/>
                          </a:solidFill>
                          <a:latin typeface="Calibri"/>
                        </a:rPr>
                        <a:t>Finds app and dev caches</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F5A623"/>
                          </a:solidFill>
                          <a:latin typeface="Calibri"/>
                        </a:rPr>
                        <a:t>~</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1F9E89"/>
                          </a:solidFill>
                          <a:latin typeface="Calibri"/>
                        </a:rPr>
                        <a:t>✓</a:t>
                      </a:r>
                    </a:p>
                  </a:txBody>
                  <a:tcPr marL="73152" marR="73152" marT="27432" marB="27432" anchor="ctr">
                    <a:solidFill>
                      <a:srgbClr val="FFFFFF"/>
                    </a:solidFill>
                  </a:tcPr>
                </a:tc>
              </a:tr>
              <a:tr h="356616">
                <a:tc>
                  <a:txBody>
                    <a:bodyPr wrap="square"/>
                    <a:lstStyle/>
                    <a:p>
                      <a:pPr algn="l"/>
                      <a:r>
                        <a:rPr sz="1600" b="1">
                          <a:solidFill>
                            <a:srgbClr val="0F1B2D"/>
                          </a:solidFill>
                          <a:latin typeface="Calibri"/>
                        </a:rPr>
                        <a:t>Explains system files</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F5A623"/>
                          </a:solidFill>
                          <a:latin typeface="Calibri"/>
                        </a:rPr>
                        <a:t>~</a:t>
                      </a:r>
                    </a:p>
                  </a:txBody>
                  <a:tcPr marL="73152" marR="73152" marT="27432" marB="27432" anchor="ctr">
                    <a:solidFill>
                      <a:srgbClr val="F6F8FB"/>
                    </a:solidFill>
                  </a:tcPr>
                </a:tc>
                <a:tc>
                  <a:txBody>
                    <a:bodyPr wrap="square"/>
                    <a:lstStyle/>
                    <a:p>
                      <a:pPr algn="ctr"/>
                      <a:r>
                        <a:rPr sz="1800" b="1">
                          <a:solidFill>
                            <a:srgbClr val="F5A623"/>
                          </a:solidFill>
                          <a:latin typeface="Calibri"/>
                        </a:rPr>
                        <a:t>~</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1F9E89"/>
                          </a:solidFill>
                          <a:latin typeface="Calibri"/>
                        </a:rPr>
                        <a:t>✓</a:t>
                      </a:r>
                    </a:p>
                  </a:txBody>
                  <a:tcPr marL="73152" marR="73152" marT="27432" marB="27432" anchor="ctr">
                    <a:solidFill>
                      <a:srgbClr val="F6F8FB"/>
                    </a:solidFill>
                  </a:tcPr>
                </a:tc>
              </a:tr>
              <a:tr h="356616">
                <a:tc>
                  <a:txBody>
                    <a:bodyPr wrap="square"/>
                    <a:lstStyle/>
                    <a:p>
                      <a:pPr algn="l"/>
                      <a:r>
                        <a:rPr sz="1600" b="1">
                          <a:solidFill>
                            <a:srgbClr val="0F1B2D"/>
                          </a:solidFill>
                          <a:latin typeface="Calibri"/>
                        </a:rPr>
                        <a:t>Early low-space alerts</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F5A623"/>
                          </a:solidFill>
                          <a:latin typeface="Calibri"/>
                        </a:rPr>
                        <a:t>~</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E5484D"/>
                          </a:solidFill>
                          <a:latin typeface="Calibri"/>
                        </a:rPr>
                        <a:t>✗</a:t>
                      </a:r>
                    </a:p>
                  </a:txBody>
                  <a:tcPr marL="73152" marR="73152" marT="27432" marB="27432" anchor="ctr">
                    <a:solidFill>
                      <a:srgbClr val="FFFFFF"/>
                    </a:solidFill>
                  </a:tcPr>
                </a:tc>
                <a:tc>
                  <a:txBody>
                    <a:bodyPr wrap="square"/>
                    <a:lstStyle/>
                    <a:p>
                      <a:pPr algn="ctr"/>
                      <a:r>
                        <a:rPr sz="1800" b="1">
                          <a:solidFill>
                            <a:srgbClr val="1F9E89"/>
                          </a:solidFill>
                          <a:latin typeface="Calibri"/>
                        </a:rPr>
                        <a:t>✓</a:t>
                      </a:r>
                    </a:p>
                  </a:txBody>
                  <a:tcPr marL="73152" marR="73152" marT="27432" marB="27432" anchor="ctr">
                    <a:solidFill>
                      <a:srgbClr val="FFFFFF"/>
                    </a:solidFill>
                  </a:tcPr>
                </a:tc>
              </a:tr>
              <a:tr h="356616">
                <a:tc>
                  <a:txBody>
                    <a:bodyPr wrap="square"/>
                    <a:lstStyle/>
                    <a:p>
                      <a:pPr algn="l"/>
                      <a:r>
                        <a:rPr sz="1600" b="1">
                          <a:solidFill>
                            <a:srgbClr val="0F1B2D"/>
                          </a:solidFill>
                          <a:latin typeface="Calibri"/>
                        </a:rPr>
                        <a:t>Shows disk internals</a:t>
                      </a:r>
                    </a:p>
                  </a:txBody>
                  <a:tcPr marL="73152" marR="73152" marT="27432" marB="27432" anchor="ctr">
                    <a:solidFill>
                      <a:srgbClr val="F6F8FB"/>
                    </a:solidFill>
                  </a:tcPr>
                </a:tc>
                <a:tc>
                  <a:txBody>
                    <a:bodyPr wrap="square"/>
                    <a:lstStyle/>
                    <a:p>
                      <a:pPr algn="ctr"/>
                      <a:r>
                        <a:rPr sz="1800" b="1">
                          <a:solidFill>
                            <a:srgbClr val="F5A623"/>
                          </a:solidFill>
                          <a:latin typeface="Calibri"/>
                        </a:rPr>
                        <a:t>~</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E5484D"/>
                          </a:solidFill>
                          <a:latin typeface="Calibri"/>
                        </a:rPr>
                        <a:t>✗</a:t>
                      </a:r>
                    </a:p>
                  </a:txBody>
                  <a:tcPr marL="73152" marR="73152" marT="27432" marB="27432" anchor="ctr">
                    <a:solidFill>
                      <a:srgbClr val="F6F8FB"/>
                    </a:solidFill>
                  </a:tcPr>
                </a:tc>
                <a:tc>
                  <a:txBody>
                    <a:bodyPr wrap="square"/>
                    <a:lstStyle/>
                    <a:p>
                      <a:pPr algn="ctr"/>
                      <a:r>
                        <a:rPr sz="1800" b="1">
                          <a:solidFill>
                            <a:srgbClr val="F5A623"/>
                          </a:solidFill>
                          <a:latin typeface="Calibri"/>
                        </a:rPr>
                        <a:t>~</a:t>
                      </a:r>
                    </a:p>
                  </a:txBody>
                  <a:tcPr marL="73152" marR="73152" marT="27432" marB="27432" anchor="ctr">
                    <a:solidFill>
                      <a:srgbClr val="F6F8FB"/>
                    </a:solidFill>
                  </a:tcPr>
                </a:tc>
                <a:tc>
                  <a:txBody>
                    <a:bodyPr wrap="square"/>
                    <a:lstStyle/>
                    <a:p>
                      <a:pPr algn="ctr"/>
                      <a:r>
                        <a:rPr sz="1800" b="1">
                          <a:solidFill>
                            <a:srgbClr val="F5A623"/>
                          </a:solidFill>
                          <a:latin typeface="Calibri"/>
                        </a:rPr>
                        <a:t>~</a:t>
                      </a:r>
                    </a:p>
                  </a:txBody>
                  <a:tcPr marL="73152" marR="73152" marT="27432" marB="27432" anchor="ctr">
                    <a:solidFill>
                      <a:srgbClr val="F6F8FB"/>
                    </a:solidFill>
                  </a:tcPr>
                </a:tc>
                <a:tc>
                  <a:txBody>
                    <a:bodyPr wrap="square"/>
                    <a:lstStyle/>
                    <a:p>
                      <a:pPr algn="ctr"/>
                      <a:r>
                        <a:rPr sz="1800" b="1">
                          <a:solidFill>
                            <a:srgbClr val="1F9E89"/>
                          </a:solidFill>
                          <a:latin typeface="Calibri"/>
                        </a:rPr>
                        <a:t>✓</a:t>
                      </a:r>
                    </a:p>
                  </a:txBody>
                  <a:tcPr marL="73152" marR="73152" marT="27432" marB="27432" anchor="ctr">
                    <a:solidFill>
                      <a:srgbClr val="F6F8FB"/>
                    </a:solidFill>
                  </a:tcPr>
                </a:tc>
              </a:tr>
            </a:tbl>
          </a:graphicData>
        </a:graphic>
      </p:graphicFrame>
      <p:sp>
        <p:nvSpPr>
          <p:cNvPr id="6" name="TextBox 5"/>
          <p:cNvSpPr txBox="1"/>
          <p:nvPr/>
        </p:nvSpPr>
        <p:spPr>
          <a:xfrm>
            <a:off x="457200" y="4315968"/>
            <a:ext cx="8229600" cy="274320"/>
          </a:xfrm>
          <a:prstGeom prst="rect">
            <a:avLst/>
          </a:prstGeom>
          <a:noFill/>
        </p:spPr>
        <p:txBody>
          <a:bodyPr wrap="square" lIns="0" rIns="0" tIns="0" bIns="0" anchor="t">
            <a:spAutoFit/>
          </a:bodyPr>
          <a:lstStyle/>
          <a:p>
            <a:pPr algn="l"/>
            <a:r>
              <a:rPr sz="1400" b="0" i="0">
                <a:solidFill>
                  <a:srgbClr val="5B6B80"/>
                </a:solidFill>
                <a:latin typeface="Calibri"/>
              </a:rPr>
              <a:t>✓ yes   ~ partly   ✗ no      * zero-write design; 0-byte VHDX test pending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Use cases (1/2)</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6</a:t>
            </a:r>
          </a:p>
        </p:txBody>
      </p:sp>
      <p:sp>
        <p:nvSpPr>
          <p:cNvPr id="5" name="Rounded Rectangle 4"/>
          <p:cNvSpPr/>
          <p:nvPr/>
        </p:nvSpPr>
        <p:spPr>
          <a:xfrm>
            <a:off x="457200" y="1097280"/>
            <a:ext cx="4023360" cy="1600200"/>
          </a:xfrm>
          <a:prstGeom prst="roundRect">
            <a:avLst>
              <a:gd name="adj" fmla="val 457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298448"/>
            <a:ext cx="457200" cy="457200"/>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7" name="TextBox 6"/>
          <p:cNvSpPr txBox="1"/>
          <p:nvPr/>
        </p:nvSpPr>
        <p:spPr>
          <a:xfrm>
            <a:off x="1234440" y="1280160"/>
            <a:ext cx="3108960" cy="502920"/>
          </a:xfrm>
          <a:prstGeom prst="rect">
            <a:avLst/>
          </a:prstGeom>
          <a:noFill/>
        </p:spPr>
        <p:txBody>
          <a:bodyPr wrap="square" lIns="0" rIns="0" tIns="0" bIns="0" anchor="ctr">
            <a:spAutoFit/>
          </a:bodyPr>
          <a:lstStyle/>
          <a:p>
            <a:pPr algn="l"/>
            <a:r>
              <a:rPr sz="2100" b="1" i="0">
                <a:solidFill>
                  <a:srgbClr val="0F1B2D"/>
                </a:solidFill>
                <a:latin typeface="Calibri"/>
              </a:rPr>
              <a:t>Student, 512 MB free</a:t>
            </a:r>
          </a:p>
        </p:txBody>
      </p:sp>
      <p:sp>
        <p:nvSpPr>
          <p:cNvPr id="8" name="TextBox 7"/>
          <p:cNvSpPr txBox="1"/>
          <p:nvPr/>
        </p:nvSpPr>
        <p:spPr>
          <a:xfrm>
            <a:off x="685800" y="1874519"/>
            <a:ext cx="3611880" cy="777240"/>
          </a:xfrm>
          <a:prstGeom prst="rect">
            <a:avLst/>
          </a:prstGeom>
          <a:noFill/>
        </p:spPr>
        <p:txBody>
          <a:bodyPr wrap="square" lIns="0" rIns="0" tIns="0" bIns="0" anchor="t">
            <a:spAutoFit/>
          </a:bodyPr>
          <a:lstStyle/>
          <a:p>
            <a:pPr algn="l"/>
            <a:r>
              <a:rPr sz="1700" b="0" i="0">
                <a:solidFill>
                  <a:srgbClr val="0F1B2D"/>
                </a:solidFill>
                <a:latin typeface="Calibri"/>
              </a:rPr>
              <a:t>Rescue Mode releases the reserve file; quick wins show in 3 s.</a:t>
            </a:r>
          </a:p>
        </p:txBody>
      </p:sp>
      <p:sp>
        <p:nvSpPr>
          <p:cNvPr id="9" name="Rounded Rectangle 8"/>
          <p:cNvSpPr/>
          <p:nvPr/>
        </p:nvSpPr>
        <p:spPr>
          <a:xfrm>
            <a:off x="4663440" y="1097280"/>
            <a:ext cx="4023360" cy="1600200"/>
          </a:xfrm>
          <a:prstGeom prst="roundRect">
            <a:avLst>
              <a:gd name="adj" fmla="val 457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46320" y="1298448"/>
            <a:ext cx="457200" cy="457200"/>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11" name="TextBox 10"/>
          <p:cNvSpPr txBox="1"/>
          <p:nvPr/>
        </p:nvSpPr>
        <p:spPr>
          <a:xfrm>
            <a:off x="5440679" y="1280160"/>
            <a:ext cx="3108960" cy="502920"/>
          </a:xfrm>
          <a:prstGeom prst="rect">
            <a:avLst/>
          </a:prstGeom>
          <a:noFill/>
        </p:spPr>
        <p:txBody>
          <a:bodyPr wrap="square" lIns="0" rIns="0" tIns="0" bIns="0" anchor="ctr">
            <a:spAutoFit/>
          </a:bodyPr>
          <a:lstStyle/>
          <a:p>
            <a:pPr algn="l"/>
            <a:r>
              <a:rPr sz="2100" b="1" i="0">
                <a:solidFill>
                  <a:srgbClr val="0F1B2D"/>
                </a:solidFill>
                <a:latin typeface="Calibri"/>
              </a:rPr>
              <a:t>Developer</a:t>
            </a:r>
          </a:p>
        </p:txBody>
      </p:sp>
      <p:sp>
        <p:nvSpPr>
          <p:cNvPr id="12" name="TextBox 11"/>
          <p:cNvSpPr txBox="1"/>
          <p:nvPr/>
        </p:nvSpPr>
        <p:spPr>
          <a:xfrm>
            <a:off x="4892040" y="1874519"/>
            <a:ext cx="3611880" cy="777240"/>
          </a:xfrm>
          <a:prstGeom prst="rect">
            <a:avLst/>
          </a:prstGeom>
          <a:noFill/>
        </p:spPr>
        <p:txBody>
          <a:bodyPr wrap="square" lIns="0" rIns="0" tIns="0" bIns="0" anchor="t">
            <a:spAutoFit/>
          </a:bodyPr>
          <a:lstStyle/>
          <a:p>
            <a:pPr algn="l"/>
            <a:r>
              <a:rPr sz="1700" b="0" i="0">
                <a:solidFill>
                  <a:srgbClr val="0F1B2D"/>
                </a:solidFill>
                <a:latin typeface="Calibri"/>
              </a:rPr>
              <a:t>node_modules, Gradle, pip and WSL disks grouped by project and last opened.</a:t>
            </a:r>
          </a:p>
        </p:txBody>
      </p:sp>
      <p:sp>
        <p:nvSpPr>
          <p:cNvPr id="13" name="Rounded Rectangle 12"/>
          <p:cNvSpPr/>
          <p:nvPr/>
        </p:nvSpPr>
        <p:spPr>
          <a:xfrm>
            <a:off x="457200" y="2880360"/>
            <a:ext cx="4023360" cy="1600200"/>
          </a:xfrm>
          <a:prstGeom prst="roundRect">
            <a:avLst>
              <a:gd name="adj" fmla="val 457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3081528"/>
            <a:ext cx="457200" cy="457200"/>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15" name="TextBox 14"/>
          <p:cNvSpPr txBox="1"/>
          <p:nvPr/>
        </p:nvSpPr>
        <p:spPr>
          <a:xfrm>
            <a:off x="1234440" y="3063240"/>
            <a:ext cx="3108960" cy="502920"/>
          </a:xfrm>
          <a:prstGeom prst="rect">
            <a:avLst/>
          </a:prstGeom>
          <a:noFill/>
        </p:spPr>
        <p:txBody>
          <a:bodyPr wrap="square" lIns="0" rIns="0" tIns="0" bIns="0" anchor="ctr">
            <a:spAutoFit/>
          </a:bodyPr>
          <a:lstStyle/>
          <a:p>
            <a:pPr algn="l"/>
            <a:r>
              <a:rPr sz="2100" b="1" i="0">
                <a:solidFill>
                  <a:srgbClr val="0F1B2D"/>
                </a:solidFill>
                <a:latin typeface="Calibri"/>
              </a:rPr>
              <a:t>Gamer</a:t>
            </a:r>
          </a:p>
        </p:txBody>
      </p:sp>
      <p:sp>
        <p:nvSpPr>
          <p:cNvPr id="16" name="TextBox 15"/>
          <p:cNvSpPr txBox="1"/>
          <p:nvPr/>
        </p:nvSpPr>
        <p:spPr>
          <a:xfrm>
            <a:off x="685800" y="3657600"/>
            <a:ext cx="3611880" cy="777240"/>
          </a:xfrm>
          <a:prstGeom prst="rect">
            <a:avLst/>
          </a:prstGeom>
          <a:noFill/>
        </p:spPr>
        <p:txBody>
          <a:bodyPr wrap="square" lIns="0" rIns="0" tIns="0" bIns="0" anchor="t">
            <a:spAutoFit/>
          </a:bodyPr>
          <a:lstStyle/>
          <a:p>
            <a:pPr algn="l"/>
            <a:r>
              <a:rPr sz="1700" b="0" i="0">
                <a:solidFill>
                  <a:srgbClr val="0F1B2D"/>
                </a:solidFill>
                <a:latin typeface="Calibri"/>
              </a:rPr>
              <a:t>Steam shader cache, unfinished downloads and Epic web cache, each reviewable.</a:t>
            </a:r>
          </a:p>
        </p:txBody>
      </p:sp>
      <p:sp>
        <p:nvSpPr>
          <p:cNvPr id="17" name="Rounded Rectangle 16"/>
          <p:cNvSpPr/>
          <p:nvPr/>
        </p:nvSpPr>
        <p:spPr>
          <a:xfrm>
            <a:off x="4663440" y="2880360"/>
            <a:ext cx="4023360" cy="1600200"/>
          </a:xfrm>
          <a:prstGeom prst="roundRect">
            <a:avLst>
              <a:gd name="adj" fmla="val 457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846320" y="3081528"/>
            <a:ext cx="457200" cy="457200"/>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19" name="TextBox 18"/>
          <p:cNvSpPr txBox="1"/>
          <p:nvPr/>
        </p:nvSpPr>
        <p:spPr>
          <a:xfrm>
            <a:off x="5440679" y="3063240"/>
            <a:ext cx="3108960" cy="502920"/>
          </a:xfrm>
          <a:prstGeom prst="rect">
            <a:avLst/>
          </a:prstGeom>
          <a:noFill/>
        </p:spPr>
        <p:txBody>
          <a:bodyPr wrap="square" lIns="0" rIns="0" tIns="0" bIns="0" anchor="ctr">
            <a:spAutoFit/>
          </a:bodyPr>
          <a:lstStyle/>
          <a:p>
            <a:pPr algn="l"/>
            <a:r>
              <a:rPr sz="2100" b="1" i="0">
                <a:solidFill>
                  <a:srgbClr val="0F1B2D"/>
                </a:solidFill>
                <a:latin typeface="Calibri"/>
              </a:rPr>
              <a:t>“pagefile.sys is 7.8 GB?”</a:t>
            </a:r>
          </a:p>
        </p:txBody>
      </p:sp>
      <p:sp>
        <p:nvSpPr>
          <p:cNvPr id="20" name="TextBox 19"/>
          <p:cNvSpPr txBox="1"/>
          <p:nvPr/>
        </p:nvSpPr>
        <p:spPr>
          <a:xfrm>
            <a:off x="4892040" y="3657600"/>
            <a:ext cx="3611880" cy="777240"/>
          </a:xfrm>
          <a:prstGeom prst="rect">
            <a:avLst/>
          </a:prstGeom>
          <a:noFill/>
        </p:spPr>
        <p:txBody>
          <a:bodyPr wrap="square" lIns="0" rIns="0" tIns="0" bIns="0" anchor="t">
            <a:spAutoFit/>
          </a:bodyPr>
          <a:lstStyle/>
          <a:p>
            <a:pPr algn="l"/>
            <a:r>
              <a:rPr sz="1700" b="0" i="0">
                <a:solidFill>
                  <a:srgbClr val="0F1B2D"/>
                </a:solidFill>
                <a:latin typeface="Calibri"/>
              </a:rPr>
              <a:t>Lock badge, plain explanation, and the safe Windows setting.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Use cases (2/2)</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7</a:t>
            </a:r>
          </a:p>
        </p:txBody>
      </p:sp>
      <p:sp>
        <p:nvSpPr>
          <p:cNvPr id="5" name="Rounded Rectangle 4"/>
          <p:cNvSpPr/>
          <p:nvPr/>
        </p:nvSpPr>
        <p:spPr>
          <a:xfrm>
            <a:off x="457200" y="1097280"/>
            <a:ext cx="4023360" cy="1600200"/>
          </a:xfrm>
          <a:prstGeom prst="roundRect">
            <a:avLst>
              <a:gd name="adj" fmla="val 457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298448"/>
            <a:ext cx="457200" cy="457200"/>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7" name="TextBox 6"/>
          <p:cNvSpPr txBox="1"/>
          <p:nvPr/>
        </p:nvSpPr>
        <p:spPr>
          <a:xfrm>
            <a:off x="1234440" y="1280160"/>
            <a:ext cx="3108960" cy="502920"/>
          </a:xfrm>
          <a:prstGeom prst="rect">
            <a:avLst/>
          </a:prstGeom>
          <a:noFill/>
        </p:spPr>
        <p:txBody>
          <a:bodyPr wrap="square" lIns="0" rIns="0" tIns="0" bIns="0" anchor="ctr">
            <a:spAutoFit/>
          </a:bodyPr>
          <a:lstStyle/>
          <a:p>
            <a:pPr algn="l"/>
            <a:r>
              <a:rPr sz="2100" b="1" i="0">
                <a:solidFill>
                  <a:srgbClr val="0F1B2D"/>
                </a:solidFill>
                <a:latin typeface="Calibri"/>
              </a:rPr>
              <a:t>Disk filling for weeks</a:t>
            </a:r>
          </a:p>
        </p:txBody>
      </p:sp>
      <p:sp>
        <p:nvSpPr>
          <p:cNvPr id="8" name="TextBox 7"/>
          <p:cNvSpPr txBox="1"/>
          <p:nvPr/>
        </p:nvSpPr>
        <p:spPr>
          <a:xfrm>
            <a:off x="685800" y="1874519"/>
            <a:ext cx="3611880" cy="777240"/>
          </a:xfrm>
          <a:prstGeom prst="rect">
            <a:avLst/>
          </a:prstGeom>
          <a:noFill/>
        </p:spPr>
        <p:txBody>
          <a:bodyPr wrap="square" lIns="0" rIns="0" tIns="0" bIns="0" anchor="t">
            <a:spAutoFit/>
          </a:bodyPr>
          <a:lstStyle/>
          <a:p>
            <a:pPr algn="l"/>
            <a:r>
              <a:rPr sz="1700" b="0" i="0">
                <a:solidFill>
                  <a:srgbClr val="0F1B2D"/>
                </a:solidFill>
                <a:latin typeface="Calibri"/>
              </a:rPr>
              <a:t>Quiet alerts at 50, 20, 10, 5, 3, 2, 1 GB and 512 MB.</a:t>
            </a:r>
          </a:p>
        </p:txBody>
      </p:sp>
      <p:sp>
        <p:nvSpPr>
          <p:cNvPr id="9" name="Rounded Rectangle 8"/>
          <p:cNvSpPr/>
          <p:nvPr/>
        </p:nvSpPr>
        <p:spPr>
          <a:xfrm>
            <a:off x="4663440" y="1097280"/>
            <a:ext cx="4023360" cy="1600200"/>
          </a:xfrm>
          <a:prstGeom prst="roundRect">
            <a:avLst>
              <a:gd name="adj" fmla="val 457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46320" y="1298448"/>
            <a:ext cx="457200" cy="457200"/>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11" name="TextBox 10"/>
          <p:cNvSpPr txBox="1"/>
          <p:nvPr/>
        </p:nvSpPr>
        <p:spPr>
          <a:xfrm>
            <a:off x="5440679" y="1280160"/>
            <a:ext cx="3108960" cy="502920"/>
          </a:xfrm>
          <a:prstGeom prst="rect">
            <a:avLst/>
          </a:prstGeom>
          <a:noFill/>
        </p:spPr>
        <p:txBody>
          <a:bodyPr wrap="square" lIns="0" rIns="0" tIns="0" bIns="0" anchor="ctr">
            <a:spAutoFit/>
          </a:bodyPr>
          <a:lstStyle/>
          <a:p>
            <a:pPr algn="l"/>
            <a:r>
              <a:rPr sz="2100" b="1" i="0">
                <a:solidFill>
                  <a:srgbClr val="0F1B2D"/>
                </a:solidFill>
                <a:latin typeface="Calibri"/>
              </a:rPr>
              <a:t>Deleted the wrong thing</a:t>
            </a:r>
          </a:p>
        </p:txBody>
      </p:sp>
      <p:sp>
        <p:nvSpPr>
          <p:cNvPr id="12" name="TextBox 11"/>
          <p:cNvSpPr txBox="1"/>
          <p:nvPr/>
        </p:nvSpPr>
        <p:spPr>
          <a:xfrm>
            <a:off x="4892040" y="1874519"/>
            <a:ext cx="3611880" cy="777240"/>
          </a:xfrm>
          <a:prstGeom prst="rect">
            <a:avLst/>
          </a:prstGeom>
          <a:noFill/>
        </p:spPr>
        <p:txBody>
          <a:bodyPr wrap="square" lIns="0" rIns="0" tIns="0" bIns="0" anchor="t">
            <a:spAutoFit/>
          </a:bodyPr>
          <a:lstStyle/>
          <a:p>
            <a:pPr algn="l"/>
            <a:r>
              <a:rPr sz="1700" b="0" i="0">
                <a:solidFill>
                  <a:srgbClr val="0F1B2D"/>
                </a:solidFill>
                <a:latin typeface="Calibri"/>
              </a:rPr>
              <a:t>Undo from the toast; quarantine keeps a verified copy on another drive.</a:t>
            </a:r>
          </a:p>
        </p:txBody>
      </p:sp>
      <p:sp>
        <p:nvSpPr>
          <p:cNvPr id="13" name="Rounded Rectangle 12"/>
          <p:cNvSpPr/>
          <p:nvPr/>
        </p:nvSpPr>
        <p:spPr>
          <a:xfrm>
            <a:off x="457200" y="2880360"/>
            <a:ext cx="4023360" cy="1600200"/>
          </a:xfrm>
          <a:prstGeom prst="roundRect">
            <a:avLst>
              <a:gd name="adj" fmla="val 457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3081528"/>
            <a:ext cx="457200" cy="457200"/>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15" name="TextBox 14"/>
          <p:cNvSpPr txBox="1"/>
          <p:nvPr/>
        </p:nvSpPr>
        <p:spPr>
          <a:xfrm>
            <a:off x="1234440" y="3063240"/>
            <a:ext cx="3108960" cy="502920"/>
          </a:xfrm>
          <a:prstGeom prst="rect">
            <a:avLst/>
          </a:prstGeom>
          <a:noFill/>
        </p:spPr>
        <p:txBody>
          <a:bodyPr wrap="square" lIns="0" rIns="0" tIns="0" bIns="0" anchor="ctr">
            <a:spAutoFit/>
          </a:bodyPr>
          <a:lstStyle/>
          <a:p>
            <a:pPr algn="l"/>
            <a:r>
              <a:rPr sz="2100" b="1" i="0">
                <a:solidFill>
                  <a:srgbClr val="0F1B2D"/>
                </a:solidFill>
                <a:latin typeface="Calibri"/>
              </a:rPr>
              <a:t>Second drive or USB stick</a:t>
            </a:r>
          </a:p>
        </p:txBody>
      </p:sp>
      <p:sp>
        <p:nvSpPr>
          <p:cNvPr id="16" name="TextBox 15"/>
          <p:cNvSpPr txBox="1"/>
          <p:nvPr/>
        </p:nvSpPr>
        <p:spPr>
          <a:xfrm>
            <a:off x="685800" y="3657600"/>
            <a:ext cx="3611880" cy="777240"/>
          </a:xfrm>
          <a:prstGeom prst="rect">
            <a:avLst/>
          </a:prstGeom>
          <a:noFill/>
        </p:spPr>
        <p:txBody>
          <a:bodyPr wrap="square" lIns="0" rIns="0" tIns="0" bIns="0" anchor="t">
            <a:spAutoFit/>
          </a:bodyPr>
          <a:lstStyle/>
          <a:p>
            <a:pPr algn="l"/>
            <a:r>
              <a:rPr sz="1700" b="0" i="0">
                <a:solidFill>
                  <a:srgbClr val="0F1B2D"/>
                </a:solidFill>
                <a:latin typeface="Calibri"/>
              </a:rPr>
              <a:t>Work volume holds quarantine and logs; portable mode runs from USB.</a:t>
            </a:r>
          </a:p>
        </p:txBody>
      </p:sp>
      <p:sp>
        <p:nvSpPr>
          <p:cNvPr id="17" name="Rounded Rectangle 16"/>
          <p:cNvSpPr/>
          <p:nvPr/>
        </p:nvSpPr>
        <p:spPr>
          <a:xfrm>
            <a:off x="4663440" y="2880360"/>
            <a:ext cx="4023360" cy="1600200"/>
          </a:xfrm>
          <a:prstGeom prst="roundRect">
            <a:avLst>
              <a:gd name="adj" fmla="val 457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846320" y="3081528"/>
            <a:ext cx="457200" cy="457200"/>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0">
                <a:solidFill>
                  <a:srgbClr val="FFFFFF"/>
                </a:solidFill>
                <a:latin typeface="Segoe MDL2 Assets"/>
              </a:rPr>
              <a:t></a:t>
            </a:r>
          </a:p>
        </p:txBody>
      </p:sp>
      <p:sp>
        <p:nvSpPr>
          <p:cNvPr id="19" name="TextBox 18"/>
          <p:cNvSpPr txBox="1"/>
          <p:nvPr/>
        </p:nvSpPr>
        <p:spPr>
          <a:xfrm>
            <a:off x="5440679" y="3063240"/>
            <a:ext cx="3108960" cy="502920"/>
          </a:xfrm>
          <a:prstGeom prst="rect">
            <a:avLst/>
          </a:prstGeom>
          <a:noFill/>
        </p:spPr>
        <p:txBody>
          <a:bodyPr wrap="square" lIns="0" rIns="0" tIns="0" bIns="0" anchor="ctr">
            <a:spAutoFit/>
          </a:bodyPr>
          <a:lstStyle/>
          <a:p>
            <a:pPr algn="l"/>
            <a:r>
              <a:rPr sz="2100" b="1" i="0">
                <a:solidFill>
                  <a:srgbClr val="0F1B2D"/>
                </a:solidFill>
                <a:latin typeface="Calibri"/>
              </a:rPr>
              <a:t>Right-click a folder</a:t>
            </a:r>
          </a:p>
        </p:txBody>
      </p:sp>
      <p:sp>
        <p:nvSpPr>
          <p:cNvPr id="20" name="TextBox 19"/>
          <p:cNvSpPr txBox="1"/>
          <p:nvPr/>
        </p:nvSpPr>
        <p:spPr>
          <a:xfrm>
            <a:off x="4892040" y="3657600"/>
            <a:ext cx="3611880" cy="777240"/>
          </a:xfrm>
          <a:prstGeom prst="rect">
            <a:avLst/>
          </a:prstGeom>
          <a:noFill/>
        </p:spPr>
        <p:txBody>
          <a:bodyPr wrap="square" lIns="0" rIns="0" tIns="0" bIns="0" anchor="t">
            <a:spAutoFit/>
          </a:bodyPr>
          <a:lstStyle/>
          <a:p>
            <a:pPr algn="l"/>
            <a:r>
              <a:rPr sz="1700" b="0" i="0">
                <a:solidFill>
                  <a:srgbClr val="0F1B2D"/>
                </a:solidFill>
                <a:latin typeface="Calibri"/>
              </a:rPr>
              <a:t>“Analyze with SpaceRescue” scans just that folder (built, untested on a clean PC).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Thinking from the user’s side</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8</a:t>
            </a:r>
          </a:p>
        </p:txBody>
      </p:sp>
      <p:sp>
        <p:nvSpPr>
          <p:cNvPr id="5" name="Rounded Rectangle 4"/>
          <p:cNvSpPr/>
          <p:nvPr/>
        </p:nvSpPr>
        <p:spPr>
          <a:xfrm>
            <a:off x="457200" y="1143000"/>
            <a:ext cx="1920240" cy="2240280"/>
          </a:xfrm>
          <a:prstGeom prst="roundRect">
            <a:avLst>
              <a:gd name="adj" fmla="val 3809"/>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70432" y="1298448"/>
            <a:ext cx="502920" cy="502920"/>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0">
                <a:solidFill>
                  <a:srgbClr val="FFFFFF"/>
                </a:solidFill>
                <a:latin typeface="Segoe MDL2 Assets"/>
              </a:rPr>
              <a:t></a:t>
            </a:r>
          </a:p>
        </p:txBody>
      </p:sp>
      <p:sp>
        <p:nvSpPr>
          <p:cNvPr id="7" name="TextBox 6"/>
          <p:cNvSpPr txBox="1"/>
          <p:nvPr/>
        </p:nvSpPr>
        <p:spPr>
          <a:xfrm>
            <a:off x="548640" y="1874519"/>
            <a:ext cx="1737360" cy="411480"/>
          </a:xfrm>
          <a:prstGeom prst="rect">
            <a:avLst/>
          </a:prstGeom>
          <a:noFill/>
        </p:spPr>
        <p:txBody>
          <a:bodyPr wrap="square" lIns="0" rIns="0" tIns="0" bIns="0" anchor="t">
            <a:spAutoFit/>
          </a:bodyPr>
          <a:lstStyle/>
          <a:p>
            <a:pPr algn="ctr"/>
            <a:r>
              <a:rPr sz="2200" b="1" i="0">
                <a:solidFill>
                  <a:srgbClr val="0F1B2D"/>
                </a:solidFill>
                <a:latin typeface="Calibri"/>
              </a:rPr>
              <a:t>Notice</a:t>
            </a:r>
          </a:p>
        </p:txBody>
      </p:sp>
      <p:sp>
        <p:nvSpPr>
          <p:cNvPr id="8" name="TextBox 7"/>
          <p:cNvSpPr txBox="1"/>
          <p:nvPr/>
        </p:nvSpPr>
        <p:spPr>
          <a:xfrm>
            <a:off x="594360" y="2331720"/>
            <a:ext cx="1645920" cy="1005840"/>
          </a:xfrm>
          <a:prstGeom prst="rect">
            <a:avLst/>
          </a:prstGeom>
          <a:noFill/>
        </p:spPr>
        <p:txBody>
          <a:bodyPr wrap="square" lIns="0" rIns="0" tIns="0" bIns="0" anchor="t">
            <a:spAutoFit/>
          </a:bodyPr>
          <a:lstStyle/>
          <a:p>
            <a:pPr algn="ctr"/>
            <a:r>
              <a:rPr sz="1600" b="0" i="0">
                <a:solidFill>
                  <a:srgbClr val="0F1B2D"/>
                </a:solidFill>
                <a:latin typeface="Calibri"/>
              </a:rPr>
              <a:t>Tray alert before the disk is full</a:t>
            </a:r>
          </a:p>
        </p:txBody>
      </p:sp>
      <p:cxnSp>
        <p:nvCxnSpPr>
          <p:cNvPr id="9" name="Connector 8"/>
          <p:cNvCxnSpPr/>
          <p:nvPr/>
        </p:nvCxnSpPr>
        <p:spPr>
          <a:xfrm>
            <a:off x="2395728" y="2258568"/>
            <a:ext cx="164592"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57200" y="3520440"/>
            <a:ext cx="1920240" cy="868680"/>
          </a:xfrm>
          <a:prstGeom prst="roundRect">
            <a:avLst>
              <a:gd name="adj" fmla="val 8421"/>
            </a:avLst>
          </a:prstGeom>
          <a:solidFill>
            <a:srgbClr val="1B2B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20440"/>
            <a:ext cx="1737360" cy="868680"/>
          </a:xfrm>
          <a:prstGeom prst="rect">
            <a:avLst/>
          </a:prstGeom>
          <a:noFill/>
        </p:spPr>
        <p:txBody>
          <a:bodyPr wrap="square" lIns="0" rIns="0" tIns="0" bIns="0" anchor="ctr">
            <a:spAutoFit/>
          </a:bodyPr>
          <a:lstStyle/>
          <a:p>
            <a:pPr algn="ctr"/>
            <a:r>
              <a:rPr sz="1600" b="1" i="0">
                <a:solidFill>
                  <a:srgbClr val="FFFFFF"/>
                </a:solidFill>
                <a:latin typeface="Calibri"/>
              </a:rPr>
              <a:t>Alerts only on the way down</a:t>
            </a:r>
          </a:p>
        </p:txBody>
      </p:sp>
      <p:sp>
        <p:nvSpPr>
          <p:cNvPr id="12" name="Rounded Rectangle 11"/>
          <p:cNvSpPr/>
          <p:nvPr/>
        </p:nvSpPr>
        <p:spPr>
          <a:xfrm>
            <a:off x="2578608" y="1143000"/>
            <a:ext cx="1920240" cy="2240280"/>
          </a:xfrm>
          <a:prstGeom prst="roundRect">
            <a:avLst>
              <a:gd name="adj" fmla="val 3809"/>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291839" y="1298448"/>
            <a:ext cx="502920" cy="502920"/>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0">
                <a:solidFill>
                  <a:srgbClr val="FFFFFF"/>
                </a:solidFill>
                <a:latin typeface="Segoe MDL2 Assets"/>
              </a:rPr>
              <a:t></a:t>
            </a:r>
          </a:p>
        </p:txBody>
      </p:sp>
      <p:sp>
        <p:nvSpPr>
          <p:cNvPr id="14" name="TextBox 13"/>
          <p:cNvSpPr txBox="1"/>
          <p:nvPr/>
        </p:nvSpPr>
        <p:spPr>
          <a:xfrm>
            <a:off x="2670048" y="1874519"/>
            <a:ext cx="1737360" cy="411480"/>
          </a:xfrm>
          <a:prstGeom prst="rect">
            <a:avLst/>
          </a:prstGeom>
          <a:noFill/>
        </p:spPr>
        <p:txBody>
          <a:bodyPr wrap="square" lIns="0" rIns="0" tIns="0" bIns="0" anchor="t">
            <a:spAutoFit/>
          </a:bodyPr>
          <a:lstStyle/>
          <a:p>
            <a:pPr algn="ctr"/>
            <a:r>
              <a:rPr sz="2200" b="1" i="0">
                <a:solidFill>
                  <a:srgbClr val="0F1B2D"/>
                </a:solidFill>
                <a:latin typeface="Calibri"/>
              </a:rPr>
              <a:t>Understand</a:t>
            </a:r>
          </a:p>
        </p:txBody>
      </p:sp>
      <p:sp>
        <p:nvSpPr>
          <p:cNvPr id="15" name="TextBox 14"/>
          <p:cNvSpPr txBox="1"/>
          <p:nvPr/>
        </p:nvSpPr>
        <p:spPr>
          <a:xfrm>
            <a:off x="2715768" y="2331720"/>
            <a:ext cx="1645920" cy="1005840"/>
          </a:xfrm>
          <a:prstGeom prst="rect">
            <a:avLst/>
          </a:prstGeom>
          <a:noFill/>
        </p:spPr>
        <p:txBody>
          <a:bodyPr wrap="square" lIns="0" rIns="0" tIns="0" bIns="0" anchor="t">
            <a:spAutoFit/>
          </a:bodyPr>
          <a:lstStyle/>
          <a:p>
            <a:pPr algn="ctr"/>
            <a:r>
              <a:rPr sz="1600" b="0" i="0">
                <a:solidFill>
                  <a:srgbClr val="0F1B2D"/>
                </a:solidFill>
                <a:latin typeface="Calibri"/>
              </a:rPr>
              <a:t>Where space went, in seconds</a:t>
            </a:r>
          </a:p>
        </p:txBody>
      </p:sp>
      <p:cxnSp>
        <p:nvCxnSpPr>
          <p:cNvPr id="16" name="Connector 15"/>
          <p:cNvCxnSpPr/>
          <p:nvPr/>
        </p:nvCxnSpPr>
        <p:spPr>
          <a:xfrm>
            <a:off x="4517136" y="2258568"/>
            <a:ext cx="164591"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578608" y="3520440"/>
            <a:ext cx="1920240" cy="868680"/>
          </a:xfrm>
          <a:prstGeom prst="roundRect">
            <a:avLst>
              <a:gd name="adj" fmla="val 8421"/>
            </a:avLst>
          </a:prstGeom>
          <a:solidFill>
            <a:srgbClr val="1B2B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70048" y="3520440"/>
            <a:ext cx="1737360" cy="868680"/>
          </a:xfrm>
          <a:prstGeom prst="rect">
            <a:avLst/>
          </a:prstGeom>
          <a:noFill/>
        </p:spPr>
        <p:txBody>
          <a:bodyPr wrap="square" lIns="0" rIns="0" tIns="0" bIns="0" anchor="ctr">
            <a:spAutoFit/>
          </a:bodyPr>
          <a:lstStyle/>
          <a:p>
            <a:pPr algn="ctr"/>
            <a:r>
              <a:rPr sz="1600" b="1" i="0">
                <a:solidFill>
                  <a:srgbClr val="FFFFFF"/>
                </a:solidFill>
                <a:latin typeface="Calibri"/>
              </a:rPr>
              <a:t>Answers stream during the scan</a:t>
            </a:r>
          </a:p>
        </p:txBody>
      </p:sp>
      <p:sp>
        <p:nvSpPr>
          <p:cNvPr id="19" name="Rounded Rectangle 18"/>
          <p:cNvSpPr/>
          <p:nvPr/>
        </p:nvSpPr>
        <p:spPr>
          <a:xfrm>
            <a:off x="4700016" y="1143000"/>
            <a:ext cx="1920240" cy="2240280"/>
          </a:xfrm>
          <a:prstGeom prst="roundRect">
            <a:avLst>
              <a:gd name="adj" fmla="val 3809"/>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413248" y="1298448"/>
            <a:ext cx="502920" cy="502920"/>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0">
                <a:solidFill>
                  <a:srgbClr val="FFFFFF"/>
                </a:solidFill>
                <a:latin typeface="Segoe MDL2 Assets"/>
              </a:rPr>
              <a:t></a:t>
            </a:r>
          </a:p>
        </p:txBody>
      </p:sp>
      <p:sp>
        <p:nvSpPr>
          <p:cNvPr id="21" name="TextBox 20"/>
          <p:cNvSpPr txBox="1"/>
          <p:nvPr/>
        </p:nvSpPr>
        <p:spPr>
          <a:xfrm>
            <a:off x="4791455" y="1874519"/>
            <a:ext cx="1737360" cy="411480"/>
          </a:xfrm>
          <a:prstGeom prst="rect">
            <a:avLst/>
          </a:prstGeom>
          <a:noFill/>
        </p:spPr>
        <p:txBody>
          <a:bodyPr wrap="square" lIns="0" rIns="0" tIns="0" bIns="0" anchor="t">
            <a:spAutoFit/>
          </a:bodyPr>
          <a:lstStyle/>
          <a:p>
            <a:pPr algn="ctr"/>
            <a:r>
              <a:rPr sz="2200" b="1" i="0">
                <a:solidFill>
                  <a:srgbClr val="0F1B2D"/>
                </a:solidFill>
                <a:latin typeface="Calibri"/>
              </a:rPr>
              <a:t>Act safely</a:t>
            </a:r>
          </a:p>
        </p:txBody>
      </p:sp>
      <p:sp>
        <p:nvSpPr>
          <p:cNvPr id="22" name="TextBox 21"/>
          <p:cNvSpPr txBox="1"/>
          <p:nvPr/>
        </p:nvSpPr>
        <p:spPr>
          <a:xfrm>
            <a:off x="4837176" y="2331720"/>
            <a:ext cx="1645920" cy="1005840"/>
          </a:xfrm>
          <a:prstGeom prst="rect">
            <a:avLst/>
          </a:prstGeom>
          <a:noFill/>
        </p:spPr>
        <p:txBody>
          <a:bodyPr wrap="square" lIns="0" rIns="0" tIns="0" bIns="0" anchor="t">
            <a:spAutoFit/>
          </a:bodyPr>
          <a:lstStyle/>
          <a:p>
            <a:pPr algn="ctr"/>
            <a:r>
              <a:rPr sz="1600" b="0" i="0">
                <a:solidFill>
                  <a:srgbClr val="0F1B2D"/>
                </a:solidFill>
                <a:latin typeface="Calibri"/>
              </a:rPr>
              <a:t>Review list, quarantine, undo</a:t>
            </a:r>
          </a:p>
        </p:txBody>
      </p:sp>
      <p:cxnSp>
        <p:nvCxnSpPr>
          <p:cNvPr id="23" name="Connector 22"/>
          <p:cNvCxnSpPr/>
          <p:nvPr/>
        </p:nvCxnSpPr>
        <p:spPr>
          <a:xfrm>
            <a:off x="6638544" y="2258568"/>
            <a:ext cx="164592"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700016" y="3520440"/>
            <a:ext cx="1920240" cy="868680"/>
          </a:xfrm>
          <a:prstGeom prst="roundRect">
            <a:avLst>
              <a:gd name="adj" fmla="val 8421"/>
            </a:avLst>
          </a:prstGeom>
          <a:solidFill>
            <a:srgbClr val="1B2B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5" y="3520440"/>
            <a:ext cx="1737360" cy="868680"/>
          </a:xfrm>
          <a:prstGeom prst="rect">
            <a:avLst/>
          </a:prstGeom>
          <a:noFill/>
        </p:spPr>
        <p:txBody>
          <a:bodyPr wrap="square" lIns="0" rIns="0" tIns="0" bIns="0" anchor="ctr">
            <a:spAutoFit/>
          </a:bodyPr>
          <a:lstStyle/>
          <a:p>
            <a:pPr algn="ctr"/>
            <a:r>
              <a:rPr sz="1600" b="1" i="0">
                <a:solidFill>
                  <a:srgbClr val="FFFFFF"/>
                </a:solidFill>
                <a:latin typeface="Calibri"/>
              </a:rPr>
              <a:t>Delete is never one click away</a:t>
            </a:r>
          </a:p>
        </p:txBody>
      </p:sp>
      <p:sp>
        <p:nvSpPr>
          <p:cNvPr id="26" name="Rounded Rectangle 25"/>
          <p:cNvSpPr/>
          <p:nvPr/>
        </p:nvSpPr>
        <p:spPr>
          <a:xfrm>
            <a:off x="6821423" y="1143000"/>
            <a:ext cx="1920240" cy="2240280"/>
          </a:xfrm>
          <a:prstGeom prst="roundRect">
            <a:avLst>
              <a:gd name="adj" fmla="val 3809"/>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34655" y="1298448"/>
            <a:ext cx="502920" cy="502920"/>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0">
                <a:solidFill>
                  <a:srgbClr val="FFFFFF"/>
                </a:solidFill>
                <a:latin typeface="Segoe MDL2 Assets"/>
              </a:rPr>
              <a:t></a:t>
            </a:r>
          </a:p>
        </p:txBody>
      </p:sp>
      <p:sp>
        <p:nvSpPr>
          <p:cNvPr id="28" name="TextBox 27"/>
          <p:cNvSpPr txBox="1"/>
          <p:nvPr/>
        </p:nvSpPr>
        <p:spPr>
          <a:xfrm>
            <a:off x="6912863" y="1874519"/>
            <a:ext cx="1737360" cy="411480"/>
          </a:xfrm>
          <a:prstGeom prst="rect">
            <a:avLst/>
          </a:prstGeom>
          <a:noFill/>
        </p:spPr>
        <p:txBody>
          <a:bodyPr wrap="square" lIns="0" rIns="0" tIns="0" bIns="0" anchor="t">
            <a:spAutoFit/>
          </a:bodyPr>
          <a:lstStyle/>
          <a:p>
            <a:pPr algn="ctr"/>
            <a:r>
              <a:rPr sz="2200" b="1" i="0">
                <a:solidFill>
                  <a:srgbClr val="0F1B2D"/>
                </a:solidFill>
                <a:latin typeface="Calibri"/>
              </a:rPr>
              <a:t>Stay safe</a:t>
            </a:r>
          </a:p>
        </p:txBody>
      </p:sp>
      <p:sp>
        <p:nvSpPr>
          <p:cNvPr id="29" name="TextBox 28"/>
          <p:cNvSpPr txBox="1"/>
          <p:nvPr/>
        </p:nvSpPr>
        <p:spPr>
          <a:xfrm>
            <a:off x="6958583" y="2331720"/>
            <a:ext cx="1645920" cy="1005840"/>
          </a:xfrm>
          <a:prstGeom prst="rect">
            <a:avLst/>
          </a:prstGeom>
          <a:noFill/>
        </p:spPr>
        <p:txBody>
          <a:bodyPr wrap="square" lIns="0" rIns="0" tIns="0" bIns="0" anchor="t">
            <a:spAutoFit/>
          </a:bodyPr>
          <a:lstStyle/>
          <a:p>
            <a:pPr algn="ctr"/>
            <a:r>
              <a:rPr sz="1600" b="0" i="0">
                <a:solidFill>
                  <a:srgbClr val="0F1B2D"/>
                </a:solidFill>
                <a:latin typeface="Calibri"/>
              </a:rPr>
              <a:t>Reserve file, next alert armed</a:t>
            </a:r>
          </a:p>
        </p:txBody>
      </p:sp>
      <p:sp>
        <p:nvSpPr>
          <p:cNvPr id="30" name="Rounded Rectangle 29"/>
          <p:cNvSpPr/>
          <p:nvPr/>
        </p:nvSpPr>
        <p:spPr>
          <a:xfrm>
            <a:off x="6821423" y="3520440"/>
            <a:ext cx="1920240" cy="868680"/>
          </a:xfrm>
          <a:prstGeom prst="roundRect">
            <a:avLst>
              <a:gd name="adj" fmla="val 8421"/>
            </a:avLst>
          </a:prstGeom>
          <a:solidFill>
            <a:srgbClr val="1B2B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12863" y="3520440"/>
            <a:ext cx="1737360" cy="868680"/>
          </a:xfrm>
          <a:prstGeom prst="rect">
            <a:avLst/>
          </a:prstGeom>
          <a:noFill/>
        </p:spPr>
        <p:txBody>
          <a:bodyPr wrap="square" lIns="0" rIns="0" tIns="0" bIns="0" anchor="ctr">
            <a:spAutoFit/>
          </a:bodyPr>
          <a:lstStyle/>
          <a:p>
            <a:pPr algn="ctr"/>
            <a:r>
              <a:rPr sz="1600" b="1" i="0">
                <a:solidFill>
                  <a:srgbClr val="FFFFFF"/>
                </a:solidFill>
                <a:latin typeface="Calibri"/>
              </a:rPr>
              <a:t>Nothing written to the full drive</a:t>
            </a:r>
          </a:p>
        </p:txBody>
      </p:sp>
      <p:sp>
        <p:nvSpPr>
          <p:cNvPr id="32" name="TextBox 31"/>
          <p:cNvSpPr txBox="1"/>
          <p:nvPr/>
        </p:nvSpPr>
        <p:spPr>
          <a:xfrm>
            <a:off x="457200" y="4462272"/>
            <a:ext cx="8229600" cy="274320"/>
          </a:xfrm>
          <a:prstGeom prst="rect">
            <a:avLst/>
          </a:prstGeom>
          <a:noFill/>
        </p:spPr>
        <p:txBody>
          <a:bodyPr wrap="square" lIns="0" rIns="0" tIns="0" bIns="0" anchor="t">
            <a:spAutoFit/>
          </a:bodyPr>
          <a:lstStyle/>
          <a:p>
            <a:pPr algn="l"/>
            <a:r>
              <a:rPr sz="1400" b="0" i="0">
                <a:solidFill>
                  <a:srgbClr val="5B6B80"/>
                </a:solidFill>
                <a:latin typeface="Calibri"/>
              </a:rPr>
              <a:t>Top: what the user does.  Bottom: the design rule it forced.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Our solution</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9</a:t>
            </a:r>
          </a:p>
        </p:txBody>
      </p:sp>
      <p:sp>
        <p:nvSpPr>
          <p:cNvPr id="5" name="TextBox 4"/>
          <p:cNvSpPr txBox="1"/>
          <p:nvPr/>
        </p:nvSpPr>
        <p:spPr>
          <a:xfrm>
            <a:off x="457200" y="932688"/>
            <a:ext cx="3291840" cy="274320"/>
          </a:xfrm>
          <a:prstGeom prst="rect">
            <a:avLst/>
          </a:prstGeom>
          <a:noFill/>
        </p:spPr>
        <p:txBody>
          <a:bodyPr wrap="square" lIns="0" rIns="0" tIns="0" bIns="0" anchor="t">
            <a:spAutoFit/>
          </a:bodyPr>
          <a:lstStyle/>
          <a:p>
            <a:pPr algn="l"/>
            <a:r>
              <a:rPr sz="1300" b="1" i="0">
                <a:solidFill>
                  <a:srgbClr val="E5484D"/>
                </a:solidFill>
                <a:latin typeface="Calibri"/>
              </a:rPr>
              <a:t>PROBLEM</a:t>
            </a:r>
          </a:p>
        </p:txBody>
      </p:sp>
      <p:sp>
        <p:nvSpPr>
          <p:cNvPr id="6" name="TextBox 5"/>
          <p:cNvSpPr txBox="1"/>
          <p:nvPr/>
        </p:nvSpPr>
        <p:spPr>
          <a:xfrm>
            <a:off x="4160520" y="932688"/>
            <a:ext cx="4480560" cy="274320"/>
          </a:xfrm>
          <a:prstGeom prst="rect">
            <a:avLst/>
          </a:prstGeom>
          <a:noFill/>
        </p:spPr>
        <p:txBody>
          <a:bodyPr wrap="square" lIns="0" rIns="0" tIns="0" bIns="0" anchor="t">
            <a:spAutoFit/>
          </a:bodyPr>
          <a:lstStyle/>
          <a:p>
            <a:pPr algn="l"/>
            <a:r>
              <a:rPr sz="1300" b="1" i="0">
                <a:solidFill>
                  <a:srgbClr val="1F9E89"/>
                </a:solidFill>
                <a:latin typeface="Calibri"/>
              </a:rPr>
              <a:t>SPACERESCUE</a:t>
            </a:r>
          </a:p>
        </p:txBody>
      </p:sp>
      <p:sp>
        <p:nvSpPr>
          <p:cNvPr id="7" name="Rounded Rectangle 6"/>
          <p:cNvSpPr/>
          <p:nvPr/>
        </p:nvSpPr>
        <p:spPr>
          <a:xfrm>
            <a:off x="457200" y="1207008"/>
            <a:ext cx="3291840" cy="457200"/>
          </a:xfrm>
          <a:prstGeom prst="roundRect">
            <a:avLst>
              <a:gd name="adj" fmla="val 1600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0352" y="1261872"/>
            <a:ext cx="347472" cy="347472"/>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FFFFFF"/>
                </a:solidFill>
                <a:latin typeface="Segoe MDL2 Assets"/>
              </a:rPr>
              <a:t></a:t>
            </a:r>
          </a:p>
        </p:txBody>
      </p:sp>
      <p:sp>
        <p:nvSpPr>
          <p:cNvPr id="9" name="TextBox 8"/>
          <p:cNvSpPr txBox="1"/>
          <p:nvPr/>
        </p:nvSpPr>
        <p:spPr>
          <a:xfrm>
            <a:off x="960120" y="1207008"/>
            <a:ext cx="2743200" cy="457200"/>
          </a:xfrm>
          <a:prstGeom prst="rect">
            <a:avLst/>
          </a:prstGeom>
          <a:noFill/>
        </p:spPr>
        <p:txBody>
          <a:bodyPr wrap="square" lIns="0" rIns="0" tIns="0" bIns="0" anchor="ctr">
            <a:spAutoFit/>
          </a:bodyPr>
          <a:lstStyle/>
          <a:p>
            <a:pPr algn="l"/>
            <a:r>
              <a:rPr sz="1600" b="1" i="0">
                <a:solidFill>
                  <a:srgbClr val="0F1B2D"/>
                </a:solidFill>
                <a:latin typeface="Calibri"/>
              </a:rPr>
              <a:t>The tool needs space and RAM</a:t>
            </a:r>
          </a:p>
        </p:txBody>
      </p:sp>
      <p:cxnSp>
        <p:nvCxnSpPr>
          <p:cNvPr id="10" name="Connector 9"/>
          <p:cNvCxnSpPr/>
          <p:nvPr/>
        </p:nvCxnSpPr>
        <p:spPr>
          <a:xfrm>
            <a:off x="3776472" y="1435608"/>
            <a:ext cx="338328"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60520" y="1207008"/>
            <a:ext cx="4526280" cy="457200"/>
          </a:xfrm>
          <a:prstGeom prst="roundRect">
            <a:avLst>
              <a:gd name="adj" fmla="val 1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33672" y="1261872"/>
            <a:ext cx="347472" cy="347472"/>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FFFFFF"/>
                </a:solidFill>
                <a:latin typeface="Segoe MDL2 Assets"/>
              </a:rPr>
              <a:t></a:t>
            </a:r>
          </a:p>
        </p:txBody>
      </p:sp>
      <p:sp>
        <p:nvSpPr>
          <p:cNvPr id="13" name="TextBox 12"/>
          <p:cNvSpPr txBox="1"/>
          <p:nvPr/>
        </p:nvSpPr>
        <p:spPr>
          <a:xfrm>
            <a:off x="4663440" y="1207008"/>
            <a:ext cx="3931920" cy="457200"/>
          </a:xfrm>
          <a:prstGeom prst="rect">
            <a:avLst/>
          </a:prstGeom>
          <a:noFill/>
        </p:spPr>
        <p:txBody>
          <a:bodyPr wrap="square" lIns="0" rIns="0" tIns="0" bIns="0" anchor="ctr">
            <a:spAutoFit/>
          </a:bodyPr>
          <a:lstStyle/>
          <a:p>
            <a:pPr algn="l"/>
            <a:r>
              <a:rPr sz="1600" b="0" i="0">
                <a:solidFill>
                  <a:srgbClr val="FFFFFF"/>
                </a:solidFill>
                <a:latin typeface="Calibri"/>
              </a:rPr>
              <a:t>Zero-write Rescue Mode + 512 MB reserve file</a:t>
            </a:r>
          </a:p>
        </p:txBody>
      </p:sp>
      <p:sp>
        <p:nvSpPr>
          <p:cNvPr id="14" name="Rounded Rectangle 13"/>
          <p:cNvSpPr/>
          <p:nvPr/>
        </p:nvSpPr>
        <p:spPr>
          <a:xfrm>
            <a:off x="457200" y="1755648"/>
            <a:ext cx="3291840" cy="457200"/>
          </a:xfrm>
          <a:prstGeom prst="roundRect">
            <a:avLst>
              <a:gd name="adj" fmla="val 1600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0352" y="1810512"/>
            <a:ext cx="347472" cy="347472"/>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FFFFFF"/>
                </a:solidFill>
                <a:latin typeface="Segoe MDL2 Assets"/>
              </a:rPr>
              <a:t></a:t>
            </a:r>
          </a:p>
        </p:txBody>
      </p:sp>
      <p:sp>
        <p:nvSpPr>
          <p:cNvPr id="16" name="TextBox 15"/>
          <p:cNvSpPr txBox="1"/>
          <p:nvPr/>
        </p:nvSpPr>
        <p:spPr>
          <a:xfrm>
            <a:off x="960120" y="1755648"/>
            <a:ext cx="2743200" cy="457200"/>
          </a:xfrm>
          <a:prstGeom prst="rect">
            <a:avLst/>
          </a:prstGeom>
          <a:noFill/>
        </p:spPr>
        <p:txBody>
          <a:bodyPr wrap="square" lIns="0" rIns="0" tIns="0" bIns="0" anchor="ctr">
            <a:spAutoFit/>
          </a:bodyPr>
          <a:lstStyle/>
          <a:p>
            <a:pPr algn="l"/>
            <a:r>
              <a:rPr sz="1600" b="1" i="0">
                <a:solidFill>
                  <a:srgbClr val="0F1B2D"/>
                </a:solidFill>
                <a:latin typeface="Calibri"/>
              </a:rPr>
              <a:t>Scanning takes minutes</a:t>
            </a:r>
          </a:p>
        </p:txBody>
      </p:sp>
      <p:cxnSp>
        <p:nvCxnSpPr>
          <p:cNvPr id="17" name="Connector 16"/>
          <p:cNvCxnSpPr/>
          <p:nvPr/>
        </p:nvCxnSpPr>
        <p:spPr>
          <a:xfrm>
            <a:off x="3776472" y="1984248"/>
            <a:ext cx="338328"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160520" y="1755648"/>
            <a:ext cx="4526280" cy="457200"/>
          </a:xfrm>
          <a:prstGeom prst="roundRect">
            <a:avLst>
              <a:gd name="adj" fmla="val 1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33672" y="1810512"/>
            <a:ext cx="347472" cy="347472"/>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FFFFFF"/>
                </a:solidFill>
                <a:latin typeface="Segoe MDL2 Assets"/>
              </a:rPr>
              <a:t></a:t>
            </a:r>
          </a:p>
        </p:txBody>
      </p:sp>
      <p:sp>
        <p:nvSpPr>
          <p:cNvPr id="20" name="TextBox 19"/>
          <p:cNvSpPr txBox="1"/>
          <p:nvPr/>
        </p:nvSpPr>
        <p:spPr>
          <a:xfrm>
            <a:off x="4663440" y="1755648"/>
            <a:ext cx="3931920" cy="457200"/>
          </a:xfrm>
          <a:prstGeom prst="rect">
            <a:avLst/>
          </a:prstGeom>
          <a:noFill/>
        </p:spPr>
        <p:txBody>
          <a:bodyPr wrap="square" lIns="0" rIns="0" tIns="0" bIns="0" anchor="ctr">
            <a:spAutoFit/>
          </a:bodyPr>
          <a:lstStyle/>
          <a:p>
            <a:pPr algn="l"/>
            <a:r>
              <a:rPr sz="1600" b="0" i="0">
                <a:solidFill>
                  <a:srgbClr val="FFFFFF"/>
                </a:solidFill>
                <a:latin typeface="Calibri"/>
              </a:rPr>
              <a:t>8-thread scan of C: in 8.2 s; first answer in 3 s</a:t>
            </a:r>
          </a:p>
        </p:txBody>
      </p:sp>
      <p:sp>
        <p:nvSpPr>
          <p:cNvPr id="21" name="Rounded Rectangle 20"/>
          <p:cNvSpPr/>
          <p:nvPr/>
        </p:nvSpPr>
        <p:spPr>
          <a:xfrm>
            <a:off x="457200" y="2304288"/>
            <a:ext cx="3291840" cy="457200"/>
          </a:xfrm>
          <a:prstGeom prst="roundRect">
            <a:avLst>
              <a:gd name="adj" fmla="val 1600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30352" y="2359152"/>
            <a:ext cx="347472" cy="347472"/>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FFFFFF"/>
                </a:solidFill>
                <a:latin typeface="Segoe MDL2 Assets"/>
              </a:rPr>
              <a:t></a:t>
            </a:r>
          </a:p>
        </p:txBody>
      </p:sp>
      <p:sp>
        <p:nvSpPr>
          <p:cNvPr id="23" name="TextBox 22"/>
          <p:cNvSpPr txBox="1"/>
          <p:nvPr/>
        </p:nvSpPr>
        <p:spPr>
          <a:xfrm>
            <a:off x="960120" y="2304288"/>
            <a:ext cx="2743200" cy="457200"/>
          </a:xfrm>
          <a:prstGeom prst="rect">
            <a:avLst/>
          </a:prstGeom>
          <a:noFill/>
        </p:spPr>
        <p:txBody>
          <a:bodyPr wrap="square" lIns="0" rIns="0" tIns="0" bIns="0" anchor="ctr">
            <a:spAutoFit/>
          </a:bodyPr>
          <a:lstStyle/>
          <a:p>
            <a:pPr algn="l"/>
            <a:r>
              <a:rPr sz="1600" b="1" i="0">
                <a:solidFill>
                  <a:srgbClr val="0F1B2D"/>
                </a:solidFill>
                <a:latin typeface="Calibri"/>
              </a:rPr>
              <a:t>Nothing says what is safe</a:t>
            </a:r>
          </a:p>
        </p:txBody>
      </p:sp>
      <p:cxnSp>
        <p:nvCxnSpPr>
          <p:cNvPr id="24" name="Connector 23"/>
          <p:cNvCxnSpPr/>
          <p:nvPr/>
        </p:nvCxnSpPr>
        <p:spPr>
          <a:xfrm>
            <a:off x="3776472" y="2532888"/>
            <a:ext cx="338328"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160520" y="2304288"/>
            <a:ext cx="4526280" cy="457200"/>
          </a:xfrm>
          <a:prstGeom prst="roundRect">
            <a:avLst>
              <a:gd name="adj" fmla="val 1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233672" y="2359152"/>
            <a:ext cx="347472" cy="347472"/>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FFFFFF"/>
                </a:solidFill>
                <a:latin typeface="Segoe MDL2 Assets"/>
              </a:rPr>
              <a:t></a:t>
            </a:r>
          </a:p>
        </p:txBody>
      </p:sp>
      <p:sp>
        <p:nvSpPr>
          <p:cNvPr id="27" name="TextBox 26"/>
          <p:cNvSpPr txBox="1"/>
          <p:nvPr/>
        </p:nvSpPr>
        <p:spPr>
          <a:xfrm>
            <a:off x="4663440" y="2304288"/>
            <a:ext cx="3931920" cy="457200"/>
          </a:xfrm>
          <a:prstGeom prst="rect">
            <a:avLst/>
          </a:prstGeom>
          <a:noFill/>
        </p:spPr>
        <p:txBody>
          <a:bodyPr wrap="square" lIns="0" rIns="0" tIns="0" bIns="0" anchor="ctr">
            <a:spAutoFit/>
          </a:bodyPr>
          <a:lstStyle/>
          <a:p>
            <a:pPr algn="l"/>
            <a:r>
              <a:rPr sz="1600" b="0" i="0">
                <a:solidFill>
                  <a:srgbClr val="FFFFFF"/>
                </a:solidFill>
                <a:latin typeface="Calibri"/>
              </a:rPr>
              <a:t>Safety badges, review list, quarantine and undo</a:t>
            </a:r>
          </a:p>
        </p:txBody>
      </p:sp>
      <p:sp>
        <p:nvSpPr>
          <p:cNvPr id="28" name="Rounded Rectangle 27"/>
          <p:cNvSpPr/>
          <p:nvPr/>
        </p:nvSpPr>
        <p:spPr>
          <a:xfrm>
            <a:off x="457200" y="2852928"/>
            <a:ext cx="3291840" cy="457200"/>
          </a:xfrm>
          <a:prstGeom prst="roundRect">
            <a:avLst>
              <a:gd name="adj" fmla="val 1600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30352" y="2907792"/>
            <a:ext cx="347472" cy="347472"/>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FFFFFF"/>
                </a:solidFill>
                <a:latin typeface="Segoe MDL2 Assets"/>
              </a:rPr>
              <a:t></a:t>
            </a:r>
          </a:p>
        </p:txBody>
      </p:sp>
      <p:sp>
        <p:nvSpPr>
          <p:cNvPr id="30" name="TextBox 29"/>
          <p:cNvSpPr txBox="1"/>
          <p:nvPr/>
        </p:nvSpPr>
        <p:spPr>
          <a:xfrm>
            <a:off x="960120" y="2852928"/>
            <a:ext cx="2743200" cy="457200"/>
          </a:xfrm>
          <a:prstGeom prst="rect">
            <a:avLst/>
          </a:prstGeom>
          <a:noFill/>
        </p:spPr>
        <p:txBody>
          <a:bodyPr wrap="square" lIns="0" rIns="0" tIns="0" bIns="0" anchor="ctr">
            <a:spAutoFit/>
          </a:bodyPr>
          <a:lstStyle/>
          <a:p>
            <a:pPr algn="l"/>
            <a:r>
              <a:rPr sz="1600" b="1" i="0">
                <a:solidFill>
                  <a:srgbClr val="0F1B2D"/>
                </a:solidFill>
                <a:latin typeface="Calibri"/>
              </a:rPr>
              <a:t>System files look scary</a:t>
            </a:r>
          </a:p>
        </p:txBody>
      </p:sp>
      <p:cxnSp>
        <p:nvCxnSpPr>
          <p:cNvPr id="31" name="Connector 30"/>
          <p:cNvCxnSpPr/>
          <p:nvPr/>
        </p:nvCxnSpPr>
        <p:spPr>
          <a:xfrm>
            <a:off x="3776472" y="3081528"/>
            <a:ext cx="338328"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160520" y="2852928"/>
            <a:ext cx="4526280" cy="457200"/>
          </a:xfrm>
          <a:prstGeom prst="roundRect">
            <a:avLst>
              <a:gd name="adj" fmla="val 1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233672" y="2907792"/>
            <a:ext cx="347472" cy="347472"/>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FFFFFF"/>
                </a:solidFill>
                <a:latin typeface="Segoe MDL2 Assets"/>
              </a:rPr>
              <a:t></a:t>
            </a:r>
          </a:p>
        </p:txBody>
      </p:sp>
      <p:sp>
        <p:nvSpPr>
          <p:cNvPr id="34" name="TextBox 33"/>
          <p:cNvSpPr txBox="1"/>
          <p:nvPr/>
        </p:nvSpPr>
        <p:spPr>
          <a:xfrm>
            <a:off x="4663440" y="2852928"/>
            <a:ext cx="3931920" cy="457200"/>
          </a:xfrm>
          <a:prstGeom prst="rect">
            <a:avLst/>
          </a:prstGeom>
          <a:noFill/>
        </p:spPr>
        <p:txBody>
          <a:bodyPr wrap="square" lIns="0" rIns="0" tIns="0" bIns="0" anchor="ctr">
            <a:spAutoFit/>
          </a:bodyPr>
          <a:lstStyle/>
          <a:p>
            <a:pPr algn="l"/>
            <a:r>
              <a:rPr sz="1600" b="0" i="0">
                <a:solidFill>
                  <a:srgbClr val="FFFFFF"/>
                </a:solidFill>
                <a:latin typeface="Calibri"/>
              </a:rPr>
              <a:t>Lock badge + safe Windows tool, never Delete</a:t>
            </a:r>
          </a:p>
        </p:txBody>
      </p:sp>
      <p:sp>
        <p:nvSpPr>
          <p:cNvPr id="35" name="Rounded Rectangle 34"/>
          <p:cNvSpPr/>
          <p:nvPr/>
        </p:nvSpPr>
        <p:spPr>
          <a:xfrm>
            <a:off x="457200" y="3401568"/>
            <a:ext cx="3291840" cy="457200"/>
          </a:xfrm>
          <a:prstGeom prst="roundRect">
            <a:avLst>
              <a:gd name="adj" fmla="val 1600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30352" y="3456432"/>
            <a:ext cx="347472" cy="347472"/>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FFFFFF"/>
                </a:solidFill>
                <a:latin typeface="Segoe MDL2 Assets"/>
              </a:rPr>
              <a:t></a:t>
            </a:r>
          </a:p>
        </p:txBody>
      </p:sp>
      <p:sp>
        <p:nvSpPr>
          <p:cNvPr id="37" name="TextBox 36"/>
          <p:cNvSpPr txBox="1"/>
          <p:nvPr/>
        </p:nvSpPr>
        <p:spPr>
          <a:xfrm>
            <a:off x="960120" y="3401568"/>
            <a:ext cx="2743200" cy="457200"/>
          </a:xfrm>
          <a:prstGeom prst="rect">
            <a:avLst/>
          </a:prstGeom>
          <a:noFill/>
        </p:spPr>
        <p:txBody>
          <a:bodyPr wrap="square" lIns="0" rIns="0" tIns="0" bIns="0" anchor="ctr">
            <a:spAutoFit/>
          </a:bodyPr>
          <a:lstStyle/>
          <a:p>
            <a:pPr algn="l"/>
            <a:r>
              <a:rPr sz="1600" b="1" i="0">
                <a:solidFill>
                  <a:srgbClr val="0F1B2D"/>
                </a:solidFill>
                <a:latin typeface="Calibri"/>
              </a:rPr>
              <a:t>No warning until it’s full</a:t>
            </a:r>
          </a:p>
        </p:txBody>
      </p:sp>
      <p:cxnSp>
        <p:nvCxnSpPr>
          <p:cNvPr id="38" name="Connector 37"/>
          <p:cNvCxnSpPr/>
          <p:nvPr/>
        </p:nvCxnSpPr>
        <p:spPr>
          <a:xfrm>
            <a:off x="3776472" y="3630168"/>
            <a:ext cx="338328"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4160520" y="3401568"/>
            <a:ext cx="4526280" cy="457200"/>
          </a:xfrm>
          <a:prstGeom prst="roundRect">
            <a:avLst>
              <a:gd name="adj" fmla="val 1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233672" y="3456432"/>
            <a:ext cx="347472" cy="347472"/>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FFFFFF"/>
                </a:solidFill>
                <a:latin typeface="Segoe MDL2 Assets"/>
              </a:rPr>
              <a:t></a:t>
            </a:r>
          </a:p>
        </p:txBody>
      </p:sp>
      <p:sp>
        <p:nvSpPr>
          <p:cNvPr id="41" name="TextBox 40"/>
          <p:cNvSpPr txBox="1"/>
          <p:nvPr/>
        </p:nvSpPr>
        <p:spPr>
          <a:xfrm>
            <a:off x="4663440" y="3401568"/>
            <a:ext cx="3931920" cy="457200"/>
          </a:xfrm>
          <a:prstGeom prst="rect">
            <a:avLst/>
          </a:prstGeom>
          <a:noFill/>
        </p:spPr>
        <p:txBody>
          <a:bodyPr wrap="square" lIns="0" rIns="0" tIns="0" bIns="0" anchor="ctr">
            <a:spAutoFit/>
          </a:bodyPr>
          <a:lstStyle/>
          <a:p>
            <a:pPr algn="l"/>
            <a:r>
              <a:rPr sz="1600" b="0" i="0">
                <a:solidFill>
                  <a:srgbClr val="FFFFFF"/>
                </a:solidFill>
                <a:latin typeface="Calibri"/>
              </a:rPr>
              <a:t>Tray alerts at 50, 20, 10, 5, 3, 2, 1 GB, 512 MB</a:t>
            </a:r>
          </a:p>
        </p:txBody>
      </p:sp>
      <p:sp>
        <p:nvSpPr>
          <p:cNvPr id="42" name="Rounded Rectangle 41"/>
          <p:cNvSpPr/>
          <p:nvPr/>
        </p:nvSpPr>
        <p:spPr>
          <a:xfrm>
            <a:off x="457200" y="4023360"/>
            <a:ext cx="8229600" cy="502920"/>
          </a:xfrm>
          <a:prstGeom prst="roundRect">
            <a:avLst>
              <a:gd name="adj" fmla="val 14545"/>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4023360"/>
            <a:ext cx="7772400" cy="502920"/>
          </a:xfrm>
          <a:prstGeom prst="rect">
            <a:avLst/>
          </a:prstGeom>
          <a:noFill/>
        </p:spPr>
        <p:txBody>
          <a:bodyPr wrap="square" lIns="0" rIns="0" tIns="0" bIns="0" anchor="ctr">
            <a:spAutoFit/>
          </a:bodyPr>
          <a:lstStyle/>
          <a:p>
            <a:pPr algn="l"/>
            <a:r>
              <a:rPr sz="1700" b="1" i="0">
                <a:solidFill>
                  <a:srgbClr val="F5A623"/>
                </a:solidFill>
                <a:latin typeface="Calibri"/>
              </a:rPr>
              <a:t>One tool, one flow: </a:t>
            </a:r>
            <a:r>
              <a:rPr sz="1700" b="0" i="0">
                <a:solidFill>
                  <a:srgbClr val="FFFFFF"/>
                </a:solidFill>
                <a:latin typeface="Calibri"/>
              </a:rPr>
              <a:t>notice → understand → act safely → stay safe.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Objectives</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10</a:t>
            </a:r>
          </a:p>
        </p:txBody>
      </p:sp>
      <p:sp>
        <p:nvSpPr>
          <p:cNvPr id="5" name="Rounded Rectangle 4"/>
          <p:cNvSpPr/>
          <p:nvPr/>
        </p:nvSpPr>
        <p:spPr>
          <a:xfrm>
            <a:off x="457200" y="1097280"/>
            <a:ext cx="2621280" cy="1714500"/>
          </a:xfrm>
          <a:prstGeom prst="roundRect">
            <a:avLst>
              <a:gd name="adj" fmla="val 4266"/>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6187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01</a:t>
            </a:r>
          </a:p>
        </p:txBody>
      </p:sp>
      <p:sp>
        <p:nvSpPr>
          <p:cNvPr id="7" name="TextBox 6"/>
          <p:cNvSpPr txBox="1"/>
          <p:nvPr/>
        </p:nvSpPr>
        <p:spPr>
          <a:xfrm>
            <a:off x="1115568" y="1207007"/>
            <a:ext cx="1844040" cy="658368"/>
          </a:xfrm>
          <a:prstGeom prst="rect">
            <a:avLst/>
          </a:prstGeom>
          <a:noFill/>
        </p:spPr>
        <p:txBody>
          <a:bodyPr wrap="square" lIns="0" rIns="0" tIns="0" bIns="0" anchor="ctr">
            <a:spAutoFit/>
          </a:bodyPr>
          <a:lstStyle/>
          <a:p>
            <a:pPr algn="l"/>
            <a:r>
              <a:rPr sz="2200" b="1" i="0">
                <a:solidFill>
                  <a:srgbClr val="0F1B2D"/>
                </a:solidFill>
                <a:latin typeface="Calibri"/>
              </a:rPr>
              <a:t>Rescue</a:t>
            </a:r>
          </a:p>
        </p:txBody>
      </p:sp>
      <p:sp>
        <p:nvSpPr>
          <p:cNvPr id="8" name="TextBox 7"/>
          <p:cNvSpPr txBox="1"/>
          <p:nvPr/>
        </p:nvSpPr>
        <p:spPr>
          <a:xfrm>
            <a:off x="640080" y="1938528"/>
            <a:ext cx="2273808" cy="818388"/>
          </a:xfrm>
          <a:prstGeom prst="rect">
            <a:avLst/>
          </a:prstGeom>
          <a:noFill/>
        </p:spPr>
        <p:txBody>
          <a:bodyPr wrap="square" lIns="0" rIns="0" tIns="0" bIns="0" anchor="t">
            <a:spAutoFit/>
          </a:bodyPr>
          <a:lstStyle/>
          <a:p>
            <a:pPr algn="l">
              <a:spcAft>
                <a:spcPts val="300"/>
              </a:spcAft>
            </a:pPr>
            <a:r>
              <a:rPr sz="1700" b="0" i="0">
                <a:solidFill>
                  <a:srgbClr val="0F1B2D"/>
                </a:solidFill>
                <a:latin typeface="Calibri"/>
              </a:rPr>
              <a:t>Work at 0 bytes free: zero writes to the full drive</a:t>
            </a:r>
          </a:p>
        </p:txBody>
      </p:sp>
      <p:sp>
        <p:nvSpPr>
          <p:cNvPr id="9" name="Rounded Rectangle 8"/>
          <p:cNvSpPr/>
          <p:nvPr/>
        </p:nvSpPr>
        <p:spPr>
          <a:xfrm>
            <a:off x="3261360" y="1097280"/>
            <a:ext cx="2621280" cy="1714500"/>
          </a:xfrm>
          <a:prstGeom prst="roundRect">
            <a:avLst>
              <a:gd name="adj" fmla="val 4266"/>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5952" y="126187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02</a:t>
            </a:r>
          </a:p>
        </p:txBody>
      </p:sp>
      <p:sp>
        <p:nvSpPr>
          <p:cNvPr id="11" name="TextBox 10"/>
          <p:cNvSpPr txBox="1"/>
          <p:nvPr/>
        </p:nvSpPr>
        <p:spPr>
          <a:xfrm>
            <a:off x="3919728" y="1207007"/>
            <a:ext cx="1844040" cy="658368"/>
          </a:xfrm>
          <a:prstGeom prst="rect">
            <a:avLst/>
          </a:prstGeom>
          <a:noFill/>
        </p:spPr>
        <p:txBody>
          <a:bodyPr wrap="square" lIns="0" rIns="0" tIns="0" bIns="0" anchor="ctr">
            <a:spAutoFit/>
          </a:bodyPr>
          <a:lstStyle/>
          <a:p>
            <a:pPr algn="l"/>
            <a:r>
              <a:rPr sz="2200" b="1" i="0">
                <a:solidFill>
                  <a:srgbClr val="0F1B2D"/>
                </a:solidFill>
                <a:latin typeface="Calibri"/>
              </a:rPr>
              <a:t>Fast scan</a:t>
            </a:r>
          </a:p>
        </p:txBody>
      </p:sp>
      <p:sp>
        <p:nvSpPr>
          <p:cNvPr id="12" name="TextBox 11"/>
          <p:cNvSpPr txBox="1"/>
          <p:nvPr/>
        </p:nvSpPr>
        <p:spPr>
          <a:xfrm>
            <a:off x="3444240" y="1938528"/>
            <a:ext cx="2273808" cy="818388"/>
          </a:xfrm>
          <a:prstGeom prst="rect">
            <a:avLst/>
          </a:prstGeom>
          <a:noFill/>
        </p:spPr>
        <p:txBody>
          <a:bodyPr wrap="square" lIns="0" rIns="0" tIns="0" bIns="0" anchor="t">
            <a:spAutoFit/>
          </a:bodyPr>
          <a:lstStyle/>
          <a:p>
            <a:pPr algn="l">
              <a:spcAft>
                <a:spcPts val="300"/>
              </a:spcAft>
            </a:pPr>
            <a:r>
              <a:rPr sz="1700" b="0" i="0">
                <a:solidFill>
                  <a:srgbClr val="0F1B2D"/>
                </a:solidFill>
                <a:latin typeface="Calibri"/>
              </a:rPr>
              <a:t>Useful answer in seconds; full C: well under a minute</a:t>
            </a:r>
          </a:p>
        </p:txBody>
      </p:sp>
      <p:sp>
        <p:nvSpPr>
          <p:cNvPr id="13" name="Rounded Rectangle 12"/>
          <p:cNvSpPr/>
          <p:nvPr/>
        </p:nvSpPr>
        <p:spPr>
          <a:xfrm>
            <a:off x="6065520" y="1097280"/>
            <a:ext cx="2621280" cy="1714500"/>
          </a:xfrm>
          <a:prstGeom prst="roundRect">
            <a:avLst>
              <a:gd name="adj" fmla="val 4266"/>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30112" y="126187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03</a:t>
            </a:r>
          </a:p>
        </p:txBody>
      </p:sp>
      <p:sp>
        <p:nvSpPr>
          <p:cNvPr id="15" name="TextBox 14"/>
          <p:cNvSpPr txBox="1"/>
          <p:nvPr/>
        </p:nvSpPr>
        <p:spPr>
          <a:xfrm>
            <a:off x="6723888" y="1207007"/>
            <a:ext cx="1844040" cy="658368"/>
          </a:xfrm>
          <a:prstGeom prst="rect">
            <a:avLst/>
          </a:prstGeom>
          <a:noFill/>
        </p:spPr>
        <p:txBody>
          <a:bodyPr wrap="square" lIns="0" rIns="0" tIns="0" bIns="0" anchor="ctr">
            <a:spAutoFit/>
          </a:bodyPr>
          <a:lstStyle/>
          <a:p>
            <a:pPr algn="l"/>
            <a:r>
              <a:rPr sz="2200" b="1" i="0">
                <a:solidFill>
                  <a:srgbClr val="0F1B2D"/>
                </a:solidFill>
                <a:latin typeface="Calibri"/>
              </a:rPr>
              <a:t>Explain</a:t>
            </a:r>
          </a:p>
        </p:txBody>
      </p:sp>
      <p:sp>
        <p:nvSpPr>
          <p:cNvPr id="16" name="TextBox 15"/>
          <p:cNvSpPr txBox="1"/>
          <p:nvPr/>
        </p:nvSpPr>
        <p:spPr>
          <a:xfrm>
            <a:off x="6248400" y="1938528"/>
            <a:ext cx="2273808" cy="818388"/>
          </a:xfrm>
          <a:prstGeom prst="rect">
            <a:avLst/>
          </a:prstGeom>
          <a:noFill/>
        </p:spPr>
        <p:txBody>
          <a:bodyPr wrap="square" lIns="0" rIns="0" tIns="0" bIns="0" anchor="t">
            <a:spAutoFit/>
          </a:bodyPr>
          <a:lstStyle/>
          <a:p>
            <a:pPr algn="l">
              <a:spcAft>
                <a:spcPts val="300"/>
              </a:spcAft>
            </a:pPr>
            <a:r>
              <a:rPr sz="1700" b="0" i="0">
                <a:solidFill>
                  <a:srgbClr val="0F1B2D"/>
                </a:solidFill>
                <a:latin typeface="Calibri"/>
              </a:rPr>
              <a:t>Say what each big item is and whether it is safe</a:t>
            </a:r>
          </a:p>
        </p:txBody>
      </p:sp>
      <p:sp>
        <p:nvSpPr>
          <p:cNvPr id="17" name="Rounded Rectangle 16"/>
          <p:cNvSpPr/>
          <p:nvPr/>
        </p:nvSpPr>
        <p:spPr>
          <a:xfrm>
            <a:off x="457200" y="2994660"/>
            <a:ext cx="2621280" cy="1714500"/>
          </a:xfrm>
          <a:prstGeom prst="roundRect">
            <a:avLst>
              <a:gd name="adj" fmla="val 4266"/>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15925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04</a:t>
            </a:r>
          </a:p>
        </p:txBody>
      </p:sp>
      <p:sp>
        <p:nvSpPr>
          <p:cNvPr id="19" name="TextBox 18"/>
          <p:cNvSpPr txBox="1"/>
          <p:nvPr/>
        </p:nvSpPr>
        <p:spPr>
          <a:xfrm>
            <a:off x="1115568" y="3104388"/>
            <a:ext cx="1844040" cy="658368"/>
          </a:xfrm>
          <a:prstGeom prst="rect">
            <a:avLst/>
          </a:prstGeom>
          <a:noFill/>
        </p:spPr>
        <p:txBody>
          <a:bodyPr wrap="square" lIns="0" rIns="0" tIns="0" bIns="0" anchor="ctr">
            <a:spAutoFit/>
          </a:bodyPr>
          <a:lstStyle/>
          <a:p>
            <a:pPr algn="l"/>
            <a:r>
              <a:rPr sz="2200" b="1" i="0">
                <a:solidFill>
                  <a:srgbClr val="0F1B2D"/>
                </a:solidFill>
                <a:latin typeface="Calibri"/>
              </a:rPr>
              <a:t>Clean safely</a:t>
            </a:r>
          </a:p>
        </p:txBody>
      </p:sp>
      <p:sp>
        <p:nvSpPr>
          <p:cNvPr id="20" name="TextBox 19"/>
          <p:cNvSpPr txBox="1"/>
          <p:nvPr/>
        </p:nvSpPr>
        <p:spPr>
          <a:xfrm>
            <a:off x="640080" y="3835908"/>
            <a:ext cx="2273808" cy="818388"/>
          </a:xfrm>
          <a:prstGeom prst="rect">
            <a:avLst/>
          </a:prstGeom>
          <a:noFill/>
        </p:spPr>
        <p:txBody>
          <a:bodyPr wrap="square" lIns="0" rIns="0" tIns="0" bIns="0" anchor="t">
            <a:spAutoFit/>
          </a:bodyPr>
          <a:lstStyle/>
          <a:p>
            <a:pPr algn="l">
              <a:spcAft>
                <a:spcPts val="300"/>
              </a:spcAft>
            </a:pPr>
            <a:r>
              <a:rPr sz="1700" b="0" i="0">
                <a:solidFill>
                  <a:srgbClr val="0F1B2D"/>
                </a:solidFill>
                <a:latin typeface="Calibri"/>
              </a:rPr>
              <a:t>Review, quarantine, compress; undo every step</a:t>
            </a:r>
          </a:p>
        </p:txBody>
      </p:sp>
      <p:sp>
        <p:nvSpPr>
          <p:cNvPr id="21" name="Rounded Rectangle 20"/>
          <p:cNvSpPr/>
          <p:nvPr/>
        </p:nvSpPr>
        <p:spPr>
          <a:xfrm>
            <a:off x="3261360" y="2994660"/>
            <a:ext cx="2621280" cy="1714500"/>
          </a:xfrm>
          <a:prstGeom prst="roundRect">
            <a:avLst>
              <a:gd name="adj" fmla="val 4266"/>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25952" y="315925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05</a:t>
            </a:r>
          </a:p>
        </p:txBody>
      </p:sp>
      <p:sp>
        <p:nvSpPr>
          <p:cNvPr id="23" name="TextBox 22"/>
          <p:cNvSpPr txBox="1"/>
          <p:nvPr/>
        </p:nvSpPr>
        <p:spPr>
          <a:xfrm>
            <a:off x="3919728" y="3104388"/>
            <a:ext cx="1844040" cy="658368"/>
          </a:xfrm>
          <a:prstGeom prst="rect">
            <a:avLst/>
          </a:prstGeom>
          <a:noFill/>
        </p:spPr>
        <p:txBody>
          <a:bodyPr wrap="square" lIns="0" rIns="0" tIns="0" bIns="0" anchor="ctr">
            <a:spAutoFit/>
          </a:bodyPr>
          <a:lstStyle/>
          <a:p>
            <a:pPr algn="l"/>
            <a:r>
              <a:rPr sz="2200" b="1" i="0">
                <a:solidFill>
                  <a:srgbClr val="0F1B2D"/>
                </a:solidFill>
                <a:latin typeface="Calibri"/>
              </a:rPr>
              <a:t>Warn early</a:t>
            </a:r>
          </a:p>
        </p:txBody>
      </p:sp>
      <p:sp>
        <p:nvSpPr>
          <p:cNvPr id="24" name="TextBox 23"/>
          <p:cNvSpPr txBox="1"/>
          <p:nvPr/>
        </p:nvSpPr>
        <p:spPr>
          <a:xfrm>
            <a:off x="3444240" y="3835908"/>
            <a:ext cx="2273808" cy="818388"/>
          </a:xfrm>
          <a:prstGeom prst="rect">
            <a:avLst/>
          </a:prstGeom>
          <a:noFill/>
        </p:spPr>
        <p:txBody>
          <a:bodyPr wrap="square" lIns="0" rIns="0" tIns="0" bIns="0" anchor="t">
            <a:spAutoFit/>
          </a:bodyPr>
          <a:lstStyle/>
          <a:p>
            <a:pPr algn="l">
              <a:spcAft>
                <a:spcPts val="300"/>
              </a:spcAft>
            </a:pPr>
            <a:r>
              <a:rPr sz="1700" b="0" i="0">
                <a:solidFill>
                  <a:srgbClr val="0F1B2D"/>
                </a:solidFill>
                <a:latin typeface="Calibri"/>
              </a:rPr>
              <a:t>Alerts at fixed thresholds with hysteresis</a:t>
            </a:r>
          </a:p>
        </p:txBody>
      </p:sp>
      <p:sp>
        <p:nvSpPr>
          <p:cNvPr id="25" name="Rounded Rectangle 24"/>
          <p:cNvSpPr/>
          <p:nvPr/>
        </p:nvSpPr>
        <p:spPr>
          <a:xfrm>
            <a:off x="6065520" y="2994660"/>
            <a:ext cx="2621280" cy="1714500"/>
          </a:xfrm>
          <a:prstGeom prst="roundRect">
            <a:avLst>
              <a:gd name="adj" fmla="val 4266"/>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30112" y="315925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06</a:t>
            </a:r>
          </a:p>
        </p:txBody>
      </p:sp>
      <p:sp>
        <p:nvSpPr>
          <p:cNvPr id="27" name="TextBox 26"/>
          <p:cNvSpPr txBox="1"/>
          <p:nvPr/>
        </p:nvSpPr>
        <p:spPr>
          <a:xfrm>
            <a:off x="6723888" y="3104388"/>
            <a:ext cx="1844040" cy="658368"/>
          </a:xfrm>
          <a:prstGeom prst="rect">
            <a:avLst/>
          </a:prstGeom>
          <a:noFill/>
        </p:spPr>
        <p:txBody>
          <a:bodyPr wrap="square" lIns="0" rIns="0" tIns="0" bIns="0" anchor="ctr">
            <a:spAutoFit/>
          </a:bodyPr>
          <a:lstStyle/>
          <a:p>
            <a:pPr algn="l"/>
            <a:r>
              <a:rPr sz="2200" b="1" i="0">
                <a:solidFill>
                  <a:srgbClr val="0F1B2D"/>
                </a:solidFill>
                <a:latin typeface="Calibri"/>
              </a:rPr>
              <a:t>Teach internals</a:t>
            </a:r>
          </a:p>
        </p:txBody>
      </p:sp>
      <p:sp>
        <p:nvSpPr>
          <p:cNvPr id="28" name="TextBox 27"/>
          <p:cNvSpPr txBox="1"/>
          <p:nvPr/>
        </p:nvSpPr>
        <p:spPr>
          <a:xfrm>
            <a:off x="6248400" y="3835908"/>
            <a:ext cx="2273808" cy="818388"/>
          </a:xfrm>
          <a:prstGeom prst="rect">
            <a:avLst/>
          </a:prstGeom>
          <a:noFill/>
        </p:spPr>
        <p:txBody>
          <a:bodyPr wrap="square" lIns="0" rIns="0" tIns="0" bIns="0" anchor="t">
            <a:spAutoFit/>
          </a:bodyPr>
          <a:lstStyle/>
          <a:p>
            <a:pPr algn="l">
              <a:spcAft>
                <a:spcPts val="300"/>
              </a:spcAft>
            </a:pPr>
            <a:r>
              <a:rPr sz="1700" b="0" i="0">
                <a:solidFill>
                  <a:srgbClr val="0F1B2D"/>
                </a:solidFill>
                <a:latin typeface="Calibri"/>
              </a:rPr>
              <a:t>Clusters, slack, extents and MFT on your own disk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Related work</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11</a:t>
            </a:r>
          </a:p>
        </p:txBody>
      </p:sp>
      <p:graphicFrame>
        <p:nvGraphicFramePr>
          <p:cNvPr id="5" name="Table 4"/>
          <p:cNvGraphicFramePr>
            <a:graphicFrameLocks noGrp="1"/>
          </p:cNvGraphicFramePr>
          <p:nvPr/>
        </p:nvGraphicFramePr>
        <p:xfrm>
          <a:off x="457200" y="1051560"/>
          <a:ext cx="8229600" cy="2743200"/>
        </p:xfrm>
        <a:graphic>
          <a:graphicData uri="http://schemas.openxmlformats.org/drawingml/2006/table">
            <a:tbl>
              <a:tblPr firstRow="1" bandRow="1">
                <a:tableStyleId>{5940675A-B579-460E-94D1-54222C63F5DA}</a:tableStyleId>
              </a:tblPr>
              <a:tblGrid>
                <a:gridCol w="2011680"/>
                <a:gridCol w="3108960"/>
                <a:gridCol w="3108960"/>
              </a:tblGrid>
              <a:tr h="457200">
                <a:tc>
                  <a:txBody>
                    <a:bodyPr wrap="square"/>
                    <a:lstStyle/>
                    <a:p>
                      <a:pPr algn="l"/>
                      <a:r>
                        <a:rPr sz="1600" b="1">
                          <a:solidFill>
                            <a:srgbClr val="FFFFFF"/>
                          </a:solidFill>
                          <a:latin typeface="Calibri"/>
                        </a:rPr>
                        <a:t>Tool we studied</a:t>
                      </a:r>
                    </a:p>
                  </a:txBody>
                  <a:tcPr marL="73152" marR="73152" marT="27432" marB="27432" anchor="ctr">
                    <a:solidFill>
                      <a:srgbClr val="0F1B2D"/>
                    </a:solidFill>
                  </a:tcPr>
                </a:tc>
                <a:tc>
                  <a:txBody>
                    <a:bodyPr wrap="square"/>
                    <a:lstStyle/>
                    <a:p>
                      <a:pPr algn="l"/>
                      <a:r>
                        <a:rPr sz="1600" b="1">
                          <a:solidFill>
                            <a:srgbClr val="FFFFFF"/>
                          </a:solidFill>
                          <a:latin typeface="Calibri"/>
                        </a:rPr>
                        <a:t>Does well</a:t>
                      </a:r>
                    </a:p>
                  </a:txBody>
                  <a:tcPr marL="73152" marR="73152" marT="27432" marB="27432" anchor="ctr">
                    <a:solidFill>
                      <a:srgbClr val="0F1B2D"/>
                    </a:solidFill>
                  </a:tcPr>
                </a:tc>
                <a:tc>
                  <a:txBody>
                    <a:bodyPr wrap="square"/>
                    <a:lstStyle/>
                    <a:p>
                      <a:pPr algn="l"/>
                      <a:r>
                        <a:rPr sz="1600" b="1">
                          <a:solidFill>
                            <a:srgbClr val="FFFFFF"/>
                          </a:solidFill>
                          <a:latin typeface="Calibri"/>
                        </a:rPr>
                        <a:t>Gap that remains</a:t>
                      </a:r>
                    </a:p>
                  </a:txBody>
                  <a:tcPr marL="73152" marR="73152" marT="27432" marB="27432" anchor="ctr">
                    <a:solidFill>
                      <a:srgbClr val="0F1B2D"/>
                    </a:solidFill>
                  </a:tcPr>
                </a:tc>
              </a:tr>
              <a:tr h="457200">
                <a:tc>
                  <a:txBody>
                    <a:bodyPr wrap="square"/>
                    <a:lstStyle/>
                    <a:p>
                      <a:pPr algn="l"/>
                      <a:r>
                        <a:rPr sz="1600" b="0">
                          <a:solidFill>
                            <a:srgbClr val="0F1B2D"/>
                          </a:solidFill>
                          <a:latin typeface="Calibri"/>
                        </a:rPr>
                        <a:t>WinDirStat</a:t>
                      </a:r>
                    </a:p>
                  </a:txBody>
                  <a:tcPr marL="73152" marR="73152" marT="27432" marB="27432" anchor="ctr">
                    <a:solidFill>
                      <a:srgbClr val="FFFFFF"/>
                    </a:solidFill>
                  </a:tcPr>
                </a:tc>
                <a:tc>
                  <a:txBody>
                    <a:bodyPr wrap="square"/>
                    <a:lstStyle/>
                    <a:p>
                      <a:pPr algn="l"/>
                      <a:r>
                        <a:rPr sz="1600" b="0">
                          <a:solidFill>
                            <a:srgbClr val="0F1B2D"/>
                          </a:solidFill>
                          <a:latin typeface="Calibri"/>
                        </a:rPr>
                        <a:t>Tree list + file types + treemap</a:t>
                      </a:r>
                    </a:p>
                  </a:txBody>
                  <a:tcPr marL="73152" marR="73152" marT="27432" marB="27432" anchor="ctr">
                    <a:solidFill>
                      <a:srgbClr val="FFFFFF"/>
                    </a:solidFill>
                  </a:tcPr>
                </a:tc>
                <a:tc>
                  <a:txBody>
                    <a:bodyPr wrap="square"/>
                    <a:lstStyle/>
                    <a:p>
                      <a:pPr algn="l"/>
                      <a:r>
                        <a:rPr sz="1600" b="0">
                          <a:solidFill>
                            <a:srgbClr val="0F1B2D"/>
                          </a:solidFill>
                          <a:latin typeface="Calibri"/>
                        </a:rPr>
                        <a:t>No alerts, no rescue mode</a:t>
                      </a:r>
                    </a:p>
                  </a:txBody>
                  <a:tcPr marL="73152" marR="73152" marT="27432" marB="27432" anchor="ctr">
                    <a:solidFill>
                      <a:srgbClr val="FFFFFF"/>
                    </a:solidFill>
                  </a:tcPr>
                </a:tc>
              </a:tr>
              <a:tr h="457200">
                <a:tc>
                  <a:txBody>
                    <a:bodyPr wrap="square"/>
                    <a:lstStyle/>
                    <a:p>
                      <a:pPr algn="l"/>
                      <a:r>
                        <a:rPr sz="1600" b="0">
                          <a:solidFill>
                            <a:srgbClr val="0F1B2D"/>
                          </a:solidFill>
                          <a:latin typeface="Calibri"/>
                        </a:rPr>
                        <a:t>WizTree</a:t>
                      </a:r>
                    </a:p>
                  </a:txBody>
                  <a:tcPr marL="73152" marR="73152" marT="27432" marB="27432" anchor="ctr">
                    <a:solidFill>
                      <a:srgbClr val="F6F8FB"/>
                    </a:solidFill>
                  </a:tcPr>
                </a:tc>
                <a:tc>
                  <a:txBody>
                    <a:bodyPr wrap="square"/>
                    <a:lstStyle/>
                    <a:p>
                      <a:pPr algn="l"/>
                      <a:r>
                        <a:rPr sz="1600" b="0">
                          <a:solidFill>
                            <a:srgbClr val="0F1B2D"/>
                          </a:solidFill>
                          <a:latin typeface="Calibri"/>
                        </a:rPr>
                        <a:t>Very fast scans via the MFT</a:t>
                      </a:r>
                    </a:p>
                  </a:txBody>
                  <a:tcPr marL="73152" marR="73152" marT="27432" marB="27432" anchor="ctr">
                    <a:solidFill>
                      <a:srgbClr val="F6F8FB"/>
                    </a:solidFill>
                  </a:tcPr>
                </a:tc>
                <a:tc>
                  <a:txBody>
                    <a:bodyPr wrap="square"/>
                    <a:lstStyle/>
                    <a:p>
                      <a:pPr algn="l"/>
                      <a:r>
                        <a:rPr sz="1600" b="0">
                          <a:solidFill>
                            <a:srgbClr val="0F1B2D"/>
                          </a:solidFill>
                          <a:latin typeface="Calibri"/>
                        </a:rPr>
                        <a:t>No safety guidance on what to delete</a:t>
                      </a:r>
                    </a:p>
                  </a:txBody>
                  <a:tcPr marL="73152" marR="73152" marT="27432" marB="27432" anchor="ctr">
                    <a:solidFill>
                      <a:srgbClr val="F6F8FB"/>
                    </a:solidFill>
                  </a:tcPr>
                </a:tc>
              </a:tr>
              <a:tr h="457200">
                <a:tc>
                  <a:txBody>
                    <a:bodyPr wrap="square"/>
                    <a:lstStyle/>
                    <a:p>
                      <a:pPr algn="l"/>
                      <a:r>
                        <a:rPr sz="1600" b="0">
                          <a:solidFill>
                            <a:srgbClr val="0F1B2D"/>
                          </a:solidFill>
                          <a:latin typeface="Calibri"/>
                        </a:rPr>
                        <a:t>TreeSize</a:t>
                      </a:r>
                    </a:p>
                  </a:txBody>
                  <a:tcPr marL="73152" marR="73152" marT="27432" marB="27432" anchor="ctr">
                    <a:solidFill>
                      <a:srgbClr val="FFFFFF"/>
                    </a:solidFill>
                  </a:tcPr>
                </a:tc>
                <a:tc>
                  <a:txBody>
                    <a:bodyPr wrap="square"/>
                    <a:lstStyle/>
                    <a:p>
                      <a:pPr algn="l"/>
                      <a:r>
                        <a:rPr sz="1600" b="0">
                          <a:solidFill>
                            <a:srgbClr val="0F1B2D"/>
                          </a:solidFill>
                          <a:latin typeface="Calibri"/>
                        </a:rPr>
                        <a:t>Detailed folder reports and exports</a:t>
                      </a:r>
                    </a:p>
                  </a:txBody>
                  <a:tcPr marL="73152" marR="73152" marT="27432" marB="27432" anchor="ctr">
                    <a:solidFill>
                      <a:srgbClr val="FFFFFF"/>
                    </a:solidFill>
                  </a:tcPr>
                </a:tc>
                <a:tc>
                  <a:txBody>
                    <a:bodyPr wrap="square"/>
                    <a:lstStyle/>
                    <a:p>
                      <a:pPr algn="l"/>
                      <a:r>
                        <a:rPr sz="1600" b="0">
                          <a:solidFill>
                            <a:srgbClr val="0F1B2D"/>
                          </a:solidFill>
                          <a:latin typeface="Calibri"/>
                        </a:rPr>
                        <a:t>No early warning before disk is full</a:t>
                      </a:r>
                    </a:p>
                  </a:txBody>
                  <a:tcPr marL="73152" marR="73152" marT="27432" marB="27432" anchor="ctr">
                    <a:solidFill>
                      <a:srgbClr val="FFFFFF"/>
                    </a:solidFill>
                  </a:tcPr>
                </a:tc>
              </a:tr>
              <a:tr h="457200">
                <a:tc>
                  <a:txBody>
                    <a:bodyPr wrap="square"/>
                    <a:lstStyle/>
                    <a:p>
                      <a:pPr algn="l"/>
                      <a:r>
                        <a:rPr sz="1600" b="0">
                          <a:solidFill>
                            <a:srgbClr val="0F1B2D"/>
                          </a:solidFill>
                          <a:latin typeface="Calibri"/>
                        </a:rPr>
                        <a:t>SpaceSniffer</a:t>
                      </a:r>
                    </a:p>
                  </a:txBody>
                  <a:tcPr marL="73152" marR="73152" marT="27432" marB="27432" anchor="ctr">
                    <a:solidFill>
                      <a:srgbClr val="F6F8FB"/>
                    </a:solidFill>
                  </a:tcPr>
                </a:tc>
                <a:tc>
                  <a:txBody>
                    <a:bodyPr wrap="square"/>
                    <a:lstStyle/>
                    <a:p>
                      <a:pPr algn="l"/>
                      <a:r>
                        <a:rPr sz="1600" b="0">
                          <a:solidFill>
                            <a:srgbClr val="0F1B2D"/>
                          </a:solidFill>
                          <a:latin typeface="Calibri"/>
                        </a:rPr>
                        <a:t>Zoomable live treemap</a:t>
                      </a:r>
                    </a:p>
                  </a:txBody>
                  <a:tcPr marL="73152" marR="73152" marT="27432" marB="27432" anchor="ctr">
                    <a:solidFill>
                      <a:srgbClr val="F6F8FB"/>
                    </a:solidFill>
                  </a:tcPr>
                </a:tc>
                <a:tc>
                  <a:txBody>
                    <a:bodyPr wrap="square"/>
                    <a:lstStyle/>
                    <a:p>
                      <a:pPr algn="l"/>
                      <a:r>
                        <a:rPr sz="1600" b="0">
                          <a:solidFill>
                            <a:srgbClr val="0F1B2D"/>
                          </a:solidFill>
                          <a:latin typeface="Calibri"/>
                        </a:rPr>
                        <a:t>Shows sizes, not what is safe</a:t>
                      </a:r>
                    </a:p>
                  </a:txBody>
                  <a:tcPr marL="73152" marR="73152" marT="27432" marB="27432" anchor="ctr">
                    <a:solidFill>
                      <a:srgbClr val="F6F8FB"/>
                    </a:solidFill>
                  </a:tcPr>
                </a:tc>
              </a:tr>
              <a:tr h="457200">
                <a:tc>
                  <a:txBody>
                    <a:bodyPr wrap="square"/>
                    <a:lstStyle/>
                    <a:p>
                      <a:pPr algn="l"/>
                      <a:r>
                        <a:rPr sz="1600" b="0">
                          <a:solidFill>
                            <a:srgbClr val="0F1B2D"/>
                          </a:solidFill>
                          <a:latin typeface="Calibri"/>
                        </a:rPr>
                        <a:t>ncdu (Linux)</a:t>
                      </a:r>
                    </a:p>
                  </a:txBody>
                  <a:tcPr marL="73152" marR="73152" marT="27432" marB="27432" anchor="ctr">
                    <a:solidFill>
                      <a:srgbClr val="FFFFFF"/>
                    </a:solidFill>
                  </a:tcPr>
                </a:tc>
                <a:tc>
                  <a:txBody>
                    <a:bodyPr wrap="square"/>
                    <a:lstStyle/>
                    <a:p>
                      <a:pPr algn="l"/>
                      <a:r>
                        <a:rPr sz="1600" b="0">
                          <a:solidFill>
                            <a:srgbClr val="0F1B2D"/>
                          </a:solidFill>
                          <a:latin typeface="Calibri"/>
                        </a:rPr>
                        <a:t>Tiny, fast terminal browser</a:t>
                      </a:r>
                    </a:p>
                  </a:txBody>
                  <a:tcPr marL="73152" marR="73152" marT="27432" marB="27432" anchor="ctr">
                    <a:solidFill>
                      <a:srgbClr val="FFFFFF"/>
                    </a:solidFill>
                  </a:tcPr>
                </a:tc>
                <a:tc>
                  <a:txBody>
                    <a:bodyPr wrap="square"/>
                    <a:lstStyle/>
                    <a:p>
                      <a:pPr algn="l"/>
                      <a:r>
                        <a:rPr sz="1600" b="0">
                          <a:solidFill>
                            <a:srgbClr val="0F1B2D"/>
                          </a:solidFill>
                          <a:latin typeface="Calibri"/>
                        </a:rPr>
                        <a:t>Linux only; no Windows system-file awareness</a:t>
                      </a:r>
                    </a:p>
                  </a:txBody>
                  <a:tcPr marL="73152" marR="73152" marT="27432" marB="27432" anchor="ctr">
                    <a:solidFill>
                      <a:srgbClr val="FFFFFF"/>
                    </a:solidFill>
                  </a:tcPr>
                </a:tc>
              </a:tr>
            </a:tbl>
          </a:graphicData>
        </a:graphic>
      </p:graphicFrame>
      <p:sp>
        <p:nvSpPr>
          <p:cNvPr id="6" name="Rounded Rectangle 5"/>
          <p:cNvSpPr/>
          <p:nvPr/>
        </p:nvSpPr>
        <p:spPr>
          <a:xfrm>
            <a:off x="457200" y="3977639"/>
            <a:ext cx="8229600" cy="502920"/>
          </a:xfrm>
          <a:prstGeom prst="roundRect">
            <a:avLst>
              <a:gd name="adj" fmla="val 14545"/>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977639"/>
            <a:ext cx="7772400" cy="502920"/>
          </a:xfrm>
          <a:prstGeom prst="rect">
            <a:avLst/>
          </a:prstGeom>
          <a:noFill/>
        </p:spPr>
        <p:txBody>
          <a:bodyPr wrap="square" lIns="0" rIns="0" tIns="0" bIns="0" anchor="ctr">
            <a:spAutoFit/>
          </a:bodyPr>
          <a:lstStyle/>
          <a:p>
            <a:pPr algn="l"/>
            <a:r>
              <a:rPr sz="1700" b="1" i="0">
                <a:solidFill>
                  <a:srgbClr val="F5A623"/>
                </a:solidFill>
                <a:latin typeface="Calibri"/>
              </a:rPr>
              <a:t>Common gap: </a:t>
            </a:r>
            <a:r>
              <a:rPr sz="1700" b="0" i="0">
                <a:solidFill>
                  <a:srgbClr val="FFFFFF"/>
                </a:solidFill>
                <a:latin typeface="Calibri"/>
              </a:rPr>
              <a:t>none warn before the disk fills or work around a full system drive.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OS concepts: file systems (1/3)</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12</a:t>
            </a:r>
          </a:p>
        </p:txBody>
      </p:sp>
      <p:sp>
        <p:nvSpPr>
          <p:cNvPr id="5" name="Rounded Rectangle 4"/>
          <p:cNvSpPr/>
          <p:nvPr/>
        </p:nvSpPr>
        <p:spPr>
          <a:xfrm>
            <a:off x="45720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7" name="TextBox 6"/>
          <p:cNvSpPr txBox="1"/>
          <p:nvPr/>
        </p:nvSpPr>
        <p:spPr>
          <a:xfrm>
            <a:off x="111556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MFT ≈ inode table</a:t>
            </a:r>
          </a:p>
        </p:txBody>
      </p:sp>
      <p:sp>
        <p:nvSpPr>
          <p:cNvPr id="8" name="TextBox 7"/>
          <p:cNvSpPr txBox="1"/>
          <p:nvPr/>
        </p:nvSpPr>
        <p:spPr>
          <a:xfrm>
            <a:off x="64008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One record per file; we read it directly</a:t>
            </a:r>
          </a:p>
          <a:p>
            <a:pPr algn="l">
              <a:spcAft>
                <a:spcPts val="300"/>
              </a:spcAft>
            </a:pPr>
            <a:r>
              <a:rPr sz="1400" b="0" i="0">
                <a:solidFill>
                  <a:srgbClr val="5B6B80"/>
                </a:solidFill>
                <a:latin typeface="Consolas"/>
              </a:rPr>
              <a:t>scanner_mft.cpp</a:t>
            </a:r>
          </a:p>
        </p:txBody>
      </p:sp>
      <p:sp>
        <p:nvSpPr>
          <p:cNvPr id="9" name="Rounded Rectangle 8"/>
          <p:cNvSpPr/>
          <p:nvPr/>
        </p:nvSpPr>
        <p:spPr>
          <a:xfrm>
            <a:off x="326136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595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1" name="TextBox 10"/>
          <p:cNvSpPr txBox="1"/>
          <p:nvPr/>
        </p:nvSpPr>
        <p:spPr>
          <a:xfrm>
            <a:off x="391972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Directory entries</a:t>
            </a:r>
          </a:p>
        </p:txBody>
      </p:sp>
      <p:sp>
        <p:nvSpPr>
          <p:cNvPr id="12" name="TextBox 11"/>
          <p:cNvSpPr txBox="1"/>
          <p:nvPr/>
        </p:nvSpPr>
        <p:spPr>
          <a:xfrm>
            <a:off x="344424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Name, size, times, attributes per entry</a:t>
            </a:r>
          </a:p>
          <a:p>
            <a:pPr algn="l">
              <a:spcAft>
                <a:spcPts val="300"/>
              </a:spcAft>
            </a:pPr>
            <a:r>
              <a:rPr sz="1400" b="0" i="0">
                <a:solidFill>
                  <a:srgbClr val="5B6B80"/>
                </a:solidFill>
                <a:latin typeface="Consolas"/>
              </a:rPr>
              <a:t>scanner.cpp</a:t>
            </a:r>
          </a:p>
        </p:txBody>
      </p:sp>
      <p:sp>
        <p:nvSpPr>
          <p:cNvPr id="13" name="Rounded Rectangle 12"/>
          <p:cNvSpPr/>
          <p:nvPr/>
        </p:nvSpPr>
        <p:spPr>
          <a:xfrm>
            <a:off x="606552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3011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5" name="TextBox 14"/>
          <p:cNvSpPr txBox="1"/>
          <p:nvPr/>
        </p:nvSpPr>
        <p:spPr>
          <a:xfrm>
            <a:off x="672388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Extents vs fragments</a:t>
            </a:r>
          </a:p>
        </p:txBody>
      </p:sp>
      <p:sp>
        <p:nvSpPr>
          <p:cNvPr id="16" name="TextBox 15"/>
          <p:cNvSpPr txBox="1"/>
          <p:nvPr/>
        </p:nvSpPr>
        <p:spPr>
          <a:xfrm>
            <a:off x="624840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Contiguous runs; non-contiguous = fragmented</a:t>
            </a:r>
          </a:p>
          <a:p>
            <a:pPr algn="l">
              <a:spcAft>
                <a:spcPts val="300"/>
              </a:spcAft>
            </a:pPr>
            <a:r>
              <a:rPr sz="1400" b="0" i="0">
                <a:solidFill>
                  <a:srgbClr val="5B6B80"/>
                </a:solidFill>
                <a:latin typeface="Consolas"/>
              </a:rPr>
              <a:t>internals.cpp</a:t>
            </a:r>
          </a:p>
        </p:txBody>
      </p:sp>
      <p:sp>
        <p:nvSpPr>
          <p:cNvPr id="17" name="Rounded Rectangle 16"/>
          <p:cNvSpPr/>
          <p:nvPr/>
        </p:nvSpPr>
        <p:spPr>
          <a:xfrm>
            <a:off x="45720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9" name="TextBox 18"/>
          <p:cNvSpPr txBox="1"/>
          <p:nvPr/>
        </p:nvSpPr>
        <p:spPr>
          <a:xfrm>
            <a:off x="111556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Free-space management</a:t>
            </a:r>
          </a:p>
        </p:txBody>
      </p:sp>
      <p:sp>
        <p:nvSpPr>
          <p:cNvPr id="20" name="TextBox 19"/>
          <p:cNvSpPr txBox="1"/>
          <p:nvPr/>
        </p:nvSpPr>
        <p:spPr>
          <a:xfrm>
            <a:off x="64008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Free-cluster count × cluster size</a:t>
            </a:r>
          </a:p>
          <a:p>
            <a:pPr algn="l">
              <a:spcAft>
                <a:spcPts val="300"/>
              </a:spcAft>
            </a:pPr>
            <a:r>
              <a:rPr sz="1400" b="0" i="0">
                <a:solidFill>
                  <a:srgbClr val="5B6B80"/>
                </a:solidFill>
                <a:latin typeface="Consolas"/>
              </a:rPr>
              <a:t>internals.cpp</a:t>
            </a:r>
          </a:p>
        </p:txBody>
      </p:sp>
      <p:sp>
        <p:nvSpPr>
          <p:cNvPr id="21" name="Rounded Rectangle 20"/>
          <p:cNvSpPr/>
          <p:nvPr/>
        </p:nvSpPr>
        <p:spPr>
          <a:xfrm>
            <a:off x="326136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2595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3" name="TextBox 22"/>
          <p:cNvSpPr txBox="1"/>
          <p:nvPr/>
        </p:nvSpPr>
        <p:spPr>
          <a:xfrm>
            <a:off x="391972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Internal fragmentation</a:t>
            </a:r>
          </a:p>
        </p:txBody>
      </p:sp>
      <p:sp>
        <p:nvSpPr>
          <p:cNvPr id="24" name="TextBox 23"/>
          <p:cNvSpPr txBox="1"/>
          <p:nvPr/>
        </p:nvSpPr>
        <p:spPr>
          <a:xfrm>
            <a:off x="344424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Slack: unused tail of the last cluster</a:t>
            </a:r>
          </a:p>
          <a:p>
            <a:pPr algn="l">
              <a:spcAft>
                <a:spcPts val="300"/>
              </a:spcAft>
            </a:pPr>
            <a:r>
              <a:rPr sz="1400" b="0" i="0">
                <a:solidFill>
                  <a:srgbClr val="5B6B80"/>
                </a:solidFill>
                <a:latin typeface="Consolas"/>
              </a:rPr>
              <a:t>internals.cpp</a:t>
            </a:r>
          </a:p>
        </p:txBody>
      </p:sp>
      <p:sp>
        <p:nvSpPr>
          <p:cNvPr id="25" name="Rounded Rectangle 24"/>
          <p:cNvSpPr/>
          <p:nvPr/>
        </p:nvSpPr>
        <p:spPr>
          <a:xfrm>
            <a:off x="606552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3011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7" name="TextBox 26"/>
          <p:cNvSpPr txBox="1"/>
          <p:nvPr/>
        </p:nvSpPr>
        <p:spPr>
          <a:xfrm>
            <a:off x="672388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Reserved blocks</a:t>
            </a:r>
          </a:p>
        </p:txBody>
      </p:sp>
      <p:sp>
        <p:nvSpPr>
          <p:cNvPr id="28" name="TextBox 27"/>
          <p:cNvSpPr txBox="1"/>
          <p:nvPr/>
        </p:nvSpPr>
        <p:spPr>
          <a:xfrm>
            <a:off x="624840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Reserve file ≈ ext4 blocks reserved for root</a:t>
            </a:r>
          </a:p>
          <a:p>
            <a:pPr algn="l">
              <a:spcAft>
                <a:spcPts val="300"/>
              </a:spcAft>
            </a:pPr>
            <a:r>
              <a:rPr sz="1400" b="0" i="0">
                <a:solidFill>
                  <a:srgbClr val="5B6B80"/>
                </a:solidFill>
                <a:latin typeface="Consolas"/>
              </a:rPr>
              <a:t>rescue.cpp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OS concepts: file systems (2/3)</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13</a:t>
            </a:r>
          </a:p>
        </p:txBody>
      </p:sp>
      <p:sp>
        <p:nvSpPr>
          <p:cNvPr id="5" name="Rounded Rectangle 4"/>
          <p:cNvSpPr/>
          <p:nvPr/>
        </p:nvSpPr>
        <p:spPr>
          <a:xfrm>
            <a:off x="45720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7" name="TextBox 6"/>
          <p:cNvSpPr txBox="1"/>
          <p:nvPr/>
        </p:nvSpPr>
        <p:spPr>
          <a:xfrm>
            <a:off x="111556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Page cache</a:t>
            </a:r>
          </a:p>
        </p:txBody>
      </p:sp>
      <p:sp>
        <p:nvSpPr>
          <p:cNvPr id="8" name="TextBox 7"/>
          <p:cNvSpPr txBox="1"/>
          <p:nvPr/>
        </p:nvSpPr>
        <p:spPr>
          <a:xfrm>
            <a:off x="64008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Same scan: 289 s cold vs 58 s warm</a:t>
            </a:r>
          </a:p>
          <a:p>
            <a:pPr algn="l">
              <a:spcAft>
                <a:spcPts val="300"/>
              </a:spcAft>
            </a:pPr>
            <a:r>
              <a:rPr sz="1400" b="0" i="0">
                <a:solidFill>
                  <a:srgbClr val="5B6B80"/>
                </a:solidFill>
                <a:latin typeface="Consolas"/>
              </a:rPr>
              <a:t>PROGRESS.md baseline</a:t>
            </a:r>
          </a:p>
        </p:txBody>
      </p:sp>
      <p:sp>
        <p:nvSpPr>
          <p:cNvPr id="9" name="Rounded Rectangle 8"/>
          <p:cNvSpPr/>
          <p:nvPr/>
        </p:nvSpPr>
        <p:spPr>
          <a:xfrm>
            <a:off x="326136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595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1" name="TextBox 10"/>
          <p:cNvSpPr txBox="1"/>
          <p:nvPr/>
        </p:nvSpPr>
        <p:spPr>
          <a:xfrm>
            <a:off x="391972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Hard links</a:t>
            </a:r>
          </a:p>
        </p:txBody>
      </p:sp>
      <p:sp>
        <p:nvSpPr>
          <p:cNvPr id="12" name="TextBox 11"/>
          <p:cNvSpPr txBox="1"/>
          <p:nvPr/>
        </p:nvSpPr>
        <p:spPr>
          <a:xfrm>
            <a:off x="344424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MFT counts a file once; names count twice</a:t>
            </a:r>
          </a:p>
          <a:p>
            <a:pPr algn="l">
              <a:spcAft>
                <a:spcPts val="300"/>
              </a:spcAft>
            </a:pPr>
            <a:r>
              <a:rPr sz="1400" b="0" i="0">
                <a:solidFill>
                  <a:srgbClr val="5B6B80"/>
                </a:solidFill>
                <a:latin typeface="Consolas"/>
              </a:rPr>
              <a:t>scanner_mft.cpp</a:t>
            </a:r>
          </a:p>
        </p:txBody>
      </p:sp>
      <p:sp>
        <p:nvSpPr>
          <p:cNvPr id="13" name="Rounded Rectangle 12"/>
          <p:cNvSpPr/>
          <p:nvPr/>
        </p:nvSpPr>
        <p:spPr>
          <a:xfrm>
            <a:off x="606552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3011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5" name="TextBox 14"/>
          <p:cNvSpPr txBox="1"/>
          <p:nvPr/>
        </p:nvSpPr>
        <p:spPr>
          <a:xfrm>
            <a:off x="672388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Reparse points</a:t>
            </a:r>
          </a:p>
        </p:txBody>
      </p:sp>
      <p:sp>
        <p:nvSpPr>
          <p:cNvPr id="16" name="TextBox 15"/>
          <p:cNvSpPr txBox="1"/>
          <p:nvPr/>
        </p:nvSpPr>
        <p:spPr>
          <a:xfrm>
            <a:off x="624840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Junctions not followed: no cycles</a:t>
            </a:r>
          </a:p>
          <a:p>
            <a:pPr algn="l">
              <a:spcAft>
                <a:spcPts val="300"/>
              </a:spcAft>
            </a:pPr>
            <a:r>
              <a:rPr sz="1400" b="0" i="0">
                <a:solidFill>
                  <a:srgbClr val="5B6B80"/>
                </a:solidFill>
                <a:latin typeface="Consolas"/>
              </a:rPr>
              <a:t>scanner.cpp</a:t>
            </a:r>
          </a:p>
        </p:txBody>
      </p:sp>
      <p:sp>
        <p:nvSpPr>
          <p:cNvPr id="17" name="Rounded Rectangle 16"/>
          <p:cNvSpPr/>
          <p:nvPr/>
        </p:nvSpPr>
        <p:spPr>
          <a:xfrm>
            <a:off x="45720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9" name="TextBox 18"/>
          <p:cNvSpPr txBox="1"/>
          <p:nvPr/>
        </p:nvSpPr>
        <p:spPr>
          <a:xfrm>
            <a:off x="111556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Compression, sparse</a:t>
            </a:r>
          </a:p>
        </p:txBody>
      </p:sp>
      <p:sp>
        <p:nvSpPr>
          <p:cNvPr id="20" name="TextBox 19"/>
          <p:cNvSpPr txBox="1"/>
          <p:nvPr/>
        </p:nvSpPr>
        <p:spPr>
          <a:xfrm>
            <a:off x="64008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Allocated size can be &lt; logical size</a:t>
            </a:r>
          </a:p>
          <a:p>
            <a:pPr algn="l">
              <a:spcAft>
                <a:spcPts val="300"/>
              </a:spcAft>
            </a:pPr>
            <a:r>
              <a:rPr sz="1400" b="0" i="0">
                <a:solidFill>
                  <a:srgbClr val="5B6B80"/>
                </a:solidFill>
                <a:latin typeface="Consolas"/>
              </a:rPr>
              <a:t>actions.cpp Compress</a:t>
            </a:r>
          </a:p>
        </p:txBody>
      </p:sp>
      <p:sp>
        <p:nvSpPr>
          <p:cNvPr id="21" name="Rounded Rectangle 20"/>
          <p:cNvSpPr/>
          <p:nvPr/>
        </p:nvSpPr>
        <p:spPr>
          <a:xfrm>
            <a:off x="326136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2595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3" name="TextBox 22"/>
          <p:cNvSpPr txBox="1"/>
          <p:nvPr/>
        </p:nvSpPr>
        <p:spPr>
          <a:xfrm>
            <a:off x="391972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Logical vs on disk</a:t>
            </a:r>
          </a:p>
        </p:txBody>
      </p:sp>
      <p:sp>
        <p:nvSpPr>
          <p:cNvPr id="24" name="TextBox 23"/>
          <p:cNvSpPr txBox="1"/>
          <p:nvPr/>
        </p:nvSpPr>
        <p:spPr>
          <a:xfrm>
            <a:off x="344424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Node.size vs Node.alloc (AllocationSize)</a:t>
            </a:r>
          </a:p>
          <a:p>
            <a:pPr algn="l">
              <a:spcAft>
                <a:spcPts val="300"/>
              </a:spcAft>
            </a:pPr>
            <a:r>
              <a:rPr sz="1400" b="0" i="0">
                <a:solidFill>
                  <a:srgbClr val="5B6B80"/>
                </a:solidFill>
                <a:latin typeface="Consolas"/>
              </a:rPr>
              <a:t>scanner.h</a:t>
            </a:r>
          </a:p>
        </p:txBody>
      </p:sp>
      <p:sp>
        <p:nvSpPr>
          <p:cNvPr id="25" name="Rounded Rectangle 24"/>
          <p:cNvSpPr/>
          <p:nvPr/>
        </p:nvSpPr>
        <p:spPr>
          <a:xfrm>
            <a:off x="606552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3011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7" name="TextBox 26"/>
          <p:cNvSpPr txBox="1"/>
          <p:nvPr/>
        </p:nvSpPr>
        <p:spPr>
          <a:xfrm>
            <a:off x="672388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Journaled rename</a:t>
            </a:r>
          </a:p>
        </p:txBody>
      </p:sp>
      <p:sp>
        <p:nvSpPr>
          <p:cNvPr id="28" name="TextBox 27"/>
          <p:cNvSpPr txBox="1"/>
          <p:nvPr/>
        </p:nvSpPr>
        <p:spPr>
          <a:xfrm>
            <a:off x="624840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Recycle = same-volume rename, no new space</a:t>
            </a:r>
          </a:p>
          <a:p>
            <a:pPr algn="l">
              <a:spcAft>
                <a:spcPts val="300"/>
              </a:spcAft>
            </a:pPr>
            <a:r>
              <a:rPr sz="1400" b="0" i="0">
                <a:solidFill>
                  <a:srgbClr val="5B6B80"/>
                </a:solidFill>
                <a:latin typeface="Consolas"/>
              </a:rPr>
              <a:t>actions.cpp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OS concepts: file systems (3/3)</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14</a:t>
            </a:r>
          </a:p>
        </p:txBody>
      </p:sp>
      <p:sp>
        <p:nvSpPr>
          <p:cNvPr id="5" name="Rounded Rectangle 4"/>
          <p:cNvSpPr/>
          <p:nvPr/>
        </p:nvSpPr>
        <p:spPr>
          <a:xfrm>
            <a:off x="457200" y="1051560"/>
            <a:ext cx="402336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7" name="TextBox 6"/>
          <p:cNvSpPr txBox="1"/>
          <p:nvPr/>
        </p:nvSpPr>
        <p:spPr>
          <a:xfrm>
            <a:off x="1115568" y="1161288"/>
            <a:ext cx="3246120" cy="658368"/>
          </a:xfrm>
          <a:prstGeom prst="rect">
            <a:avLst/>
          </a:prstGeom>
          <a:noFill/>
        </p:spPr>
        <p:txBody>
          <a:bodyPr wrap="square" lIns="0" rIns="0" tIns="0" bIns="0" anchor="ctr">
            <a:spAutoFit/>
          </a:bodyPr>
          <a:lstStyle/>
          <a:p>
            <a:pPr algn="l"/>
            <a:r>
              <a:rPr sz="2200" b="1" i="0">
                <a:solidFill>
                  <a:srgbClr val="0F1B2D"/>
                </a:solidFill>
                <a:latin typeface="Calibri"/>
              </a:rPr>
              <a:t>Seek time, scheduling</a:t>
            </a:r>
          </a:p>
        </p:txBody>
      </p:sp>
      <p:sp>
        <p:nvSpPr>
          <p:cNvPr id="8" name="TextBox 7"/>
          <p:cNvSpPr txBox="1"/>
          <p:nvPr/>
        </p:nvSpPr>
        <p:spPr>
          <a:xfrm>
            <a:off x="640080" y="1892807"/>
            <a:ext cx="367588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One sequential MFT read beats 400K random reads</a:t>
            </a:r>
          </a:p>
          <a:p>
            <a:pPr algn="l">
              <a:spcAft>
                <a:spcPts val="300"/>
              </a:spcAft>
            </a:pPr>
            <a:r>
              <a:rPr sz="1400" b="0" i="0">
                <a:solidFill>
                  <a:srgbClr val="5B6B80"/>
                </a:solidFill>
                <a:latin typeface="Consolas"/>
              </a:rPr>
              <a:t>scanner_mft.cpp</a:t>
            </a:r>
          </a:p>
        </p:txBody>
      </p:sp>
      <p:sp>
        <p:nvSpPr>
          <p:cNvPr id="9" name="Rounded Rectangle 8"/>
          <p:cNvSpPr/>
          <p:nvPr/>
        </p:nvSpPr>
        <p:spPr>
          <a:xfrm>
            <a:off x="4663440" y="1051560"/>
            <a:ext cx="402336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2803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1" name="TextBox 10"/>
          <p:cNvSpPr txBox="1"/>
          <p:nvPr/>
        </p:nvSpPr>
        <p:spPr>
          <a:xfrm>
            <a:off x="5321808" y="1161288"/>
            <a:ext cx="3246120" cy="658368"/>
          </a:xfrm>
          <a:prstGeom prst="rect">
            <a:avLst/>
          </a:prstGeom>
          <a:noFill/>
        </p:spPr>
        <p:txBody>
          <a:bodyPr wrap="square" lIns="0" rIns="0" tIns="0" bIns="0" anchor="ctr">
            <a:spAutoFit/>
          </a:bodyPr>
          <a:lstStyle/>
          <a:p>
            <a:pPr algn="l"/>
            <a:r>
              <a:rPr sz="2200" b="1" i="0">
                <a:solidFill>
                  <a:srgbClr val="0F1B2D"/>
                </a:solidFill>
                <a:latin typeface="Calibri"/>
              </a:rPr>
              <a:t>Unbuffered I/O</a:t>
            </a:r>
          </a:p>
        </p:txBody>
      </p:sp>
      <p:sp>
        <p:nvSpPr>
          <p:cNvPr id="12" name="TextBox 11"/>
          <p:cNvSpPr txBox="1"/>
          <p:nvPr/>
        </p:nvSpPr>
        <p:spPr>
          <a:xfrm>
            <a:off x="4846320" y="1892807"/>
            <a:ext cx="367588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FILE_FLAG_NO_BUFFERING, cluster-aligned 4 MB</a:t>
            </a:r>
          </a:p>
          <a:p>
            <a:pPr algn="l">
              <a:spcAft>
                <a:spcPts val="300"/>
              </a:spcAft>
            </a:pPr>
            <a:r>
              <a:rPr sz="1400" b="0" i="0">
                <a:solidFill>
                  <a:srgbClr val="5B6B80"/>
                </a:solidFill>
                <a:latin typeface="Consolas"/>
              </a:rPr>
              <a:t>scanner_mft.cpp</a:t>
            </a:r>
          </a:p>
        </p:txBody>
      </p:sp>
      <p:sp>
        <p:nvSpPr>
          <p:cNvPr id="13" name="Rounded Rectangle 12"/>
          <p:cNvSpPr/>
          <p:nvPr/>
        </p:nvSpPr>
        <p:spPr>
          <a:xfrm>
            <a:off x="457200" y="2971800"/>
            <a:ext cx="402336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5" name="TextBox 14"/>
          <p:cNvSpPr txBox="1"/>
          <p:nvPr/>
        </p:nvSpPr>
        <p:spPr>
          <a:xfrm>
            <a:off x="1115568" y="3081528"/>
            <a:ext cx="3246120" cy="658368"/>
          </a:xfrm>
          <a:prstGeom prst="rect">
            <a:avLst/>
          </a:prstGeom>
          <a:noFill/>
        </p:spPr>
        <p:txBody>
          <a:bodyPr wrap="square" lIns="0" rIns="0" tIns="0" bIns="0" anchor="ctr">
            <a:spAutoFit/>
          </a:bodyPr>
          <a:lstStyle/>
          <a:p>
            <a:pPr algn="l"/>
            <a:r>
              <a:rPr sz="2200" b="1" i="0">
                <a:solidFill>
                  <a:srgbClr val="0F1B2D"/>
                </a:solidFill>
                <a:latin typeface="Calibri"/>
              </a:rPr>
              <a:t>Overlapped I/O</a:t>
            </a:r>
          </a:p>
        </p:txBody>
      </p:sp>
      <p:sp>
        <p:nvSpPr>
          <p:cNvPr id="16" name="TextBox 15"/>
          <p:cNvSpPr txBox="1"/>
          <p:nvPr/>
        </p:nvSpPr>
        <p:spPr>
          <a:xfrm>
            <a:off x="640080" y="3813048"/>
            <a:ext cx="367588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8 reads in flight; OVERLAPPED + event</a:t>
            </a:r>
          </a:p>
          <a:p>
            <a:pPr algn="l">
              <a:spcAft>
                <a:spcPts val="300"/>
              </a:spcAft>
            </a:pPr>
            <a:r>
              <a:rPr sz="1400" b="0" i="0">
                <a:solidFill>
                  <a:srgbClr val="5B6B80"/>
                </a:solidFill>
                <a:latin typeface="Consolas"/>
              </a:rPr>
              <a:t>scanner_mft.cpp</a:t>
            </a:r>
          </a:p>
        </p:txBody>
      </p:sp>
      <p:sp>
        <p:nvSpPr>
          <p:cNvPr id="17" name="Rounded Rectangle 16"/>
          <p:cNvSpPr/>
          <p:nvPr/>
        </p:nvSpPr>
        <p:spPr>
          <a:xfrm>
            <a:off x="4663440" y="2971800"/>
            <a:ext cx="402336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82803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9" name="TextBox 18"/>
          <p:cNvSpPr txBox="1"/>
          <p:nvPr/>
        </p:nvSpPr>
        <p:spPr>
          <a:xfrm>
            <a:off x="5321808" y="3081528"/>
            <a:ext cx="3246120" cy="658368"/>
          </a:xfrm>
          <a:prstGeom prst="rect">
            <a:avLst/>
          </a:prstGeom>
          <a:noFill/>
        </p:spPr>
        <p:txBody>
          <a:bodyPr wrap="square" lIns="0" rIns="0" tIns="0" bIns="0" anchor="ctr">
            <a:spAutoFit/>
          </a:bodyPr>
          <a:lstStyle/>
          <a:p>
            <a:pPr algn="l"/>
            <a:r>
              <a:rPr sz="2200" b="1" i="0">
                <a:solidFill>
                  <a:srgbClr val="0F1B2D"/>
                </a:solidFill>
                <a:latin typeface="Calibri"/>
              </a:rPr>
              <a:t>Restore points</a:t>
            </a:r>
          </a:p>
        </p:txBody>
      </p:sp>
      <p:sp>
        <p:nvSpPr>
          <p:cNvPr id="20" name="TextBox 19"/>
          <p:cNvSpPr txBox="1"/>
          <p:nvPr/>
        </p:nvSpPr>
        <p:spPr>
          <a:xfrm>
            <a:off x="4846320" y="3813048"/>
            <a:ext cx="367588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Shadow copies listed with the safe tool</a:t>
            </a:r>
          </a:p>
          <a:p>
            <a:pPr algn="l">
              <a:spcAft>
                <a:spcPts val="300"/>
              </a:spcAft>
            </a:pPr>
            <a:r>
              <a:rPr sz="1400" b="0" i="0">
                <a:solidFill>
                  <a:srgbClr val="5B6B80"/>
                </a:solidFill>
                <a:latin typeface="Consolas"/>
              </a:rPr>
              <a:t>cleanup.cpp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Concurrency: the parallel scanner</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15</a:t>
            </a:r>
          </a:p>
        </p:txBody>
      </p:sp>
      <p:sp>
        <p:nvSpPr>
          <p:cNvPr id="5" name="Rounded Rectangle 4"/>
          <p:cNvSpPr/>
          <p:nvPr/>
        </p:nvSpPr>
        <p:spPr>
          <a:xfrm>
            <a:off x="457200" y="1143000"/>
            <a:ext cx="1737360" cy="685800"/>
          </a:xfrm>
          <a:prstGeom prst="roundRect">
            <a:avLst>
              <a:gd name="adj" fmla="val 10666"/>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1737360" cy="685800"/>
          </a:xfrm>
          <a:prstGeom prst="rect">
            <a:avLst/>
          </a:prstGeom>
          <a:noFill/>
        </p:spPr>
        <p:txBody>
          <a:bodyPr wrap="square" lIns="0" rIns="0" tIns="0" bIns="0" anchor="ctr">
            <a:spAutoFit/>
          </a:bodyPr>
          <a:lstStyle/>
          <a:p>
            <a:pPr algn="ctr"/>
            <a:r>
              <a:rPr sz="1700" b="1" i="0">
                <a:solidFill>
                  <a:srgbClr val="FFFFFF"/>
                </a:solidFill>
                <a:latin typeface="Calibri"/>
              </a:rPr>
              <a:t>Worker 1</a:t>
            </a:r>
          </a:p>
        </p:txBody>
      </p:sp>
      <p:cxnSp>
        <p:nvCxnSpPr>
          <p:cNvPr id="7" name="Connector 6"/>
          <p:cNvCxnSpPr/>
          <p:nvPr/>
        </p:nvCxnSpPr>
        <p:spPr>
          <a:xfrm>
            <a:off x="2194560" y="1490472"/>
            <a:ext cx="822960" cy="521208"/>
          </a:xfrm>
          <a:prstGeom prst="line">
            <a:avLst/>
          </a:prstGeom>
          <a:ln w="19050">
            <a:solidFill>
              <a:srgbClr val="5B6B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126480" y="1490472"/>
            <a:ext cx="685800" cy="521208"/>
          </a:xfrm>
          <a:prstGeom prst="line">
            <a:avLst/>
          </a:prstGeom>
          <a:ln w="19050">
            <a:solidFill>
              <a:srgbClr val="5B6B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7200" y="2011680"/>
            <a:ext cx="1737360" cy="685800"/>
          </a:xfrm>
          <a:prstGeom prst="roundRect">
            <a:avLst>
              <a:gd name="adj" fmla="val 10666"/>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011680"/>
            <a:ext cx="1737360" cy="685800"/>
          </a:xfrm>
          <a:prstGeom prst="rect">
            <a:avLst/>
          </a:prstGeom>
          <a:noFill/>
        </p:spPr>
        <p:txBody>
          <a:bodyPr wrap="square" lIns="0" rIns="0" tIns="0" bIns="0" anchor="ctr">
            <a:spAutoFit/>
          </a:bodyPr>
          <a:lstStyle/>
          <a:p>
            <a:pPr algn="ctr"/>
            <a:r>
              <a:rPr sz="1700" b="1" i="0">
                <a:solidFill>
                  <a:srgbClr val="FFFFFF"/>
                </a:solidFill>
                <a:latin typeface="Calibri"/>
              </a:rPr>
              <a:t>Worker 2</a:t>
            </a:r>
          </a:p>
        </p:txBody>
      </p:sp>
      <p:cxnSp>
        <p:nvCxnSpPr>
          <p:cNvPr id="11" name="Connector 10"/>
          <p:cNvCxnSpPr/>
          <p:nvPr/>
        </p:nvCxnSpPr>
        <p:spPr>
          <a:xfrm flipV="1">
            <a:off x="2194560" y="2011680"/>
            <a:ext cx="822960" cy="347472"/>
          </a:xfrm>
          <a:prstGeom prst="line">
            <a:avLst/>
          </a:prstGeom>
          <a:ln w="19050">
            <a:solidFill>
              <a:srgbClr val="5B6B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126480" y="2011680"/>
            <a:ext cx="685800" cy="347472"/>
          </a:xfrm>
          <a:prstGeom prst="line">
            <a:avLst/>
          </a:prstGeom>
          <a:ln w="19050">
            <a:solidFill>
              <a:srgbClr val="5B6B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7200" y="2880360"/>
            <a:ext cx="1737360" cy="685800"/>
          </a:xfrm>
          <a:prstGeom prst="roundRect">
            <a:avLst>
              <a:gd name="adj" fmla="val 10666"/>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880360"/>
            <a:ext cx="1737360" cy="685800"/>
          </a:xfrm>
          <a:prstGeom prst="rect">
            <a:avLst/>
          </a:prstGeom>
          <a:noFill/>
        </p:spPr>
        <p:txBody>
          <a:bodyPr wrap="square" lIns="0" rIns="0" tIns="0" bIns="0" anchor="ctr">
            <a:spAutoFit/>
          </a:bodyPr>
          <a:lstStyle/>
          <a:p>
            <a:pPr algn="ctr"/>
            <a:r>
              <a:rPr sz="1700" b="1" i="0">
                <a:solidFill>
                  <a:srgbClr val="FFFFFF"/>
                </a:solidFill>
                <a:latin typeface="Calibri"/>
              </a:rPr>
              <a:t>Worker 8</a:t>
            </a:r>
          </a:p>
        </p:txBody>
      </p:sp>
      <p:cxnSp>
        <p:nvCxnSpPr>
          <p:cNvPr id="15" name="Connector 14"/>
          <p:cNvCxnSpPr/>
          <p:nvPr/>
        </p:nvCxnSpPr>
        <p:spPr>
          <a:xfrm flipV="1">
            <a:off x="2194560" y="2011680"/>
            <a:ext cx="822960" cy="1216152"/>
          </a:xfrm>
          <a:prstGeom prst="line">
            <a:avLst/>
          </a:prstGeom>
          <a:ln w="19050">
            <a:solidFill>
              <a:srgbClr val="5B6B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26480" y="2011680"/>
            <a:ext cx="685800" cy="1216152"/>
          </a:xfrm>
          <a:prstGeom prst="line">
            <a:avLst/>
          </a:prstGeom>
          <a:ln w="19050">
            <a:solidFill>
              <a:srgbClr val="5B6B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3794760"/>
            <a:ext cx="1737360" cy="274320"/>
          </a:xfrm>
          <a:prstGeom prst="rect">
            <a:avLst/>
          </a:prstGeom>
          <a:noFill/>
        </p:spPr>
        <p:txBody>
          <a:bodyPr wrap="square" lIns="0" rIns="0" tIns="0" bIns="0" anchor="t">
            <a:spAutoFit/>
          </a:bodyPr>
          <a:lstStyle/>
          <a:p>
            <a:pPr algn="ctr"/>
            <a:r>
              <a:rPr sz="1400" b="0" i="0">
                <a:solidFill>
                  <a:srgbClr val="5B6B80"/>
                </a:solidFill>
                <a:latin typeface="Calibri"/>
              </a:rPr>
              <a:t>… min(cores, 8)</a:t>
            </a:r>
          </a:p>
        </p:txBody>
      </p:sp>
      <p:sp>
        <p:nvSpPr>
          <p:cNvPr id="18" name="Rounded Rectangle 17"/>
          <p:cNvSpPr/>
          <p:nvPr/>
        </p:nvSpPr>
        <p:spPr>
          <a:xfrm>
            <a:off x="3017520" y="1325880"/>
            <a:ext cx="3108960" cy="1417320"/>
          </a:xfrm>
          <a:prstGeom prst="roundRect">
            <a:avLst>
              <a:gd name="adj" fmla="val 5161"/>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54680" y="1389888"/>
            <a:ext cx="2834640" cy="411480"/>
          </a:xfrm>
          <a:prstGeom prst="rect">
            <a:avLst/>
          </a:prstGeom>
          <a:noFill/>
        </p:spPr>
        <p:txBody>
          <a:bodyPr wrap="square" lIns="0" rIns="0" tIns="0" bIns="0" anchor="t">
            <a:spAutoFit/>
          </a:bodyPr>
          <a:lstStyle/>
          <a:p>
            <a:pPr algn="ctr"/>
            <a:r>
              <a:rPr sz="1900" b="1" i="0">
                <a:solidFill>
                  <a:srgbClr val="FFFFFF"/>
                </a:solidFill>
                <a:latin typeface="Calibri"/>
              </a:rPr>
              <a:t>Folder queue (LIFO)</a:t>
            </a:r>
          </a:p>
        </p:txBody>
      </p:sp>
      <p:sp>
        <p:nvSpPr>
          <p:cNvPr id="20" name="TextBox 19"/>
          <p:cNvSpPr txBox="1"/>
          <p:nvPr/>
        </p:nvSpPr>
        <p:spPr>
          <a:xfrm>
            <a:off x="3154680" y="1801368"/>
            <a:ext cx="2834640" cy="868680"/>
          </a:xfrm>
          <a:prstGeom prst="rect">
            <a:avLst/>
          </a:prstGeom>
          <a:noFill/>
        </p:spPr>
        <p:txBody>
          <a:bodyPr wrap="square" lIns="0" rIns="0" tIns="0" bIns="0" anchor="t">
            <a:spAutoFit/>
          </a:bodyPr>
          <a:lstStyle/>
          <a:p>
            <a:pPr algn="ctr"/>
            <a:r>
              <a:rPr sz="1600" b="0" i="0">
                <a:solidFill>
                  <a:srgbClr val="DCE3EE"/>
                </a:solidFill>
                <a:latin typeface="Calibri"/>
              </a:rPr>
              <a:t>SRW lock + condition variable</a:t>
            </a:r>
          </a:p>
          <a:p>
            <a:pPr algn="ctr"/>
            <a:r>
              <a:rPr sz="1600" b="0" i="0">
                <a:solidFill>
                  <a:srgbClr val="DCE3EE"/>
                </a:solidFill>
                <a:latin typeface="Calibri"/>
              </a:rPr>
              <a:t>push sub-folders, pop next</a:t>
            </a:r>
          </a:p>
        </p:txBody>
      </p:sp>
      <p:sp>
        <p:nvSpPr>
          <p:cNvPr id="21" name="Rounded Rectangle 20"/>
          <p:cNvSpPr/>
          <p:nvPr/>
        </p:nvSpPr>
        <p:spPr>
          <a:xfrm>
            <a:off x="6812280" y="1143000"/>
            <a:ext cx="1874519" cy="2423160"/>
          </a:xfrm>
          <a:prstGeom prst="roundRect">
            <a:avLst>
              <a:gd name="adj" fmla="val 3902"/>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1234440"/>
            <a:ext cx="1783080" cy="2286000"/>
          </a:xfrm>
          <a:prstGeom prst="rect">
            <a:avLst/>
          </a:prstGeom>
          <a:noFill/>
        </p:spPr>
        <p:txBody>
          <a:bodyPr wrap="square" lIns="0" rIns="0" tIns="0" bIns="0" anchor="t">
            <a:spAutoFit/>
          </a:bodyPr>
          <a:lstStyle/>
          <a:p>
            <a:pPr algn="l">
              <a:spcAft>
                <a:spcPts val="600"/>
              </a:spcAft>
            </a:pPr>
            <a:r>
              <a:rPr sz="1500" b="0" i="0">
                <a:solidFill>
                  <a:srgbClr val="FFFFFF"/>
                </a:solidFill>
                <a:latin typeface="Calibri"/>
              </a:rPr>
              <a:t>Scan tree</a:t>
            </a:r>
          </a:p>
          <a:p>
            <a:pPr algn="l">
              <a:spcAft>
                <a:spcPts val="600"/>
              </a:spcAft>
            </a:pPr>
            <a:r>
              <a:rPr sz="1500" b="0" i="0">
                <a:solidFill>
                  <a:srgbClr val="FFFFFF"/>
                </a:solidFill>
                <a:latin typeface="Calibri"/>
              </a:rPr>
              <a:t>• atomic fetch_add reserves node blocks</a:t>
            </a:r>
          </a:p>
          <a:p>
            <a:pPr algn="l">
              <a:spcAft>
                <a:spcPts val="600"/>
              </a:spcAft>
            </a:pPr>
            <a:r>
              <a:rPr sz="1500" b="0" i="0">
                <a:solidFill>
                  <a:srgbClr val="FFFFFF"/>
                </a:solidFill>
                <a:latin typeface="Calibri"/>
              </a:rPr>
              <a:t>• per-worker name arenas</a:t>
            </a:r>
          </a:p>
        </p:txBody>
      </p:sp>
      <p:sp>
        <p:nvSpPr>
          <p:cNvPr id="23" name="Rounded Rectangle 22"/>
          <p:cNvSpPr/>
          <p:nvPr/>
        </p:nvSpPr>
        <p:spPr>
          <a:xfrm>
            <a:off x="3017520" y="2971800"/>
            <a:ext cx="3108960" cy="822960"/>
          </a:xfrm>
          <a:prstGeom prst="roundRect">
            <a:avLst>
              <a:gd name="adj" fmla="val 8888"/>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0" y="2971800"/>
            <a:ext cx="3108960" cy="822960"/>
          </a:xfrm>
          <a:prstGeom prst="rect">
            <a:avLst/>
          </a:prstGeom>
          <a:noFill/>
        </p:spPr>
        <p:txBody>
          <a:bodyPr wrap="square" lIns="0" rIns="0" tIns="0" bIns="0" anchor="ctr">
            <a:spAutoFit/>
          </a:bodyPr>
          <a:lstStyle/>
          <a:p>
            <a:pPr algn="ctr"/>
            <a:r>
              <a:rPr sz="1600" b="1" i="0">
                <a:solidFill>
                  <a:srgbClr val="0F1B2D"/>
                </a:solidFill>
                <a:latin typeface="Calibri"/>
              </a:rPr>
              <a:t>UI thread</a:t>
            </a:r>
          </a:p>
          <a:p>
            <a:pPr algn="ctr"/>
            <a:r>
              <a:rPr sz="1600" b="1" i="0">
                <a:solidFill>
                  <a:srgbClr val="0F1B2D"/>
                </a:solidFill>
                <a:latin typeface="Calibri"/>
              </a:rPr>
              <a:t>PostMessage when done</a:t>
            </a:r>
          </a:p>
        </p:txBody>
      </p:sp>
      <p:cxnSp>
        <p:nvCxnSpPr>
          <p:cNvPr id="25" name="Connector 24"/>
          <p:cNvCxnSpPr/>
          <p:nvPr/>
        </p:nvCxnSpPr>
        <p:spPr>
          <a:xfrm>
            <a:off x="4572000" y="2743200"/>
            <a:ext cx="0" cy="228600"/>
          </a:xfrm>
          <a:prstGeom prst="line">
            <a:avLst/>
          </a:prstGeom>
          <a:ln w="2540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57200" y="4114800"/>
            <a:ext cx="8229600" cy="502920"/>
          </a:xfrm>
          <a:prstGeom prst="roundRect">
            <a:avLst>
              <a:gd name="adj" fmla="val 14545"/>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114800"/>
            <a:ext cx="7772400" cy="502920"/>
          </a:xfrm>
          <a:prstGeom prst="rect">
            <a:avLst/>
          </a:prstGeom>
          <a:noFill/>
        </p:spPr>
        <p:txBody>
          <a:bodyPr wrap="square" lIns="0" rIns="0" tIns="0" bIns="0" anchor="ctr">
            <a:spAutoFit/>
          </a:bodyPr>
          <a:lstStyle/>
          <a:p>
            <a:pPr algn="l"/>
            <a:r>
              <a:rPr sz="1700" b="1" i="0">
                <a:solidFill>
                  <a:srgbClr val="F5A623"/>
                </a:solidFill>
                <a:latin typeface="Calibri"/>
              </a:rPr>
              <a:t>No lock is held during disk I/O: </a:t>
            </a:r>
            <a:r>
              <a:rPr sz="1700" b="0" i="0">
                <a:solidFill>
                  <a:srgbClr val="FFFFFF"/>
                </a:solidFill>
                <a:latin typeface="Calibri"/>
              </a:rPr>
              <a:t>workers enumerate a folder first, then lock only to push results.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Concurrency: primitives</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16</a:t>
            </a:r>
          </a:p>
        </p:txBody>
      </p:sp>
      <p:sp>
        <p:nvSpPr>
          <p:cNvPr id="5" name="Rounded Rectangle 4"/>
          <p:cNvSpPr/>
          <p:nvPr/>
        </p:nvSpPr>
        <p:spPr>
          <a:xfrm>
            <a:off x="45720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7" name="TextBox 6"/>
          <p:cNvSpPr txBox="1"/>
          <p:nvPr/>
        </p:nvSpPr>
        <p:spPr>
          <a:xfrm>
            <a:off x="111556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Thread pool</a:t>
            </a:r>
          </a:p>
        </p:txBody>
      </p:sp>
      <p:sp>
        <p:nvSpPr>
          <p:cNvPr id="8" name="TextBox 7"/>
          <p:cNvSpPr txBox="1"/>
          <p:nvPr/>
        </p:nvSpPr>
        <p:spPr>
          <a:xfrm>
            <a:off x="64008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min(cores, 8) std::thread workers</a:t>
            </a:r>
          </a:p>
          <a:p>
            <a:pPr algn="l">
              <a:spcAft>
                <a:spcPts val="300"/>
              </a:spcAft>
            </a:pPr>
            <a:r>
              <a:rPr sz="1400" b="0" i="0">
                <a:solidFill>
                  <a:srgbClr val="5B6B80"/>
                </a:solidFill>
                <a:latin typeface="Consolas"/>
              </a:rPr>
              <a:t>scanner.cpp Run</a:t>
            </a:r>
          </a:p>
        </p:txBody>
      </p:sp>
      <p:sp>
        <p:nvSpPr>
          <p:cNvPr id="9" name="Rounded Rectangle 8"/>
          <p:cNvSpPr/>
          <p:nvPr/>
        </p:nvSpPr>
        <p:spPr>
          <a:xfrm>
            <a:off x="326136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595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1" name="TextBox 10"/>
          <p:cNvSpPr txBox="1"/>
          <p:nvPr/>
        </p:nvSpPr>
        <p:spPr>
          <a:xfrm>
            <a:off x="391972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Producer–consumer</a:t>
            </a:r>
          </a:p>
        </p:txBody>
      </p:sp>
      <p:sp>
        <p:nvSpPr>
          <p:cNvPr id="12" name="TextBox 11"/>
          <p:cNvSpPr txBox="1"/>
          <p:nvPr/>
        </p:nvSpPr>
        <p:spPr>
          <a:xfrm>
            <a:off x="344424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Workers push sub-folders, pop folders</a:t>
            </a:r>
          </a:p>
          <a:p>
            <a:pPr algn="l">
              <a:spcAft>
                <a:spcPts val="300"/>
              </a:spcAft>
            </a:pPr>
            <a:r>
              <a:rPr sz="1400" b="0" i="0">
                <a:solidFill>
                  <a:srgbClr val="5B6B80"/>
                </a:solidFill>
                <a:latin typeface="Consolas"/>
              </a:rPr>
              <a:t>scanner.cpp m_queue</a:t>
            </a:r>
          </a:p>
        </p:txBody>
      </p:sp>
      <p:sp>
        <p:nvSpPr>
          <p:cNvPr id="13" name="Rounded Rectangle 12"/>
          <p:cNvSpPr/>
          <p:nvPr/>
        </p:nvSpPr>
        <p:spPr>
          <a:xfrm>
            <a:off x="606552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3011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5" name="TextBox 14"/>
          <p:cNvSpPr txBox="1"/>
          <p:nvPr/>
        </p:nvSpPr>
        <p:spPr>
          <a:xfrm>
            <a:off x="672388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Mutual exclusion</a:t>
            </a:r>
          </a:p>
        </p:txBody>
      </p:sp>
      <p:sp>
        <p:nvSpPr>
          <p:cNvPr id="16" name="TextBox 15"/>
          <p:cNvSpPr txBox="1"/>
          <p:nvPr/>
        </p:nvSpPr>
        <p:spPr>
          <a:xfrm>
            <a:off x="624840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std::mutex = SRW lock (verified import)</a:t>
            </a:r>
          </a:p>
          <a:p>
            <a:pPr algn="l">
              <a:spcAft>
                <a:spcPts val="300"/>
              </a:spcAft>
            </a:pPr>
            <a:r>
              <a:rPr sz="1400" b="0" i="0">
                <a:solidFill>
                  <a:srgbClr val="5B6B80"/>
                </a:solidFill>
                <a:latin typeface="Consolas"/>
              </a:rPr>
              <a:t>scanner.h m_qLock</a:t>
            </a:r>
          </a:p>
        </p:txBody>
      </p:sp>
      <p:sp>
        <p:nvSpPr>
          <p:cNvPr id="17" name="Rounded Rectangle 16"/>
          <p:cNvSpPr/>
          <p:nvPr/>
        </p:nvSpPr>
        <p:spPr>
          <a:xfrm>
            <a:off x="45720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9" name="TextBox 18"/>
          <p:cNvSpPr txBox="1"/>
          <p:nvPr/>
        </p:nvSpPr>
        <p:spPr>
          <a:xfrm>
            <a:off x="111556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Condition variable</a:t>
            </a:r>
          </a:p>
        </p:txBody>
      </p:sp>
      <p:sp>
        <p:nvSpPr>
          <p:cNvPr id="20" name="TextBox 19"/>
          <p:cNvSpPr txBox="1"/>
          <p:nvPr/>
        </p:nvSpPr>
        <p:spPr>
          <a:xfrm>
            <a:off x="64008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Idle and termination: queue empty, busy == 0</a:t>
            </a:r>
          </a:p>
          <a:p>
            <a:pPr algn="l">
              <a:spcAft>
                <a:spcPts val="300"/>
              </a:spcAft>
            </a:pPr>
            <a:r>
              <a:rPr sz="1400" b="0" i="0">
                <a:solidFill>
                  <a:srgbClr val="5B6B80"/>
                </a:solidFill>
                <a:latin typeface="Consolas"/>
              </a:rPr>
              <a:t>scanner.cpp</a:t>
            </a:r>
          </a:p>
        </p:txBody>
      </p:sp>
      <p:sp>
        <p:nvSpPr>
          <p:cNvPr id="21" name="Rounded Rectangle 20"/>
          <p:cNvSpPr/>
          <p:nvPr/>
        </p:nvSpPr>
        <p:spPr>
          <a:xfrm>
            <a:off x="326136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2595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3" name="TextBox 22"/>
          <p:cNvSpPr txBox="1"/>
          <p:nvPr/>
        </p:nvSpPr>
        <p:spPr>
          <a:xfrm>
            <a:off x="391972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Atomic operations</a:t>
            </a:r>
          </a:p>
        </p:txBody>
      </p:sp>
      <p:sp>
        <p:nvSpPr>
          <p:cNvPr id="24" name="TextBox 23"/>
          <p:cNvSpPr txBox="1"/>
          <p:nvPr/>
        </p:nvSpPr>
        <p:spPr>
          <a:xfrm>
            <a:off x="344424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fetch_add for progress and node blocks</a:t>
            </a:r>
          </a:p>
          <a:p>
            <a:pPr algn="l">
              <a:spcAft>
                <a:spcPts val="300"/>
              </a:spcAft>
            </a:pPr>
            <a:r>
              <a:rPr sz="1400" b="0" i="0">
                <a:solidFill>
                  <a:srgbClr val="5B6B80"/>
                </a:solidFill>
                <a:latin typeface="Consolas"/>
              </a:rPr>
              <a:t>scanner.cpp</a:t>
            </a:r>
          </a:p>
        </p:txBody>
      </p:sp>
      <p:sp>
        <p:nvSpPr>
          <p:cNvPr id="25" name="Rounded Rectangle 24"/>
          <p:cNvSpPr/>
          <p:nvPr/>
        </p:nvSpPr>
        <p:spPr>
          <a:xfrm>
            <a:off x="606552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3011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7" name="TextBox 26"/>
          <p:cNvSpPr txBox="1"/>
          <p:nvPr/>
        </p:nvSpPr>
        <p:spPr>
          <a:xfrm>
            <a:off x="672388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Thread-local storage</a:t>
            </a:r>
          </a:p>
        </p:txBody>
      </p:sp>
      <p:sp>
        <p:nvSpPr>
          <p:cNvPr id="28" name="TextBox 27"/>
          <p:cNvSpPr txBox="1"/>
          <p:nvPr/>
        </p:nvSpPr>
        <p:spPr>
          <a:xfrm>
            <a:off x="624840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64 KiB enumeration buffer per worker</a:t>
            </a:r>
          </a:p>
          <a:p>
            <a:pPr algn="l">
              <a:spcAft>
                <a:spcPts val="300"/>
              </a:spcAft>
            </a:pPr>
            <a:r>
              <a:rPr sz="1400" b="0" i="0">
                <a:solidFill>
                  <a:srgbClr val="5B6B80"/>
                </a:solidFill>
                <a:latin typeface="Consolas"/>
              </a:rPr>
              <a:t>scanner.cpp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Concurrency: correctness</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17</a:t>
            </a:r>
          </a:p>
        </p:txBody>
      </p:sp>
      <p:sp>
        <p:nvSpPr>
          <p:cNvPr id="5" name="Rounded Rectangle 4"/>
          <p:cNvSpPr/>
          <p:nvPr/>
        </p:nvSpPr>
        <p:spPr>
          <a:xfrm>
            <a:off x="45720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7" name="TextBox 6"/>
          <p:cNvSpPr txBox="1"/>
          <p:nvPr/>
        </p:nvSpPr>
        <p:spPr>
          <a:xfrm>
            <a:off x="111556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Races prevented</a:t>
            </a:r>
          </a:p>
        </p:txBody>
      </p:sp>
      <p:sp>
        <p:nvSpPr>
          <p:cNvPr id="8" name="TextBox 7"/>
          <p:cNvSpPr txBox="1"/>
          <p:nvPr/>
        </p:nvSpPr>
        <p:spPr>
          <a:xfrm>
            <a:off x="64008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Each worker owns its folder’s child list</a:t>
            </a:r>
          </a:p>
          <a:p>
            <a:pPr algn="l">
              <a:spcAft>
                <a:spcPts val="300"/>
              </a:spcAft>
            </a:pPr>
            <a:r>
              <a:rPr sz="1400" b="0" i="0">
                <a:solidFill>
                  <a:srgbClr val="5B6B80"/>
                </a:solidFill>
                <a:latin typeface="Consolas"/>
              </a:rPr>
              <a:t>scanner.cpp</a:t>
            </a:r>
          </a:p>
        </p:txBody>
      </p:sp>
      <p:sp>
        <p:nvSpPr>
          <p:cNvPr id="9" name="Rounded Rectangle 8"/>
          <p:cNvSpPr/>
          <p:nvPr/>
        </p:nvSpPr>
        <p:spPr>
          <a:xfrm>
            <a:off x="326136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595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1" name="TextBox 10"/>
          <p:cNvSpPr txBox="1"/>
          <p:nvPr/>
        </p:nvSpPr>
        <p:spPr>
          <a:xfrm>
            <a:off x="391972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Deadlock avoided</a:t>
            </a:r>
          </a:p>
        </p:txBody>
      </p:sp>
      <p:sp>
        <p:nvSpPr>
          <p:cNvPr id="12" name="TextBox 11"/>
          <p:cNvSpPr txBox="1"/>
          <p:nvPr/>
        </p:nvSpPr>
        <p:spPr>
          <a:xfrm>
            <a:off x="344424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No nested locks; no lock during I/O</a:t>
            </a:r>
          </a:p>
          <a:p>
            <a:pPr algn="l">
              <a:spcAft>
                <a:spcPts val="300"/>
              </a:spcAft>
            </a:pPr>
            <a:r>
              <a:rPr sz="1400" b="0" i="0">
                <a:solidFill>
                  <a:srgbClr val="5B6B80"/>
                </a:solidFill>
                <a:latin typeface="Consolas"/>
              </a:rPr>
              <a:t>scanner.cpp</a:t>
            </a:r>
          </a:p>
        </p:txBody>
      </p:sp>
      <p:sp>
        <p:nvSpPr>
          <p:cNvPr id="13" name="Rounded Rectangle 12"/>
          <p:cNvSpPr/>
          <p:nvPr/>
        </p:nvSpPr>
        <p:spPr>
          <a:xfrm>
            <a:off x="606552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3011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5" name="TextBox 14"/>
          <p:cNvSpPr txBox="1"/>
          <p:nvPr/>
        </p:nvSpPr>
        <p:spPr>
          <a:xfrm>
            <a:off x="672388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Fairness, load balance</a:t>
            </a:r>
          </a:p>
        </p:txBody>
      </p:sp>
      <p:sp>
        <p:nvSpPr>
          <p:cNvPr id="16" name="TextBox 15"/>
          <p:cNvSpPr txBox="1"/>
          <p:nvPr/>
        </p:nvSpPr>
        <p:spPr>
          <a:xfrm>
            <a:off x="624840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Shared LIFO queue: idle workers take next folder</a:t>
            </a:r>
          </a:p>
          <a:p>
            <a:pPr algn="l">
              <a:spcAft>
                <a:spcPts val="300"/>
              </a:spcAft>
            </a:pPr>
            <a:r>
              <a:rPr sz="1400" b="0" i="0">
                <a:solidFill>
                  <a:srgbClr val="5B6B80"/>
                </a:solidFill>
                <a:latin typeface="Consolas"/>
              </a:rPr>
              <a:t>scanner.cpp</a:t>
            </a:r>
          </a:p>
        </p:txBody>
      </p:sp>
      <p:sp>
        <p:nvSpPr>
          <p:cNvPr id="17" name="Rounded Rectangle 16"/>
          <p:cNvSpPr/>
          <p:nvPr/>
        </p:nvSpPr>
        <p:spPr>
          <a:xfrm>
            <a:off x="45720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9" name="TextBox 18"/>
          <p:cNvSpPr txBox="1"/>
          <p:nvPr/>
        </p:nvSpPr>
        <p:spPr>
          <a:xfrm>
            <a:off x="111556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Thread-safe UI</a:t>
            </a:r>
          </a:p>
        </p:txBody>
      </p:sp>
      <p:sp>
        <p:nvSpPr>
          <p:cNvPr id="20" name="TextBox 19"/>
          <p:cNvSpPr txBox="1"/>
          <p:nvPr/>
        </p:nvSpPr>
        <p:spPr>
          <a:xfrm>
            <a:off x="64008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Workers post messages; UI owns windows</a:t>
            </a:r>
          </a:p>
          <a:p>
            <a:pPr algn="l">
              <a:spcAft>
                <a:spcPts val="300"/>
              </a:spcAft>
            </a:pPr>
            <a:r>
              <a:rPr sz="1400" b="0" i="0">
                <a:solidFill>
                  <a:srgbClr val="5B6B80"/>
                </a:solidFill>
                <a:latin typeface="Consolas"/>
              </a:rPr>
              <a:t>preview.cpp</a:t>
            </a:r>
          </a:p>
        </p:txBody>
      </p:sp>
      <p:sp>
        <p:nvSpPr>
          <p:cNvPr id="21" name="Rounded Rectangle 20"/>
          <p:cNvSpPr/>
          <p:nvPr/>
        </p:nvSpPr>
        <p:spPr>
          <a:xfrm>
            <a:off x="326136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2595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3" name="TextBox 22"/>
          <p:cNvSpPr txBox="1"/>
          <p:nvPr/>
        </p:nvSpPr>
        <p:spPr>
          <a:xfrm>
            <a:off x="391972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Cancellation</a:t>
            </a:r>
          </a:p>
        </p:txBody>
      </p:sp>
      <p:sp>
        <p:nvSpPr>
          <p:cNvPr id="24" name="TextBox 23"/>
          <p:cNvSpPr txBox="1"/>
          <p:nvPr/>
        </p:nvSpPr>
        <p:spPr>
          <a:xfrm>
            <a:off x="344424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Atomic flag checked between folders</a:t>
            </a:r>
          </a:p>
          <a:p>
            <a:pPr algn="l">
              <a:spcAft>
                <a:spcPts val="300"/>
              </a:spcAft>
            </a:pPr>
            <a:r>
              <a:rPr sz="1400" b="0" i="0">
                <a:solidFill>
                  <a:srgbClr val="5B6B80"/>
                </a:solidFill>
                <a:latin typeface="Consolas"/>
              </a:rPr>
              <a:t>scanner.cpp m_cancel</a:t>
            </a:r>
          </a:p>
        </p:txBody>
      </p:sp>
      <p:sp>
        <p:nvSpPr>
          <p:cNvPr id="25" name="Rounded Rectangle 24"/>
          <p:cNvSpPr/>
          <p:nvPr/>
        </p:nvSpPr>
        <p:spPr>
          <a:xfrm>
            <a:off x="606552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3011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7" name="TextBox 26"/>
          <p:cNvSpPr txBox="1"/>
          <p:nvPr/>
        </p:nvSpPr>
        <p:spPr>
          <a:xfrm>
            <a:off x="672388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Amdahl, contention</a:t>
            </a:r>
          </a:p>
        </p:txBody>
      </p:sp>
      <p:sp>
        <p:nvSpPr>
          <p:cNvPr id="28" name="TextBox 27"/>
          <p:cNvSpPr txBox="1"/>
          <p:nvPr/>
        </p:nvSpPr>
        <p:spPr>
          <a:xfrm>
            <a:off x="624840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8 threads 8.2 s; 12 threads 11.8 s</a:t>
            </a:r>
          </a:p>
          <a:p>
            <a:pPr algn="l">
              <a:spcAft>
                <a:spcPts val="300"/>
              </a:spcAft>
            </a:pPr>
            <a:r>
              <a:rPr sz="1400" b="0" i="0">
                <a:solidFill>
                  <a:srgbClr val="5B6B80"/>
                </a:solidFill>
                <a:latin typeface="Consolas"/>
              </a:rPr>
              <a:t>warm C:, measured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Memory and scheduling</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18</a:t>
            </a:r>
          </a:p>
        </p:txBody>
      </p:sp>
      <p:sp>
        <p:nvSpPr>
          <p:cNvPr id="5" name="Rounded Rectangle 4"/>
          <p:cNvSpPr/>
          <p:nvPr/>
        </p:nvSpPr>
        <p:spPr>
          <a:xfrm>
            <a:off x="45720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7" name="TextBox 6"/>
          <p:cNvSpPr txBox="1"/>
          <p:nvPr/>
        </p:nvSpPr>
        <p:spPr>
          <a:xfrm>
            <a:off x="111556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I/O and CPU priority</a:t>
            </a:r>
          </a:p>
        </p:txBody>
      </p:sp>
      <p:sp>
        <p:nvSpPr>
          <p:cNvPr id="8" name="TextBox 7"/>
          <p:cNvSpPr txBox="1"/>
          <p:nvPr/>
        </p:nvSpPr>
        <p:spPr>
          <a:xfrm>
            <a:off x="64008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Background mode lowers CPU and I/O priority</a:t>
            </a:r>
          </a:p>
          <a:p>
            <a:pPr algn="l">
              <a:spcAft>
                <a:spcPts val="300"/>
              </a:spcAft>
            </a:pPr>
            <a:r>
              <a:rPr sz="1400" b="0" i="0">
                <a:solidFill>
                  <a:srgbClr val="5B6B80"/>
                </a:solidFill>
                <a:latin typeface="Consolas"/>
              </a:rPr>
              <a:t>scanner.cpp</a:t>
            </a:r>
          </a:p>
        </p:txBody>
      </p:sp>
      <p:sp>
        <p:nvSpPr>
          <p:cNvPr id="9" name="Rounded Rectangle 8"/>
          <p:cNvSpPr/>
          <p:nvPr/>
        </p:nvSpPr>
        <p:spPr>
          <a:xfrm>
            <a:off x="326136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595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1" name="TextBox 10"/>
          <p:cNvSpPr txBox="1"/>
          <p:nvPr/>
        </p:nvSpPr>
        <p:spPr>
          <a:xfrm>
            <a:off x="391972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Context switches</a:t>
            </a:r>
          </a:p>
        </p:txBody>
      </p:sp>
      <p:sp>
        <p:nvSpPr>
          <p:cNvPr id="12" name="TextBox 11"/>
          <p:cNvSpPr txBox="1"/>
          <p:nvPr/>
        </p:nvSpPr>
        <p:spPr>
          <a:xfrm>
            <a:off x="344424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More threads than cores costs time: 12 &gt; 8</a:t>
            </a:r>
          </a:p>
          <a:p>
            <a:pPr algn="l">
              <a:spcAft>
                <a:spcPts val="300"/>
              </a:spcAft>
            </a:pPr>
            <a:r>
              <a:rPr sz="1400" b="0" i="0">
                <a:solidFill>
                  <a:srgbClr val="5B6B80"/>
                </a:solidFill>
                <a:latin typeface="Consolas"/>
              </a:rPr>
              <a:t>measured on C:</a:t>
            </a:r>
          </a:p>
        </p:txBody>
      </p:sp>
      <p:sp>
        <p:nvSpPr>
          <p:cNvPr id="13" name="Rounded Rectangle 12"/>
          <p:cNvSpPr/>
          <p:nvPr/>
        </p:nvSpPr>
        <p:spPr>
          <a:xfrm>
            <a:off x="606552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3011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5" name="TextBox 14"/>
          <p:cNvSpPr txBox="1"/>
          <p:nvPr/>
        </p:nvSpPr>
        <p:spPr>
          <a:xfrm>
            <a:off x="672388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Virtual memory</a:t>
            </a:r>
          </a:p>
        </p:txBody>
      </p:sp>
      <p:sp>
        <p:nvSpPr>
          <p:cNvPr id="16" name="TextBox 15"/>
          <p:cNvSpPr txBox="1"/>
          <p:nvPr/>
        </p:nvSpPr>
        <p:spPr>
          <a:xfrm>
            <a:off x="624840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Full disk: the pagefile can’t grow, less RAM</a:t>
            </a:r>
          </a:p>
          <a:p>
            <a:pPr algn="l">
              <a:spcAft>
                <a:spcPts val="300"/>
              </a:spcAft>
            </a:pPr>
            <a:r>
              <a:rPr sz="1400" b="0" i="0">
                <a:solidFill>
                  <a:srgbClr val="5B6B80"/>
                </a:solidFill>
                <a:latin typeface="Consolas"/>
              </a:rPr>
              <a:t>why we cap memory</a:t>
            </a:r>
          </a:p>
        </p:txBody>
      </p:sp>
      <p:sp>
        <p:nvSpPr>
          <p:cNvPr id="17" name="Rounded Rectangle 16"/>
          <p:cNvSpPr/>
          <p:nvPr/>
        </p:nvSpPr>
        <p:spPr>
          <a:xfrm>
            <a:off x="45720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9" name="TextBox 18"/>
          <p:cNvSpPr txBox="1"/>
          <p:nvPr/>
        </p:nvSpPr>
        <p:spPr>
          <a:xfrm>
            <a:off x="111556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Working set</a:t>
            </a:r>
          </a:p>
        </p:txBody>
      </p:sp>
      <p:sp>
        <p:nvSpPr>
          <p:cNvPr id="20" name="TextBox 19"/>
          <p:cNvSpPr txBox="1"/>
          <p:nvPr/>
        </p:nvSpPr>
        <p:spPr>
          <a:xfrm>
            <a:off x="64008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Peak tracked; tray trims to 1.6 MB private</a:t>
            </a:r>
          </a:p>
          <a:p>
            <a:pPr algn="l">
              <a:spcAft>
                <a:spcPts val="300"/>
              </a:spcAft>
            </a:pPr>
            <a:r>
              <a:rPr sz="1400" b="0" i="0">
                <a:solidFill>
                  <a:srgbClr val="5B6B80"/>
                </a:solidFill>
                <a:latin typeface="Consolas"/>
              </a:rPr>
              <a:t>common.cpp, tray.cpp</a:t>
            </a:r>
          </a:p>
        </p:txBody>
      </p:sp>
      <p:sp>
        <p:nvSpPr>
          <p:cNvPr id="21" name="Rounded Rectangle 20"/>
          <p:cNvSpPr/>
          <p:nvPr/>
        </p:nvSpPr>
        <p:spPr>
          <a:xfrm>
            <a:off x="326136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2595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3" name="TextBox 22"/>
          <p:cNvSpPr txBox="1"/>
          <p:nvPr/>
        </p:nvSpPr>
        <p:spPr>
          <a:xfrm>
            <a:off x="391972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Thrashing avoided</a:t>
            </a:r>
          </a:p>
        </p:txBody>
      </p:sp>
      <p:sp>
        <p:nvSpPr>
          <p:cNvPr id="24" name="TextBox 23"/>
          <p:cNvSpPr txBox="1"/>
          <p:nvPr/>
        </p:nvSpPr>
        <p:spPr>
          <a:xfrm>
            <a:off x="344424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Memory budget folds small files into one node</a:t>
            </a:r>
          </a:p>
          <a:p>
            <a:pPr algn="l">
              <a:spcAft>
                <a:spcPts val="300"/>
              </a:spcAft>
            </a:pPr>
            <a:r>
              <a:rPr sz="1400" b="0" i="0">
                <a:solidFill>
                  <a:srgbClr val="5B6B80"/>
                </a:solidFill>
                <a:latin typeface="Consolas"/>
              </a:rPr>
              <a:t>scanner.cpp</a:t>
            </a:r>
          </a:p>
        </p:txBody>
      </p:sp>
      <p:sp>
        <p:nvSpPr>
          <p:cNvPr id="25" name="Rounded Rectangle 24"/>
          <p:cNvSpPr/>
          <p:nvPr/>
        </p:nvSpPr>
        <p:spPr>
          <a:xfrm>
            <a:off x="606552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3011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7" name="TextBox 26"/>
          <p:cNvSpPr txBox="1"/>
          <p:nvPr/>
        </p:nvSpPr>
        <p:spPr>
          <a:xfrm>
            <a:off x="672388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Arena allocation</a:t>
            </a:r>
          </a:p>
        </p:txBody>
      </p:sp>
      <p:sp>
        <p:nvSpPr>
          <p:cNvPr id="28" name="TextBox 27"/>
          <p:cNvSpPr txBox="1"/>
          <p:nvPr/>
        </p:nvSpPr>
        <p:spPr>
          <a:xfrm>
            <a:off x="624840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1 MB chunks, 64-byte nodes, no per-file malloc</a:t>
            </a:r>
          </a:p>
          <a:p>
            <a:pPr algn="l">
              <a:spcAft>
                <a:spcPts val="300"/>
              </a:spcAft>
            </a:pPr>
            <a:r>
              <a:rPr sz="1400" b="0" i="0">
                <a:solidFill>
                  <a:srgbClr val="5B6B80"/>
                </a:solidFill>
                <a:latin typeface="Consolas"/>
              </a:rPr>
              <a:t>scanner.h ScanTree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Protection and system calls</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19</a:t>
            </a:r>
          </a:p>
        </p:txBody>
      </p:sp>
      <p:sp>
        <p:nvSpPr>
          <p:cNvPr id="5" name="Rounded Rectangle 4"/>
          <p:cNvSpPr/>
          <p:nvPr/>
        </p:nvSpPr>
        <p:spPr>
          <a:xfrm>
            <a:off x="45720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7" name="TextBox 6"/>
          <p:cNvSpPr txBox="1"/>
          <p:nvPr/>
        </p:nvSpPr>
        <p:spPr>
          <a:xfrm>
            <a:off x="111556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System calls</a:t>
            </a:r>
          </a:p>
        </p:txBody>
      </p:sp>
      <p:sp>
        <p:nvSpPr>
          <p:cNvPr id="8" name="TextBox 7"/>
          <p:cNvSpPr txBox="1"/>
          <p:nvPr/>
        </p:nvSpPr>
        <p:spPr>
          <a:xfrm>
            <a:off x="64008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NtQueryDirectoryFile and NTFS FSCTLs</a:t>
            </a:r>
          </a:p>
          <a:p>
            <a:pPr algn="l">
              <a:spcAft>
                <a:spcPts val="300"/>
              </a:spcAft>
            </a:pPr>
            <a:r>
              <a:rPr sz="1400" b="0" i="0">
                <a:solidFill>
                  <a:srgbClr val="5B6B80"/>
                </a:solidFill>
                <a:latin typeface="Consolas"/>
              </a:rPr>
              <a:t>kernel mode ↔ user mode</a:t>
            </a:r>
          </a:p>
        </p:txBody>
      </p:sp>
      <p:sp>
        <p:nvSpPr>
          <p:cNvPr id="9" name="Rounded Rectangle 8"/>
          <p:cNvSpPr/>
          <p:nvPr/>
        </p:nvSpPr>
        <p:spPr>
          <a:xfrm>
            <a:off x="326136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595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1" name="TextBox 10"/>
          <p:cNvSpPr txBox="1"/>
          <p:nvPr/>
        </p:nvSpPr>
        <p:spPr>
          <a:xfrm>
            <a:off x="391972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Hiberfil and swapfile</a:t>
            </a:r>
          </a:p>
        </p:txBody>
      </p:sp>
      <p:sp>
        <p:nvSpPr>
          <p:cNvPr id="12" name="TextBox 11"/>
          <p:cNvSpPr txBox="1"/>
          <p:nvPr/>
        </p:nvSpPr>
        <p:spPr>
          <a:xfrm>
            <a:off x="344424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Shown with the safe Windows setting</a:t>
            </a:r>
          </a:p>
          <a:p>
            <a:pPr algn="l">
              <a:spcAft>
                <a:spcPts val="300"/>
              </a:spcAft>
            </a:pPr>
            <a:r>
              <a:rPr sz="1400" b="0" i="0">
                <a:solidFill>
                  <a:srgbClr val="5B6B80"/>
                </a:solidFill>
                <a:latin typeface="Consolas"/>
              </a:rPr>
              <a:t>cleanup.cpp</a:t>
            </a:r>
          </a:p>
        </p:txBody>
      </p:sp>
      <p:sp>
        <p:nvSpPr>
          <p:cNvPr id="13" name="Rounded Rectangle 12"/>
          <p:cNvSpPr/>
          <p:nvPr/>
        </p:nvSpPr>
        <p:spPr>
          <a:xfrm>
            <a:off x="606552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30112" y="1216151"/>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5" name="TextBox 14"/>
          <p:cNvSpPr txBox="1"/>
          <p:nvPr/>
        </p:nvSpPr>
        <p:spPr>
          <a:xfrm>
            <a:off x="672388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Privilege and UAC</a:t>
            </a:r>
          </a:p>
        </p:txBody>
      </p:sp>
      <p:sp>
        <p:nvSpPr>
          <p:cNvPr id="16" name="TextBox 15"/>
          <p:cNvSpPr txBox="1"/>
          <p:nvPr/>
        </p:nvSpPr>
        <p:spPr>
          <a:xfrm>
            <a:off x="624840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Raw volume read needs admin; else fallback</a:t>
            </a:r>
          </a:p>
          <a:p>
            <a:pPr algn="l">
              <a:spcAft>
                <a:spcPts val="300"/>
              </a:spcAft>
            </a:pPr>
            <a:r>
              <a:rPr sz="1400" b="0" i="0">
                <a:solidFill>
                  <a:srgbClr val="5B6B80"/>
                </a:solidFill>
                <a:latin typeface="Consolas"/>
              </a:rPr>
              <a:t>scanner.cpp</a:t>
            </a:r>
          </a:p>
        </p:txBody>
      </p:sp>
      <p:sp>
        <p:nvSpPr>
          <p:cNvPr id="17" name="Rounded Rectangle 16"/>
          <p:cNvSpPr/>
          <p:nvPr/>
        </p:nvSpPr>
        <p:spPr>
          <a:xfrm>
            <a:off x="45720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9" name="TextBox 18"/>
          <p:cNvSpPr txBox="1"/>
          <p:nvPr/>
        </p:nvSpPr>
        <p:spPr>
          <a:xfrm>
            <a:off x="111556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Access control</a:t>
            </a:r>
          </a:p>
        </p:txBody>
      </p:sp>
      <p:sp>
        <p:nvSpPr>
          <p:cNvPr id="20" name="TextBox 19"/>
          <p:cNvSpPr txBox="1"/>
          <p:nvPr/>
        </p:nvSpPr>
        <p:spPr>
          <a:xfrm>
            <a:off x="64008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520 folders access-denied: counted, not fatal</a:t>
            </a:r>
          </a:p>
          <a:p>
            <a:pPr algn="l">
              <a:spcAft>
                <a:spcPts val="300"/>
              </a:spcAft>
            </a:pPr>
            <a:r>
              <a:rPr sz="1400" b="0" i="0">
                <a:solidFill>
                  <a:srgbClr val="5B6B80"/>
                </a:solidFill>
                <a:latin typeface="Consolas"/>
              </a:rPr>
              <a:t>scanner.cpp NF_ERROR</a:t>
            </a:r>
          </a:p>
        </p:txBody>
      </p:sp>
      <p:sp>
        <p:nvSpPr>
          <p:cNvPr id="21" name="Rounded Rectangle 20"/>
          <p:cNvSpPr/>
          <p:nvPr/>
        </p:nvSpPr>
        <p:spPr>
          <a:xfrm>
            <a:off x="326136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2595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3" name="TextBox 22"/>
          <p:cNvSpPr txBox="1"/>
          <p:nvPr/>
        </p:nvSpPr>
        <p:spPr>
          <a:xfrm>
            <a:off x="391972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Protected files</a:t>
            </a:r>
          </a:p>
        </p:txBody>
      </p:sp>
      <p:sp>
        <p:nvSpPr>
          <p:cNvPr id="24" name="TextBox 23"/>
          <p:cNvSpPr txBox="1"/>
          <p:nvPr/>
        </p:nvSpPr>
        <p:spPr>
          <a:xfrm>
            <a:off x="344424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Delete disabled for Windows-managed paths</a:t>
            </a:r>
          </a:p>
          <a:p>
            <a:pPr algn="l">
              <a:spcAft>
                <a:spcPts val="300"/>
              </a:spcAft>
            </a:pPr>
            <a:r>
              <a:rPr sz="1400" b="0" i="0">
                <a:solidFill>
                  <a:srgbClr val="5B6B80"/>
                </a:solidFill>
                <a:latin typeface="Consolas"/>
              </a:rPr>
              <a:t>cleanup.cpp</a:t>
            </a:r>
          </a:p>
        </p:txBody>
      </p:sp>
      <p:sp>
        <p:nvSpPr>
          <p:cNvPr id="25" name="Rounded Rectangle 24"/>
          <p:cNvSpPr/>
          <p:nvPr/>
        </p:nvSpPr>
        <p:spPr>
          <a:xfrm>
            <a:off x="606552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30112" y="3136392"/>
            <a:ext cx="384048" cy="384048"/>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7" name="TextBox 26"/>
          <p:cNvSpPr txBox="1"/>
          <p:nvPr/>
        </p:nvSpPr>
        <p:spPr>
          <a:xfrm>
            <a:off x="672388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Message loop, timers</a:t>
            </a:r>
          </a:p>
        </p:txBody>
      </p:sp>
      <p:sp>
        <p:nvSpPr>
          <p:cNvPr id="28" name="TextBox 27"/>
          <p:cNvSpPr txBox="1"/>
          <p:nvPr/>
        </p:nvSpPr>
        <p:spPr>
          <a:xfrm>
            <a:off x="624840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WM_APP messages; 30 s SetTimer poll in tray</a:t>
            </a:r>
          </a:p>
          <a:p>
            <a:pPr algn="l">
              <a:spcAft>
                <a:spcPts val="300"/>
              </a:spcAft>
            </a:pPr>
            <a:r>
              <a:rPr sz="1400" b="0" i="0">
                <a:solidFill>
                  <a:srgbClr val="5B6B80"/>
                </a:solidFill>
                <a:latin typeface="Consolas"/>
              </a:rPr>
              <a:t>tray.cpp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Built for 0 bytes free</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20</a:t>
            </a:r>
          </a:p>
        </p:txBody>
      </p:sp>
      <p:sp>
        <p:nvSpPr>
          <p:cNvPr id="5" name="Rounded Rectangle 4"/>
          <p:cNvSpPr/>
          <p:nvPr/>
        </p:nvSpPr>
        <p:spPr>
          <a:xfrm>
            <a:off x="457200" y="1024128"/>
            <a:ext cx="4023360" cy="530352"/>
          </a:xfrm>
          <a:prstGeom prst="roundRect">
            <a:avLst>
              <a:gd name="adj" fmla="val 1379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8640" y="1097280"/>
            <a:ext cx="384048" cy="384048"/>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7" name="TextBox 6"/>
          <p:cNvSpPr txBox="1"/>
          <p:nvPr/>
        </p:nvSpPr>
        <p:spPr>
          <a:xfrm>
            <a:off x="1051560" y="1024128"/>
            <a:ext cx="1600200" cy="530352"/>
          </a:xfrm>
          <a:prstGeom prst="rect">
            <a:avLst/>
          </a:prstGeom>
          <a:noFill/>
        </p:spPr>
        <p:txBody>
          <a:bodyPr wrap="square" lIns="0" rIns="0" tIns="0" bIns="0" anchor="ctr">
            <a:spAutoFit/>
          </a:bodyPr>
          <a:lstStyle/>
          <a:p>
            <a:pPr algn="l"/>
            <a:r>
              <a:rPr sz="1800" b="1" i="0">
                <a:solidFill>
                  <a:srgbClr val="0F1B2D"/>
                </a:solidFill>
                <a:latin typeface="Calibri"/>
              </a:rPr>
              <a:t>Zero-write scan</a:t>
            </a:r>
          </a:p>
        </p:txBody>
      </p:sp>
      <p:sp>
        <p:nvSpPr>
          <p:cNvPr id="8" name="TextBox 7"/>
          <p:cNvSpPr txBox="1"/>
          <p:nvPr/>
        </p:nvSpPr>
        <p:spPr>
          <a:xfrm>
            <a:off x="2651760" y="1024128"/>
            <a:ext cx="1783080" cy="530352"/>
          </a:xfrm>
          <a:prstGeom prst="rect">
            <a:avLst/>
          </a:prstGeom>
          <a:noFill/>
        </p:spPr>
        <p:txBody>
          <a:bodyPr wrap="square" lIns="0" rIns="0" tIns="0" bIns="0" anchor="ctr">
            <a:spAutoFit/>
          </a:bodyPr>
          <a:lstStyle/>
          <a:p>
            <a:pPr algn="l"/>
            <a:r>
              <a:rPr sz="1600" b="0" i="0">
                <a:solidFill>
                  <a:srgbClr val="5B6B80"/>
                </a:solidFill>
                <a:latin typeface="Calibri"/>
              </a:rPr>
              <a:t>Tree only in RAM</a:t>
            </a:r>
          </a:p>
        </p:txBody>
      </p:sp>
      <p:sp>
        <p:nvSpPr>
          <p:cNvPr id="9" name="Rounded Rectangle 8"/>
          <p:cNvSpPr/>
          <p:nvPr/>
        </p:nvSpPr>
        <p:spPr>
          <a:xfrm>
            <a:off x="4663440" y="1024128"/>
            <a:ext cx="4023360" cy="530352"/>
          </a:xfrm>
          <a:prstGeom prst="roundRect">
            <a:avLst>
              <a:gd name="adj" fmla="val 1379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54879" y="1097280"/>
            <a:ext cx="384048" cy="384048"/>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1" name="TextBox 10"/>
          <p:cNvSpPr txBox="1"/>
          <p:nvPr/>
        </p:nvSpPr>
        <p:spPr>
          <a:xfrm>
            <a:off x="5257800" y="1024128"/>
            <a:ext cx="1600200" cy="530352"/>
          </a:xfrm>
          <a:prstGeom prst="rect">
            <a:avLst/>
          </a:prstGeom>
          <a:noFill/>
        </p:spPr>
        <p:txBody>
          <a:bodyPr wrap="square" lIns="0" rIns="0" tIns="0" bIns="0" anchor="ctr">
            <a:spAutoFit/>
          </a:bodyPr>
          <a:lstStyle/>
          <a:p>
            <a:pPr algn="l"/>
            <a:r>
              <a:rPr sz="1800" b="1" i="0">
                <a:solidFill>
                  <a:srgbClr val="0F1B2D"/>
                </a:solidFill>
                <a:latin typeface="Calibri"/>
              </a:rPr>
              <a:t>64-byte nodes</a:t>
            </a:r>
          </a:p>
        </p:txBody>
      </p:sp>
      <p:sp>
        <p:nvSpPr>
          <p:cNvPr id="12" name="TextBox 11"/>
          <p:cNvSpPr txBox="1"/>
          <p:nvPr/>
        </p:nvSpPr>
        <p:spPr>
          <a:xfrm>
            <a:off x="6858000" y="1024128"/>
            <a:ext cx="1783080" cy="530352"/>
          </a:xfrm>
          <a:prstGeom prst="rect">
            <a:avLst/>
          </a:prstGeom>
          <a:noFill/>
        </p:spPr>
        <p:txBody>
          <a:bodyPr wrap="square" lIns="0" rIns="0" tIns="0" bIns="0" anchor="ctr">
            <a:spAutoFit/>
          </a:bodyPr>
          <a:lstStyle/>
          <a:p>
            <a:pPr algn="l"/>
            <a:r>
              <a:rPr sz="1600" b="0" i="0">
                <a:solidFill>
                  <a:srgbClr val="5B6B80"/>
                </a:solidFill>
                <a:latin typeface="Calibri"/>
              </a:rPr>
              <a:t>Arenas, no per-file malloc</a:t>
            </a:r>
          </a:p>
        </p:txBody>
      </p:sp>
      <p:sp>
        <p:nvSpPr>
          <p:cNvPr id="13" name="Rounded Rectangle 12"/>
          <p:cNvSpPr/>
          <p:nvPr/>
        </p:nvSpPr>
        <p:spPr>
          <a:xfrm>
            <a:off x="457200" y="1645920"/>
            <a:ext cx="4023360" cy="530352"/>
          </a:xfrm>
          <a:prstGeom prst="roundRect">
            <a:avLst>
              <a:gd name="adj" fmla="val 1379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48640" y="1719072"/>
            <a:ext cx="384048" cy="384048"/>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5" name="TextBox 14"/>
          <p:cNvSpPr txBox="1"/>
          <p:nvPr/>
        </p:nvSpPr>
        <p:spPr>
          <a:xfrm>
            <a:off x="1051560" y="1645920"/>
            <a:ext cx="1600200" cy="530352"/>
          </a:xfrm>
          <a:prstGeom prst="rect">
            <a:avLst/>
          </a:prstGeom>
          <a:noFill/>
        </p:spPr>
        <p:txBody>
          <a:bodyPr wrap="square" lIns="0" rIns="0" tIns="0" bIns="0" anchor="ctr">
            <a:spAutoFit/>
          </a:bodyPr>
          <a:lstStyle/>
          <a:p>
            <a:pPr algn="l"/>
            <a:r>
              <a:rPr sz="1800" b="1" i="0">
                <a:solidFill>
                  <a:srgbClr val="0F1B2D"/>
                </a:solidFill>
                <a:latin typeface="Calibri"/>
              </a:rPr>
              <a:t>Memory budget</a:t>
            </a:r>
          </a:p>
        </p:txBody>
      </p:sp>
      <p:sp>
        <p:nvSpPr>
          <p:cNvPr id="16" name="TextBox 15"/>
          <p:cNvSpPr txBox="1"/>
          <p:nvPr/>
        </p:nvSpPr>
        <p:spPr>
          <a:xfrm>
            <a:off x="2651760" y="1645920"/>
            <a:ext cx="1783080" cy="530352"/>
          </a:xfrm>
          <a:prstGeom prst="rect">
            <a:avLst/>
          </a:prstGeom>
          <a:noFill/>
        </p:spPr>
        <p:txBody>
          <a:bodyPr wrap="square" lIns="0" rIns="0" tIns="0" bIns="0" anchor="ctr">
            <a:spAutoFit/>
          </a:bodyPr>
          <a:lstStyle/>
          <a:p>
            <a:pPr algn="l"/>
            <a:r>
              <a:rPr sz="1600" b="0" i="0">
                <a:solidFill>
                  <a:srgbClr val="5B6B80"/>
                </a:solidFill>
                <a:latin typeface="Calibri"/>
              </a:rPr>
              <a:t>Fold “[N small files]”</a:t>
            </a:r>
          </a:p>
        </p:txBody>
      </p:sp>
      <p:sp>
        <p:nvSpPr>
          <p:cNvPr id="17" name="Rounded Rectangle 16"/>
          <p:cNvSpPr/>
          <p:nvPr/>
        </p:nvSpPr>
        <p:spPr>
          <a:xfrm>
            <a:off x="4663440" y="1645920"/>
            <a:ext cx="4023360" cy="530352"/>
          </a:xfrm>
          <a:prstGeom prst="roundRect">
            <a:avLst>
              <a:gd name="adj" fmla="val 1379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754879" y="1719072"/>
            <a:ext cx="384048" cy="384048"/>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19" name="TextBox 18"/>
          <p:cNvSpPr txBox="1"/>
          <p:nvPr/>
        </p:nvSpPr>
        <p:spPr>
          <a:xfrm>
            <a:off x="5257800" y="1645920"/>
            <a:ext cx="1600200" cy="530352"/>
          </a:xfrm>
          <a:prstGeom prst="rect">
            <a:avLst/>
          </a:prstGeom>
          <a:noFill/>
        </p:spPr>
        <p:txBody>
          <a:bodyPr wrap="square" lIns="0" rIns="0" tIns="0" bIns="0" anchor="ctr">
            <a:spAutoFit/>
          </a:bodyPr>
          <a:lstStyle/>
          <a:p>
            <a:pPr algn="l"/>
            <a:r>
              <a:rPr sz="1800" b="1" i="0">
                <a:solidFill>
                  <a:srgbClr val="0F1B2D"/>
                </a:solidFill>
                <a:latin typeface="Calibri"/>
              </a:rPr>
              <a:t>No path strings</a:t>
            </a:r>
          </a:p>
        </p:txBody>
      </p:sp>
      <p:sp>
        <p:nvSpPr>
          <p:cNvPr id="20" name="TextBox 19"/>
          <p:cNvSpPr txBox="1"/>
          <p:nvPr/>
        </p:nvSpPr>
        <p:spPr>
          <a:xfrm>
            <a:off x="6858000" y="1645920"/>
            <a:ext cx="1783080" cy="530352"/>
          </a:xfrm>
          <a:prstGeom prst="rect">
            <a:avLst/>
          </a:prstGeom>
          <a:noFill/>
        </p:spPr>
        <p:txBody>
          <a:bodyPr wrap="square" lIns="0" rIns="0" tIns="0" bIns="0" anchor="ctr">
            <a:spAutoFit/>
          </a:bodyPr>
          <a:lstStyle/>
          <a:p>
            <a:pPr algn="l"/>
            <a:r>
              <a:rPr sz="1600" b="0" i="0">
                <a:solidFill>
                  <a:srgbClr val="5B6B80"/>
                </a:solidFill>
                <a:latin typeface="Calibri"/>
              </a:rPr>
              <a:t>Built only when needed</a:t>
            </a:r>
          </a:p>
        </p:txBody>
      </p:sp>
      <p:sp>
        <p:nvSpPr>
          <p:cNvPr id="21" name="Rounded Rectangle 20"/>
          <p:cNvSpPr/>
          <p:nvPr/>
        </p:nvSpPr>
        <p:spPr>
          <a:xfrm>
            <a:off x="457200" y="2267712"/>
            <a:ext cx="4023360" cy="530352"/>
          </a:xfrm>
          <a:prstGeom prst="roundRect">
            <a:avLst>
              <a:gd name="adj" fmla="val 1379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48640" y="2340864"/>
            <a:ext cx="384048" cy="384048"/>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3" name="TextBox 22"/>
          <p:cNvSpPr txBox="1"/>
          <p:nvPr/>
        </p:nvSpPr>
        <p:spPr>
          <a:xfrm>
            <a:off x="1051560" y="2267712"/>
            <a:ext cx="1600200" cy="530352"/>
          </a:xfrm>
          <a:prstGeom prst="rect">
            <a:avLst/>
          </a:prstGeom>
          <a:noFill/>
        </p:spPr>
        <p:txBody>
          <a:bodyPr wrap="square" lIns="0" rIns="0" tIns="0" bIns="0" anchor="ctr">
            <a:spAutoFit/>
          </a:bodyPr>
          <a:lstStyle/>
          <a:p>
            <a:pPr algn="l"/>
            <a:r>
              <a:rPr sz="1800" b="1" i="0">
                <a:solidFill>
                  <a:srgbClr val="0F1B2D"/>
                </a:solidFill>
                <a:latin typeface="Calibri"/>
              </a:rPr>
              <a:t>Streaming</a:t>
            </a:r>
          </a:p>
        </p:txBody>
      </p:sp>
      <p:sp>
        <p:nvSpPr>
          <p:cNvPr id="24" name="TextBox 23"/>
          <p:cNvSpPr txBox="1"/>
          <p:nvPr/>
        </p:nvSpPr>
        <p:spPr>
          <a:xfrm>
            <a:off x="2651760" y="2267712"/>
            <a:ext cx="1783080" cy="530352"/>
          </a:xfrm>
          <a:prstGeom prst="rect">
            <a:avLst/>
          </a:prstGeom>
          <a:noFill/>
        </p:spPr>
        <p:txBody>
          <a:bodyPr wrap="square" lIns="0" rIns="0" tIns="0" bIns="0" anchor="ctr">
            <a:spAutoFit/>
          </a:bodyPr>
          <a:lstStyle/>
          <a:p>
            <a:pPr algn="l"/>
            <a:r>
              <a:rPr sz="1600" b="0" i="0">
                <a:solidFill>
                  <a:srgbClr val="5B6B80"/>
                </a:solidFill>
                <a:latin typeface="Calibri"/>
              </a:rPr>
              <a:t>Sizes appear during scan</a:t>
            </a:r>
          </a:p>
        </p:txBody>
      </p:sp>
      <p:sp>
        <p:nvSpPr>
          <p:cNvPr id="25" name="Rounded Rectangle 24"/>
          <p:cNvSpPr/>
          <p:nvPr/>
        </p:nvSpPr>
        <p:spPr>
          <a:xfrm>
            <a:off x="4663440" y="2267712"/>
            <a:ext cx="4023360" cy="530352"/>
          </a:xfrm>
          <a:prstGeom prst="roundRect">
            <a:avLst>
              <a:gd name="adj" fmla="val 1379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54879" y="2340864"/>
            <a:ext cx="384048" cy="384048"/>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27" name="TextBox 26"/>
          <p:cNvSpPr txBox="1"/>
          <p:nvPr/>
        </p:nvSpPr>
        <p:spPr>
          <a:xfrm>
            <a:off x="5257800" y="2267712"/>
            <a:ext cx="1600200" cy="530352"/>
          </a:xfrm>
          <a:prstGeom prst="rect">
            <a:avLst/>
          </a:prstGeom>
          <a:noFill/>
        </p:spPr>
        <p:txBody>
          <a:bodyPr wrap="square" lIns="0" rIns="0" tIns="0" bIns="0" anchor="ctr">
            <a:spAutoFit/>
          </a:bodyPr>
          <a:lstStyle/>
          <a:p>
            <a:pPr algn="l"/>
            <a:r>
              <a:rPr sz="1800" b="1" i="0">
                <a:solidFill>
                  <a:srgbClr val="0F1B2D"/>
                </a:solidFill>
                <a:latin typeface="Calibri"/>
              </a:rPr>
              <a:t>Reserve file</a:t>
            </a:r>
          </a:p>
        </p:txBody>
      </p:sp>
      <p:sp>
        <p:nvSpPr>
          <p:cNvPr id="28" name="TextBox 27"/>
          <p:cNvSpPr txBox="1"/>
          <p:nvPr/>
        </p:nvSpPr>
        <p:spPr>
          <a:xfrm>
            <a:off x="6858000" y="2267712"/>
            <a:ext cx="1783080" cy="530352"/>
          </a:xfrm>
          <a:prstGeom prst="rect">
            <a:avLst/>
          </a:prstGeom>
          <a:noFill/>
        </p:spPr>
        <p:txBody>
          <a:bodyPr wrap="square" lIns="0" rIns="0" tIns="0" bIns="0" anchor="ctr">
            <a:spAutoFit/>
          </a:bodyPr>
          <a:lstStyle/>
          <a:p>
            <a:pPr algn="l"/>
            <a:r>
              <a:rPr sz="1600" b="0" i="0">
                <a:solidFill>
                  <a:srgbClr val="5B6B80"/>
                </a:solidFill>
                <a:latin typeface="Calibri"/>
              </a:rPr>
              <a:t>512 MB back on demand</a:t>
            </a:r>
          </a:p>
        </p:txBody>
      </p:sp>
      <p:sp>
        <p:nvSpPr>
          <p:cNvPr id="29" name="Rounded Rectangle 28"/>
          <p:cNvSpPr/>
          <p:nvPr/>
        </p:nvSpPr>
        <p:spPr>
          <a:xfrm>
            <a:off x="457200" y="2889504"/>
            <a:ext cx="4023360" cy="530352"/>
          </a:xfrm>
          <a:prstGeom prst="roundRect">
            <a:avLst>
              <a:gd name="adj" fmla="val 1379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8640" y="2962656"/>
            <a:ext cx="384048" cy="384048"/>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31" name="TextBox 30"/>
          <p:cNvSpPr txBox="1"/>
          <p:nvPr/>
        </p:nvSpPr>
        <p:spPr>
          <a:xfrm>
            <a:off x="1051560" y="2889504"/>
            <a:ext cx="1600200" cy="530352"/>
          </a:xfrm>
          <a:prstGeom prst="rect">
            <a:avLst/>
          </a:prstGeom>
          <a:noFill/>
        </p:spPr>
        <p:txBody>
          <a:bodyPr wrap="square" lIns="0" rIns="0" tIns="0" bIns="0" anchor="ctr">
            <a:spAutoFit/>
          </a:bodyPr>
          <a:lstStyle/>
          <a:p>
            <a:pPr algn="l"/>
            <a:r>
              <a:rPr sz="1800" b="1" i="0">
                <a:solidFill>
                  <a:srgbClr val="0F1B2D"/>
                </a:solidFill>
                <a:latin typeface="Calibri"/>
              </a:rPr>
              <a:t>Work volume</a:t>
            </a:r>
          </a:p>
        </p:txBody>
      </p:sp>
      <p:sp>
        <p:nvSpPr>
          <p:cNvPr id="32" name="TextBox 31"/>
          <p:cNvSpPr txBox="1"/>
          <p:nvPr/>
        </p:nvSpPr>
        <p:spPr>
          <a:xfrm>
            <a:off x="2651760" y="2889504"/>
            <a:ext cx="1783080" cy="530352"/>
          </a:xfrm>
          <a:prstGeom prst="rect">
            <a:avLst/>
          </a:prstGeom>
          <a:noFill/>
        </p:spPr>
        <p:txBody>
          <a:bodyPr wrap="square" lIns="0" rIns="0" tIns="0" bIns="0" anchor="ctr">
            <a:spAutoFit/>
          </a:bodyPr>
          <a:lstStyle/>
          <a:p>
            <a:pPr algn="l"/>
            <a:r>
              <a:rPr sz="1600" b="0" i="0">
                <a:solidFill>
                  <a:srgbClr val="5B6B80"/>
                </a:solidFill>
                <a:latin typeface="Calibri"/>
              </a:rPr>
              <a:t>Writes go to another drive</a:t>
            </a:r>
          </a:p>
        </p:txBody>
      </p:sp>
      <p:sp>
        <p:nvSpPr>
          <p:cNvPr id="33" name="Rounded Rectangle 32"/>
          <p:cNvSpPr/>
          <p:nvPr/>
        </p:nvSpPr>
        <p:spPr>
          <a:xfrm>
            <a:off x="4663440" y="2889504"/>
            <a:ext cx="4023360" cy="530352"/>
          </a:xfrm>
          <a:prstGeom prst="roundRect">
            <a:avLst>
              <a:gd name="adj" fmla="val 1379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54879" y="2962656"/>
            <a:ext cx="384048" cy="384048"/>
          </a:xfrm>
          <a:prstGeom prst="ellipse">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0">
                <a:solidFill>
                  <a:srgbClr val="FFFFFF"/>
                </a:solidFill>
                <a:latin typeface="Segoe MDL2 Assets"/>
              </a:rPr>
              <a:t></a:t>
            </a:r>
          </a:p>
        </p:txBody>
      </p:sp>
      <p:sp>
        <p:nvSpPr>
          <p:cNvPr id="35" name="TextBox 34"/>
          <p:cNvSpPr txBox="1"/>
          <p:nvPr/>
        </p:nvSpPr>
        <p:spPr>
          <a:xfrm>
            <a:off x="5257800" y="2889504"/>
            <a:ext cx="1600200" cy="530352"/>
          </a:xfrm>
          <a:prstGeom prst="rect">
            <a:avLst/>
          </a:prstGeom>
          <a:noFill/>
        </p:spPr>
        <p:txBody>
          <a:bodyPr wrap="square" lIns="0" rIns="0" tIns="0" bIns="0" anchor="ctr">
            <a:spAutoFit/>
          </a:bodyPr>
          <a:lstStyle/>
          <a:p>
            <a:pPr algn="l"/>
            <a:r>
              <a:rPr sz="1800" b="1" i="0">
                <a:solidFill>
                  <a:srgbClr val="0F1B2D"/>
                </a:solidFill>
                <a:latin typeface="Calibri"/>
              </a:rPr>
              <a:t>One static exe</a:t>
            </a:r>
          </a:p>
        </p:txBody>
      </p:sp>
      <p:sp>
        <p:nvSpPr>
          <p:cNvPr id="36" name="TextBox 35"/>
          <p:cNvSpPr txBox="1"/>
          <p:nvPr/>
        </p:nvSpPr>
        <p:spPr>
          <a:xfrm>
            <a:off x="6858000" y="2889504"/>
            <a:ext cx="1783080" cy="530352"/>
          </a:xfrm>
          <a:prstGeom prst="rect">
            <a:avLst/>
          </a:prstGeom>
          <a:noFill/>
        </p:spPr>
        <p:txBody>
          <a:bodyPr wrap="square" lIns="0" rIns="0" tIns="0" bIns="0" anchor="ctr">
            <a:spAutoFit/>
          </a:bodyPr>
          <a:lstStyle/>
          <a:p>
            <a:pPr algn="l"/>
            <a:r>
              <a:rPr sz="1600" b="0" i="0">
                <a:solidFill>
                  <a:srgbClr val="5B6B80"/>
                </a:solidFill>
                <a:latin typeface="Calibri"/>
              </a:rPr>
              <a:t>No runtimes or DLLs</a:t>
            </a:r>
          </a:p>
        </p:txBody>
      </p:sp>
      <p:sp>
        <p:nvSpPr>
          <p:cNvPr id="37" name="Rounded Rectangle 36"/>
          <p:cNvSpPr/>
          <p:nvPr/>
        </p:nvSpPr>
        <p:spPr>
          <a:xfrm>
            <a:off x="457200" y="3611880"/>
            <a:ext cx="2615184" cy="1024128"/>
          </a:xfrm>
          <a:prstGeom prst="roundRect">
            <a:avLst>
              <a:gd name="adj" fmla="val 7142"/>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639312"/>
            <a:ext cx="2615184" cy="548640"/>
          </a:xfrm>
          <a:prstGeom prst="rect">
            <a:avLst/>
          </a:prstGeom>
          <a:noFill/>
        </p:spPr>
        <p:txBody>
          <a:bodyPr wrap="square" lIns="0" rIns="0" tIns="0" bIns="0" anchor="t">
            <a:spAutoFit/>
          </a:bodyPr>
          <a:lstStyle/>
          <a:p>
            <a:pPr algn="ctr"/>
            <a:r>
              <a:rPr sz="3000" b="1" i="0">
                <a:solidFill>
                  <a:srgbClr val="F5A623"/>
                </a:solidFill>
                <a:latin typeface="Cambria"/>
              </a:rPr>
              <a:t>255 MB</a:t>
            </a:r>
          </a:p>
        </p:txBody>
      </p:sp>
      <p:sp>
        <p:nvSpPr>
          <p:cNvPr id="39" name="TextBox 38"/>
          <p:cNvSpPr txBox="1"/>
          <p:nvPr/>
        </p:nvSpPr>
        <p:spPr>
          <a:xfrm>
            <a:off x="457200" y="4206240"/>
            <a:ext cx="2615184" cy="365760"/>
          </a:xfrm>
          <a:prstGeom prst="rect">
            <a:avLst/>
          </a:prstGeom>
          <a:noFill/>
        </p:spPr>
        <p:txBody>
          <a:bodyPr wrap="square" lIns="0" rIns="0" tIns="0" bIns="0" anchor="t">
            <a:spAutoFit/>
          </a:bodyPr>
          <a:lstStyle/>
          <a:p>
            <a:pPr algn="ctr"/>
            <a:r>
              <a:rPr sz="1500" b="0" i="0">
                <a:solidFill>
                  <a:srgbClr val="FFFFFF"/>
                </a:solidFill>
                <a:latin typeface="Calibri"/>
              </a:rPr>
              <a:t>peak RAM, full C: scan</a:t>
            </a:r>
          </a:p>
        </p:txBody>
      </p:sp>
      <p:sp>
        <p:nvSpPr>
          <p:cNvPr id="40" name="Rounded Rectangle 39"/>
          <p:cNvSpPr/>
          <p:nvPr/>
        </p:nvSpPr>
        <p:spPr>
          <a:xfrm>
            <a:off x="3264408" y="3611880"/>
            <a:ext cx="2615184" cy="1024128"/>
          </a:xfrm>
          <a:prstGeom prst="roundRect">
            <a:avLst>
              <a:gd name="adj" fmla="val 7142"/>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64408" y="3639312"/>
            <a:ext cx="2615184" cy="548640"/>
          </a:xfrm>
          <a:prstGeom prst="rect">
            <a:avLst/>
          </a:prstGeom>
          <a:noFill/>
        </p:spPr>
        <p:txBody>
          <a:bodyPr wrap="square" lIns="0" rIns="0" tIns="0" bIns="0" anchor="t">
            <a:spAutoFit/>
          </a:bodyPr>
          <a:lstStyle/>
          <a:p>
            <a:pPr algn="ctr"/>
            <a:r>
              <a:rPr sz="3000" b="1" i="0">
                <a:solidFill>
                  <a:srgbClr val="F5A623"/>
                </a:solidFill>
                <a:latin typeface="Cambria"/>
              </a:rPr>
              <a:t>1.6 MB</a:t>
            </a:r>
          </a:p>
        </p:txBody>
      </p:sp>
      <p:sp>
        <p:nvSpPr>
          <p:cNvPr id="42" name="TextBox 41"/>
          <p:cNvSpPr txBox="1"/>
          <p:nvPr/>
        </p:nvSpPr>
        <p:spPr>
          <a:xfrm>
            <a:off x="3264408" y="4206240"/>
            <a:ext cx="2615184" cy="365760"/>
          </a:xfrm>
          <a:prstGeom prst="rect">
            <a:avLst/>
          </a:prstGeom>
          <a:noFill/>
        </p:spPr>
        <p:txBody>
          <a:bodyPr wrap="square" lIns="0" rIns="0" tIns="0" bIns="0" anchor="t">
            <a:spAutoFit/>
          </a:bodyPr>
          <a:lstStyle/>
          <a:p>
            <a:pPr algn="ctr"/>
            <a:r>
              <a:rPr sz="1500" b="0" i="0">
                <a:solidFill>
                  <a:srgbClr val="FFFFFF"/>
                </a:solidFill>
                <a:latin typeface="Calibri"/>
              </a:rPr>
              <a:t>tray alert process</a:t>
            </a:r>
          </a:p>
        </p:txBody>
      </p:sp>
      <p:sp>
        <p:nvSpPr>
          <p:cNvPr id="43" name="Rounded Rectangle 42"/>
          <p:cNvSpPr/>
          <p:nvPr/>
        </p:nvSpPr>
        <p:spPr>
          <a:xfrm>
            <a:off x="6071616" y="3611880"/>
            <a:ext cx="2615184" cy="1024128"/>
          </a:xfrm>
          <a:prstGeom prst="roundRect">
            <a:avLst>
              <a:gd name="adj" fmla="val 7142"/>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71616" y="3639312"/>
            <a:ext cx="2615184" cy="548640"/>
          </a:xfrm>
          <a:prstGeom prst="rect">
            <a:avLst/>
          </a:prstGeom>
          <a:noFill/>
        </p:spPr>
        <p:txBody>
          <a:bodyPr wrap="square" lIns="0" rIns="0" tIns="0" bIns="0" anchor="t">
            <a:spAutoFit/>
          </a:bodyPr>
          <a:lstStyle/>
          <a:p>
            <a:pPr algn="ctr"/>
            <a:r>
              <a:rPr sz="3000" b="1" i="0">
                <a:solidFill>
                  <a:srgbClr val="F5A623"/>
                </a:solidFill>
                <a:latin typeface="Cambria"/>
              </a:rPr>
              <a:t>19 bytes</a:t>
            </a:r>
          </a:p>
        </p:txBody>
      </p:sp>
      <p:sp>
        <p:nvSpPr>
          <p:cNvPr id="45" name="TextBox 44"/>
          <p:cNvSpPr txBox="1"/>
          <p:nvPr/>
        </p:nvSpPr>
        <p:spPr>
          <a:xfrm>
            <a:off x="6071616" y="4206240"/>
            <a:ext cx="2615184" cy="365760"/>
          </a:xfrm>
          <a:prstGeom prst="rect">
            <a:avLst/>
          </a:prstGeom>
          <a:noFill/>
        </p:spPr>
        <p:txBody>
          <a:bodyPr wrap="square" lIns="0" rIns="0" tIns="0" bIns="0" anchor="t">
            <a:spAutoFit/>
          </a:bodyPr>
          <a:lstStyle/>
          <a:p>
            <a:pPr algn="ctr"/>
            <a:r>
              <a:rPr sz="1500" b="0" i="0">
                <a:solidFill>
                  <a:srgbClr val="FFFFFF"/>
                </a:solidFill>
                <a:latin typeface="Calibri"/>
              </a:rPr>
              <a:t>written per scan (0 in Rescue)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Algorithms (1/2)</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21</a:t>
            </a:r>
          </a:p>
        </p:txBody>
      </p:sp>
      <p:sp>
        <p:nvSpPr>
          <p:cNvPr id="5" name="Rounded Rectangle 4"/>
          <p:cNvSpPr/>
          <p:nvPr/>
        </p:nvSpPr>
        <p:spPr>
          <a:xfrm>
            <a:off x="45720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16151"/>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01</a:t>
            </a:r>
          </a:p>
        </p:txBody>
      </p:sp>
      <p:sp>
        <p:nvSpPr>
          <p:cNvPr id="7" name="TextBox 6"/>
          <p:cNvSpPr txBox="1"/>
          <p:nvPr/>
        </p:nvSpPr>
        <p:spPr>
          <a:xfrm>
            <a:off x="111556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Parallel tree traversal</a:t>
            </a:r>
          </a:p>
        </p:txBody>
      </p:sp>
      <p:sp>
        <p:nvSpPr>
          <p:cNvPr id="8" name="TextBox 7"/>
          <p:cNvSpPr txBox="1"/>
          <p:nvPr/>
        </p:nvSpPr>
        <p:spPr>
          <a:xfrm>
            <a:off x="64008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DFS over a shared LIFO queue; O(n)</a:t>
            </a:r>
          </a:p>
          <a:p>
            <a:pPr algn="l">
              <a:spcAft>
                <a:spcPts val="300"/>
              </a:spcAft>
            </a:pPr>
            <a:r>
              <a:rPr sz="1400" b="0" i="0">
                <a:solidFill>
                  <a:srgbClr val="5B6B80"/>
                </a:solidFill>
                <a:latin typeface="Consolas"/>
              </a:rPr>
              <a:t>scanner.cpp</a:t>
            </a:r>
          </a:p>
        </p:txBody>
      </p:sp>
      <p:sp>
        <p:nvSpPr>
          <p:cNvPr id="9" name="Rounded Rectangle 8"/>
          <p:cNvSpPr/>
          <p:nvPr/>
        </p:nvSpPr>
        <p:spPr>
          <a:xfrm>
            <a:off x="326136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5952" y="1216151"/>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02</a:t>
            </a:r>
          </a:p>
        </p:txBody>
      </p:sp>
      <p:sp>
        <p:nvSpPr>
          <p:cNvPr id="11" name="TextBox 10"/>
          <p:cNvSpPr txBox="1"/>
          <p:nvPr/>
        </p:nvSpPr>
        <p:spPr>
          <a:xfrm>
            <a:off x="391972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MFT parsing</a:t>
            </a:r>
          </a:p>
        </p:txBody>
      </p:sp>
      <p:sp>
        <p:nvSpPr>
          <p:cNvPr id="12" name="TextBox 11"/>
          <p:cNvSpPr txBox="1"/>
          <p:nvPr/>
        </p:nvSpPr>
        <p:spPr>
          <a:xfrm>
            <a:off x="344424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Fixups, then attributes per record; O(records)</a:t>
            </a:r>
          </a:p>
          <a:p>
            <a:pPr algn="l">
              <a:spcAft>
                <a:spcPts val="300"/>
              </a:spcAft>
            </a:pPr>
            <a:r>
              <a:rPr sz="1400" b="0" i="0">
                <a:solidFill>
                  <a:srgbClr val="5B6B80"/>
                </a:solidFill>
                <a:latin typeface="Consolas"/>
              </a:rPr>
              <a:t>scanner_mft.cpp</a:t>
            </a:r>
          </a:p>
        </p:txBody>
      </p:sp>
      <p:sp>
        <p:nvSpPr>
          <p:cNvPr id="13" name="Rounded Rectangle 12"/>
          <p:cNvSpPr/>
          <p:nvPr/>
        </p:nvSpPr>
        <p:spPr>
          <a:xfrm>
            <a:off x="6065520" y="105156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30112" y="1216151"/>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03</a:t>
            </a:r>
          </a:p>
        </p:txBody>
      </p:sp>
      <p:sp>
        <p:nvSpPr>
          <p:cNvPr id="15" name="TextBox 14"/>
          <p:cNvSpPr txBox="1"/>
          <p:nvPr/>
        </p:nvSpPr>
        <p:spPr>
          <a:xfrm>
            <a:off x="6723888" y="1161288"/>
            <a:ext cx="1844040" cy="658368"/>
          </a:xfrm>
          <a:prstGeom prst="rect">
            <a:avLst/>
          </a:prstGeom>
          <a:noFill/>
        </p:spPr>
        <p:txBody>
          <a:bodyPr wrap="square" lIns="0" rIns="0" tIns="0" bIns="0" anchor="ctr">
            <a:spAutoFit/>
          </a:bodyPr>
          <a:lstStyle/>
          <a:p>
            <a:pPr algn="l"/>
            <a:r>
              <a:rPr sz="2200" b="1" i="0">
                <a:solidFill>
                  <a:srgbClr val="0F1B2D"/>
                </a:solidFill>
                <a:latin typeface="Calibri"/>
              </a:rPr>
              <a:t>Size roll-up</a:t>
            </a:r>
          </a:p>
        </p:txBody>
      </p:sp>
      <p:sp>
        <p:nvSpPr>
          <p:cNvPr id="16" name="TextBox 15"/>
          <p:cNvSpPr txBox="1"/>
          <p:nvPr/>
        </p:nvSpPr>
        <p:spPr>
          <a:xfrm>
            <a:off x="6248400" y="1892807"/>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Post-order pass, children first; O(n)</a:t>
            </a:r>
          </a:p>
          <a:p>
            <a:pPr algn="l">
              <a:spcAft>
                <a:spcPts val="300"/>
              </a:spcAft>
            </a:pPr>
            <a:r>
              <a:rPr sz="1400" b="0" i="0">
                <a:solidFill>
                  <a:srgbClr val="5B6B80"/>
                </a:solidFill>
                <a:latin typeface="Consolas"/>
              </a:rPr>
              <a:t>scanner.cpp RollUp</a:t>
            </a:r>
          </a:p>
        </p:txBody>
      </p:sp>
      <p:sp>
        <p:nvSpPr>
          <p:cNvPr id="17" name="Rounded Rectangle 16"/>
          <p:cNvSpPr/>
          <p:nvPr/>
        </p:nvSpPr>
        <p:spPr>
          <a:xfrm>
            <a:off x="45720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313639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04</a:t>
            </a:r>
          </a:p>
        </p:txBody>
      </p:sp>
      <p:sp>
        <p:nvSpPr>
          <p:cNvPr id="19" name="TextBox 18"/>
          <p:cNvSpPr txBox="1"/>
          <p:nvPr/>
        </p:nvSpPr>
        <p:spPr>
          <a:xfrm>
            <a:off x="111556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Squarified treemap</a:t>
            </a:r>
          </a:p>
        </p:txBody>
      </p:sp>
      <p:sp>
        <p:nvSpPr>
          <p:cNvPr id="20" name="TextBox 19"/>
          <p:cNvSpPr txBox="1"/>
          <p:nvPr/>
        </p:nvSpPr>
        <p:spPr>
          <a:xfrm>
            <a:off x="64008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Rows by worst aspect ratio; cushion shading</a:t>
            </a:r>
          </a:p>
          <a:p>
            <a:pPr algn="l">
              <a:spcAft>
                <a:spcPts val="300"/>
              </a:spcAft>
            </a:pPr>
            <a:r>
              <a:rPr sz="1400" b="0" i="0">
                <a:solidFill>
                  <a:srgbClr val="5B6B80"/>
                </a:solidFill>
                <a:latin typeface="Consolas"/>
              </a:rPr>
              <a:t>viz.cpp Treemap</a:t>
            </a:r>
          </a:p>
        </p:txBody>
      </p:sp>
      <p:sp>
        <p:nvSpPr>
          <p:cNvPr id="21" name="Rounded Rectangle 20"/>
          <p:cNvSpPr/>
          <p:nvPr/>
        </p:nvSpPr>
        <p:spPr>
          <a:xfrm>
            <a:off x="326136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25952" y="313639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05</a:t>
            </a:r>
          </a:p>
        </p:txBody>
      </p:sp>
      <p:sp>
        <p:nvSpPr>
          <p:cNvPr id="23" name="TextBox 22"/>
          <p:cNvSpPr txBox="1"/>
          <p:nvPr/>
        </p:nvSpPr>
        <p:spPr>
          <a:xfrm>
            <a:off x="391972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Sunburst partition</a:t>
            </a:r>
          </a:p>
        </p:txBody>
      </p:sp>
      <p:sp>
        <p:nvSpPr>
          <p:cNvPr id="24" name="TextBox 23"/>
          <p:cNvSpPr txBox="1"/>
          <p:nvPr/>
        </p:nvSpPr>
        <p:spPr>
          <a:xfrm>
            <a:off x="344424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Angle ∝ size; tiny slices grouped</a:t>
            </a:r>
          </a:p>
          <a:p>
            <a:pPr algn="l">
              <a:spcAft>
                <a:spcPts val="300"/>
              </a:spcAft>
            </a:pPr>
            <a:r>
              <a:rPr sz="1400" b="0" i="0">
                <a:solidFill>
                  <a:srgbClr val="5B6B80"/>
                </a:solidFill>
                <a:latin typeface="Consolas"/>
              </a:rPr>
              <a:t>viz.cpp Sunburst</a:t>
            </a:r>
          </a:p>
        </p:txBody>
      </p:sp>
      <p:sp>
        <p:nvSpPr>
          <p:cNvPr id="25" name="Rounded Rectangle 24"/>
          <p:cNvSpPr/>
          <p:nvPr/>
        </p:nvSpPr>
        <p:spPr>
          <a:xfrm>
            <a:off x="6065520" y="2971800"/>
            <a:ext cx="262128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30112" y="313639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06</a:t>
            </a:r>
          </a:p>
        </p:txBody>
      </p:sp>
      <p:sp>
        <p:nvSpPr>
          <p:cNvPr id="27" name="TextBox 26"/>
          <p:cNvSpPr txBox="1"/>
          <p:nvPr/>
        </p:nvSpPr>
        <p:spPr>
          <a:xfrm>
            <a:off x="6723888" y="3081528"/>
            <a:ext cx="1844040" cy="658368"/>
          </a:xfrm>
          <a:prstGeom prst="rect">
            <a:avLst/>
          </a:prstGeom>
          <a:noFill/>
        </p:spPr>
        <p:txBody>
          <a:bodyPr wrap="square" lIns="0" rIns="0" tIns="0" bIns="0" anchor="ctr">
            <a:spAutoFit/>
          </a:bodyPr>
          <a:lstStyle/>
          <a:p>
            <a:pPr algn="l"/>
            <a:r>
              <a:rPr sz="2200" b="1" i="0">
                <a:solidFill>
                  <a:srgbClr val="0F1B2D"/>
                </a:solidFill>
                <a:latin typeface="Calibri"/>
              </a:rPr>
              <a:t>Duplicate funnel</a:t>
            </a:r>
          </a:p>
        </p:txBody>
      </p:sp>
      <p:sp>
        <p:nvSpPr>
          <p:cNvPr id="28" name="TextBox 27"/>
          <p:cNvSpPr txBox="1"/>
          <p:nvPr/>
        </p:nvSpPr>
        <p:spPr>
          <a:xfrm>
            <a:off x="6248400" y="3813048"/>
            <a:ext cx="227380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Size → 64 KB hash → full hash</a:t>
            </a:r>
          </a:p>
          <a:p>
            <a:pPr algn="l">
              <a:spcAft>
                <a:spcPts val="300"/>
              </a:spcAft>
            </a:pPr>
            <a:r>
              <a:rPr sz="1400" b="0" i="0">
                <a:solidFill>
                  <a:srgbClr val="5B6B80"/>
                </a:solidFill>
                <a:latin typeface="Consolas"/>
              </a:rPr>
              <a:t>insights.cpp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Algorithms (2/2)</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22</a:t>
            </a:r>
          </a:p>
        </p:txBody>
      </p:sp>
      <p:sp>
        <p:nvSpPr>
          <p:cNvPr id="5" name="Rounded Rectangle 4"/>
          <p:cNvSpPr/>
          <p:nvPr/>
        </p:nvSpPr>
        <p:spPr>
          <a:xfrm>
            <a:off x="457200" y="1051560"/>
            <a:ext cx="402336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 y="1216151"/>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07</a:t>
            </a:r>
          </a:p>
        </p:txBody>
      </p:sp>
      <p:sp>
        <p:nvSpPr>
          <p:cNvPr id="7" name="TextBox 6"/>
          <p:cNvSpPr txBox="1"/>
          <p:nvPr/>
        </p:nvSpPr>
        <p:spPr>
          <a:xfrm>
            <a:off x="1115568" y="1161288"/>
            <a:ext cx="3246120" cy="658368"/>
          </a:xfrm>
          <a:prstGeom prst="rect">
            <a:avLst/>
          </a:prstGeom>
          <a:noFill/>
        </p:spPr>
        <p:txBody>
          <a:bodyPr wrap="square" lIns="0" rIns="0" tIns="0" bIns="0" anchor="ctr">
            <a:spAutoFit/>
          </a:bodyPr>
          <a:lstStyle/>
          <a:p>
            <a:pPr algn="l"/>
            <a:r>
              <a:rPr sz="2200" b="1" i="0">
                <a:solidFill>
                  <a:srgbClr val="0F1B2D"/>
                </a:solidFill>
                <a:latin typeface="Calibri"/>
              </a:rPr>
              <a:t>Stale-file classifier</a:t>
            </a:r>
          </a:p>
        </p:txBody>
      </p:sp>
      <p:sp>
        <p:nvSpPr>
          <p:cNvPr id="8" name="TextBox 7"/>
          <p:cNvSpPr txBox="1"/>
          <p:nvPr/>
        </p:nvSpPr>
        <p:spPr>
          <a:xfrm>
            <a:off x="640080" y="1892807"/>
            <a:ext cx="367588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Last access, or last write if updates are off</a:t>
            </a:r>
          </a:p>
          <a:p>
            <a:pPr algn="l">
              <a:spcAft>
                <a:spcPts val="300"/>
              </a:spcAft>
            </a:pPr>
            <a:r>
              <a:rPr sz="1400" b="0" i="0">
                <a:solidFill>
                  <a:srgbClr val="5B6B80"/>
                </a:solidFill>
                <a:latin typeface="Consolas"/>
              </a:rPr>
              <a:t>insights.cpp</a:t>
            </a:r>
          </a:p>
        </p:txBody>
      </p:sp>
      <p:sp>
        <p:nvSpPr>
          <p:cNvPr id="9" name="Rounded Rectangle 8"/>
          <p:cNvSpPr/>
          <p:nvPr/>
        </p:nvSpPr>
        <p:spPr>
          <a:xfrm>
            <a:off x="4663440" y="1051560"/>
            <a:ext cx="402336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28032" y="1216151"/>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08</a:t>
            </a:r>
          </a:p>
        </p:txBody>
      </p:sp>
      <p:sp>
        <p:nvSpPr>
          <p:cNvPr id="11" name="TextBox 10"/>
          <p:cNvSpPr txBox="1"/>
          <p:nvPr/>
        </p:nvSpPr>
        <p:spPr>
          <a:xfrm>
            <a:off x="5321808" y="1161288"/>
            <a:ext cx="3246120" cy="658368"/>
          </a:xfrm>
          <a:prstGeom prst="rect">
            <a:avLst/>
          </a:prstGeom>
          <a:noFill/>
        </p:spPr>
        <p:txBody>
          <a:bodyPr wrap="square" lIns="0" rIns="0" tIns="0" bIns="0" anchor="ctr">
            <a:spAutoFit/>
          </a:bodyPr>
          <a:lstStyle/>
          <a:p>
            <a:pPr algn="l"/>
            <a:r>
              <a:rPr sz="2200" b="1" i="0">
                <a:solidFill>
                  <a:srgbClr val="0F1B2D"/>
                </a:solidFill>
                <a:latin typeface="Calibri"/>
              </a:rPr>
              <a:t>Extent merging</a:t>
            </a:r>
          </a:p>
        </p:txBody>
      </p:sp>
      <p:sp>
        <p:nvSpPr>
          <p:cNvPr id="12" name="TextBox 11"/>
          <p:cNvSpPr txBox="1"/>
          <p:nvPr/>
        </p:nvSpPr>
        <p:spPr>
          <a:xfrm>
            <a:off x="4846320" y="1892807"/>
            <a:ext cx="367588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Join runs where next LCN = end of previous</a:t>
            </a:r>
          </a:p>
          <a:p>
            <a:pPr algn="l">
              <a:spcAft>
                <a:spcPts val="300"/>
              </a:spcAft>
            </a:pPr>
            <a:r>
              <a:rPr sz="1400" b="0" i="0">
                <a:solidFill>
                  <a:srgbClr val="5B6B80"/>
                </a:solidFill>
                <a:latin typeface="Consolas"/>
              </a:rPr>
              <a:t>internals.cpp</a:t>
            </a:r>
          </a:p>
        </p:txBody>
      </p:sp>
      <p:sp>
        <p:nvSpPr>
          <p:cNvPr id="13" name="Rounded Rectangle 12"/>
          <p:cNvSpPr/>
          <p:nvPr/>
        </p:nvSpPr>
        <p:spPr>
          <a:xfrm>
            <a:off x="457200" y="2971800"/>
            <a:ext cx="402336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313639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09</a:t>
            </a:r>
          </a:p>
        </p:txBody>
      </p:sp>
      <p:sp>
        <p:nvSpPr>
          <p:cNvPr id="15" name="TextBox 14"/>
          <p:cNvSpPr txBox="1"/>
          <p:nvPr/>
        </p:nvSpPr>
        <p:spPr>
          <a:xfrm>
            <a:off x="1115568" y="3081528"/>
            <a:ext cx="3246120" cy="658368"/>
          </a:xfrm>
          <a:prstGeom prst="rect">
            <a:avLst/>
          </a:prstGeom>
          <a:noFill/>
        </p:spPr>
        <p:txBody>
          <a:bodyPr wrap="square" lIns="0" rIns="0" tIns="0" bIns="0" anchor="ctr">
            <a:spAutoFit/>
          </a:bodyPr>
          <a:lstStyle/>
          <a:p>
            <a:pPr algn="l"/>
            <a:r>
              <a:rPr sz="2200" b="1" i="0">
                <a:solidFill>
                  <a:srgbClr val="0F1B2D"/>
                </a:solidFill>
                <a:latin typeface="Calibri"/>
              </a:rPr>
              <a:t>Top-K largest</a:t>
            </a:r>
          </a:p>
        </p:txBody>
      </p:sp>
      <p:sp>
        <p:nvSpPr>
          <p:cNvPr id="16" name="TextBox 15"/>
          <p:cNvSpPr txBox="1"/>
          <p:nvPr/>
        </p:nvSpPr>
        <p:spPr>
          <a:xfrm>
            <a:off x="640080" y="3813048"/>
            <a:ext cx="367588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std::partial_sort (heap select); O(n log k)</a:t>
            </a:r>
          </a:p>
          <a:p>
            <a:pPr algn="l">
              <a:spcAft>
                <a:spcPts val="300"/>
              </a:spcAft>
            </a:pPr>
            <a:r>
              <a:rPr sz="1400" b="0" i="0">
                <a:solidFill>
                  <a:srgbClr val="5B6B80"/>
                </a:solidFill>
                <a:latin typeface="Consolas"/>
              </a:rPr>
              <a:t>internals.cpp</a:t>
            </a:r>
          </a:p>
        </p:txBody>
      </p:sp>
      <p:sp>
        <p:nvSpPr>
          <p:cNvPr id="17" name="Rounded Rectangle 16"/>
          <p:cNvSpPr/>
          <p:nvPr/>
        </p:nvSpPr>
        <p:spPr>
          <a:xfrm>
            <a:off x="4663440" y="2971800"/>
            <a:ext cx="4023360" cy="1737360"/>
          </a:xfrm>
          <a:prstGeom prst="roundRect">
            <a:avLst>
              <a:gd name="adj" fmla="val 4210"/>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828032" y="313639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10</a:t>
            </a:r>
          </a:p>
        </p:txBody>
      </p:sp>
      <p:sp>
        <p:nvSpPr>
          <p:cNvPr id="19" name="TextBox 18"/>
          <p:cNvSpPr txBox="1"/>
          <p:nvPr/>
        </p:nvSpPr>
        <p:spPr>
          <a:xfrm>
            <a:off x="5321808" y="3081528"/>
            <a:ext cx="3246120" cy="658368"/>
          </a:xfrm>
          <a:prstGeom prst="rect">
            <a:avLst/>
          </a:prstGeom>
          <a:noFill/>
        </p:spPr>
        <p:txBody>
          <a:bodyPr wrap="square" lIns="0" rIns="0" tIns="0" bIns="0" anchor="ctr">
            <a:spAutoFit/>
          </a:bodyPr>
          <a:lstStyle/>
          <a:p>
            <a:pPr algn="l"/>
            <a:r>
              <a:rPr sz="2200" b="1" i="0">
                <a:solidFill>
                  <a:srgbClr val="0F1B2D"/>
                </a:solidFill>
                <a:latin typeface="Calibri"/>
              </a:rPr>
              <a:t>Alerts with hysteresis</a:t>
            </a:r>
          </a:p>
        </p:txBody>
      </p:sp>
      <p:sp>
        <p:nvSpPr>
          <p:cNvPr id="20" name="TextBox 19"/>
          <p:cNvSpPr txBox="1"/>
          <p:nvPr/>
        </p:nvSpPr>
        <p:spPr>
          <a:xfrm>
            <a:off x="4846320" y="3813048"/>
            <a:ext cx="3675888" cy="841247"/>
          </a:xfrm>
          <a:prstGeom prst="rect">
            <a:avLst/>
          </a:prstGeom>
          <a:noFill/>
        </p:spPr>
        <p:txBody>
          <a:bodyPr wrap="square" lIns="0" rIns="0" tIns="0" bIns="0" anchor="t">
            <a:spAutoFit/>
          </a:bodyPr>
          <a:lstStyle/>
          <a:p>
            <a:pPr algn="l">
              <a:spcAft>
                <a:spcPts val="300"/>
              </a:spcAft>
            </a:pPr>
            <a:r>
              <a:rPr sz="1600" b="0" i="0">
                <a:solidFill>
                  <a:srgbClr val="0F1B2D"/>
                </a:solidFill>
                <a:latin typeface="Calibri"/>
              </a:rPr>
              <a:t>Fire on crossing down; re-arm at +10%</a:t>
            </a:r>
          </a:p>
          <a:p>
            <a:pPr algn="l">
              <a:spcAft>
                <a:spcPts val="300"/>
              </a:spcAft>
            </a:pPr>
            <a:r>
              <a:rPr sz="1400" b="0" i="0">
                <a:solidFill>
                  <a:srgbClr val="5B6B80"/>
                </a:solidFill>
                <a:latin typeface="Consolas"/>
              </a:rPr>
              <a:t>tray.cpp AlertLevel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Deep dive: the scan pipeline</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23</a:t>
            </a:r>
          </a:p>
        </p:txBody>
      </p:sp>
      <p:sp>
        <p:nvSpPr>
          <p:cNvPr id="5" name="Rounded Rectangle 4"/>
          <p:cNvSpPr/>
          <p:nvPr/>
        </p:nvSpPr>
        <p:spPr>
          <a:xfrm>
            <a:off x="457200" y="1097280"/>
            <a:ext cx="960120" cy="1417320"/>
          </a:xfrm>
          <a:prstGeom prst="roundRect">
            <a:avLst>
              <a:gd name="adj" fmla="val 7619"/>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61288"/>
            <a:ext cx="960120" cy="365760"/>
          </a:xfrm>
          <a:prstGeom prst="rect">
            <a:avLst/>
          </a:prstGeom>
          <a:noFill/>
        </p:spPr>
        <p:txBody>
          <a:bodyPr wrap="square" lIns="0" rIns="0" tIns="0" bIns="0" anchor="t">
            <a:spAutoFit/>
          </a:bodyPr>
          <a:lstStyle/>
          <a:p>
            <a:pPr algn="ctr"/>
            <a:r>
              <a:rPr sz="1600" b="1" i="0">
                <a:solidFill>
                  <a:srgbClr val="F5A623"/>
                </a:solidFill>
                <a:latin typeface="Calibri"/>
              </a:rPr>
              <a:t>Enumerate</a:t>
            </a:r>
          </a:p>
        </p:txBody>
      </p:sp>
      <p:sp>
        <p:nvSpPr>
          <p:cNvPr id="7" name="TextBox 6"/>
          <p:cNvSpPr txBox="1"/>
          <p:nvPr/>
        </p:nvSpPr>
        <p:spPr>
          <a:xfrm>
            <a:off x="512064" y="1572768"/>
            <a:ext cx="850392" cy="914400"/>
          </a:xfrm>
          <a:prstGeom prst="rect">
            <a:avLst/>
          </a:prstGeom>
          <a:noFill/>
        </p:spPr>
        <p:txBody>
          <a:bodyPr wrap="square" lIns="0" rIns="0" tIns="0" bIns="0" anchor="t">
            <a:spAutoFit/>
          </a:bodyPr>
          <a:lstStyle/>
          <a:p>
            <a:pPr algn="ctr"/>
            <a:r>
              <a:rPr sz="1400" b="0" i="0">
                <a:solidFill>
                  <a:srgbClr val="FFFFFF"/>
                </a:solidFill>
                <a:latin typeface="Calibri"/>
              </a:rPr>
              <a:t>64 KiB buffer per thread</a:t>
            </a:r>
          </a:p>
        </p:txBody>
      </p:sp>
      <p:cxnSp>
        <p:nvCxnSpPr>
          <p:cNvPr id="8" name="Connector 7"/>
          <p:cNvCxnSpPr/>
          <p:nvPr/>
        </p:nvCxnSpPr>
        <p:spPr>
          <a:xfrm>
            <a:off x="1417320" y="1810512"/>
            <a:ext cx="118872" cy="0"/>
          </a:xfrm>
          <a:prstGeom prst="line">
            <a:avLst/>
          </a:prstGeom>
          <a:ln w="2540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536192" y="1097280"/>
            <a:ext cx="960120" cy="1417320"/>
          </a:xfrm>
          <a:prstGeom prst="roundRect">
            <a:avLst>
              <a:gd name="adj" fmla="val 7619"/>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36192" y="1161288"/>
            <a:ext cx="960120" cy="365760"/>
          </a:xfrm>
          <a:prstGeom prst="rect">
            <a:avLst/>
          </a:prstGeom>
          <a:noFill/>
        </p:spPr>
        <p:txBody>
          <a:bodyPr wrap="square" lIns="0" rIns="0" tIns="0" bIns="0" anchor="t">
            <a:spAutoFit/>
          </a:bodyPr>
          <a:lstStyle/>
          <a:p>
            <a:pPr algn="ctr"/>
            <a:r>
              <a:rPr sz="1600" b="1" i="0">
                <a:solidFill>
                  <a:srgbClr val="FFFFFF"/>
                </a:solidFill>
                <a:latin typeface="Calibri"/>
              </a:rPr>
              <a:t>Reserve</a:t>
            </a:r>
          </a:p>
        </p:txBody>
      </p:sp>
      <p:sp>
        <p:nvSpPr>
          <p:cNvPr id="11" name="TextBox 10"/>
          <p:cNvSpPr txBox="1"/>
          <p:nvPr/>
        </p:nvSpPr>
        <p:spPr>
          <a:xfrm>
            <a:off x="1591056" y="1572768"/>
            <a:ext cx="850392" cy="914400"/>
          </a:xfrm>
          <a:prstGeom prst="rect">
            <a:avLst/>
          </a:prstGeom>
          <a:noFill/>
        </p:spPr>
        <p:txBody>
          <a:bodyPr wrap="square" lIns="0" rIns="0" tIns="0" bIns="0" anchor="t">
            <a:spAutoFit/>
          </a:bodyPr>
          <a:lstStyle/>
          <a:p>
            <a:pPr algn="ctr"/>
            <a:r>
              <a:rPr sz="1400" b="0" i="0">
                <a:solidFill>
                  <a:srgbClr val="FFFFFF"/>
                </a:solidFill>
                <a:latin typeface="Calibri"/>
              </a:rPr>
              <a:t>one atomic node block</a:t>
            </a:r>
          </a:p>
        </p:txBody>
      </p:sp>
      <p:cxnSp>
        <p:nvCxnSpPr>
          <p:cNvPr id="12" name="Connector 11"/>
          <p:cNvCxnSpPr/>
          <p:nvPr/>
        </p:nvCxnSpPr>
        <p:spPr>
          <a:xfrm>
            <a:off x="2496312" y="1810512"/>
            <a:ext cx="118872" cy="0"/>
          </a:xfrm>
          <a:prstGeom prst="line">
            <a:avLst/>
          </a:prstGeom>
          <a:ln w="2540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15184" y="1097280"/>
            <a:ext cx="960120" cy="1417320"/>
          </a:xfrm>
          <a:prstGeom prst="roundRect">
            <a:avLst>
              <a:gd name="adj" fmla="val 7619"/>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15184" y="1161288"/>
            <a:ext cx="960120" cy="365760"/>
          </a:xfrm>
          <a:prstGeom prst="rect">
            <a:avLst/>
          </a:prstGeom>
          <a:noFill/>
        </p:spPr>
        <p:txBody>
          <a:bodyPr wrap="square" lIns="0" rIns="0" tIns="0" bIns="0" anchor="t">
            <a:spAutoFit/>
          </a:bodyPr>
          <a:lstStyle/>
          <a:p>
            <a:pPr algn="ctr"/>
            <a:r>
              <a:rPr sz="1600" b="1" i="0">
                <a:solidFill>
                  <a:srgbClr val="F5A623"/>
                </a:solidFill>
                <a:latin typeface="Calibri"/>
              </a:rPr>
              <a:t>Push</a:t>
            </a:r>
          </a:p>
        </p:txBody>
      </p:sp>
      <p:sp>
        <p:nvSpPr>
          <p:cNvPr id="15" name="TextBox 14"/>
          <p:cNvSpPr txBox="1"/>
          <p:nvPr/>
        </p:nvSpPr>
        <p:spPr>
          <a:xfrm>
            <a:off x="2670048" y="1572768"/>
            <a:ext cx="850392" cy="914400"/>
          </a:xfrm>
          <a:prstGeom prst="rect">
            <a:avLst/>
          </a:prstGeom>
          <a:noFill/>
        </p:spPr>
        <p:txBody>
          <a:bodyPr wrap="square" lIns="0" rIns="0" tIns="0" bIns="0" anchor="t">
            <a:spAutoFit/>
          </a:bodyPr>
          <a:lstStyle/>
          <a:p>
            <a:pPr algn="ctr"/>
            <a:r>
              <a:rPr sz="1400" b="0" i="0">
                <a:solidFill>
                  <a:srgbClr val="FFFFFF"/>
                </a:solidFill>
                <a:latin typeface="Calibri"/>
              </a:rPr>
              <a:t>sub-folders to the queue</a:t>
            </a:r>
          </a:p>
        </p:txBody>
      </p:sp>
      <p:cxnSp>
        <p:nvCxnSpPr>
          <p:cNvPr id="16" name="Connector 15"/>
          <p:cNvCxnSpPr/>
          <p:nvPr/>
        </p:nvCxnSpPr>
        <p:spPr>
          <a:xfrm>
            <a:off x="3575304" y="1810512"/>
            <a:ext cx="118872" cy="0"/>
          </a:xfrm>
          <a:prstGeom prst="line">
            <a:avLst/>
          </a:prstGeom>
          <a:ln w="2540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94176" y="1097280"/>
            <a:ext cx="960120" cy="1417320"/>
          </a:xfrm>
          <a:prstGeom prst="roundRect">
            <a:avLst>
              <a:gd name="adj" fmla="val 7619"/>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94176" y="1161288"/>
            <a:ext cx="960120" cy="365760"/>
          </a:xfrm>
          <a:prstGeom prst="rect">
            <a:avLst/>
          </a:prstGeom>
          <a:noFill/>
        </p:spPr>
        <p:txBody>
          <a:bodyPr wrap="square" lIns="0" rIns="0" tIns="0" bIns="0" anchor="t">
            <a:spAutoFit/>
          </a:bodyPr>
          <a:lstStyle/>
          <a:p>
            <a:pPr algn="ctr"/>
            <a:r>
              <a:rPr sz="1600" b="1" i="0">
                <a:solidFill>
                  <a:srgbClr val="FFFFFF"/>
                </a:solidFill>
                <a:latin typeface="Calibri"/>
              </a:rPr>
              <a:t>Roll up</a:t>
            </a:r>
          </a:p>
        </p:txBody>
      </p:sp>
      <p:sp>
        <p:nvSpPr>
          <p:cNvPr id="19" name="TextBox 18"/>
          <p:cNvSpPr txBox="1"/>
          <p:nvPr/>
        </p:nvSpPr>
        <p:spPr>
          <a:xfrm>
            <a:off x="3749039" y="1572768"/>
            <a:ext cx="850392" cy="914400"/>
          </a:xfrm>
          <a:prstGeom prst="rect">
            <a:avLst/>
          </a:prstGeom>
          <a:noFill/>
        </p:spPr>
        <p:txBody>
          <a:bodyPr wrap="square" lIns="0" rIns="0" tIns="0" bIns="0" anchor="t">
            <a:spAutoFit/>
          </a:bodyPr>
          <a:lstStyle/>
          <a:p>
            <a:pPr algn="ctr"/>
            <a:r>
              <a:rPr sz="1400" b="0" i="0">
                <a:solidFill>
                  <a:srgbClr val="FFFFFF"/>
                </a:solidFill>
                <a:latin typeface="Calibri"/>
              </a:rPr>
              <a:t>post-order, O(n)</a:t>
            </a:r>
          </a:p>
        </p:txBody>
      </p:sp>
      <p:graphicFrame>
        <p:nvGraphicFramePr>
          <p:cNvPr id="20" name="Chart 19"/>
          <p:cNvGraphicFramePr>
            <a:graphicFrameLocks noGrp="1"/>
          </p:cNvGraphicFramePr>
          <p:nvPr/>
        </p:nvGraphicFramePr>
        <p:xfrm>
          <a:off x="4846320" y="1005840"/>
          <a:ext cx="3840480" cy="2926080"/>
        </p:xfrm>
        <a:graphic>
          <a:graphicData uri="http://schemas.openxmlformats.org/drawingml/2006/chart">
            <c:chart xmlns:c="http://schemas.openxmlformats.org/drawingml/2006/chart" r:id="rId2"/>
          </a:graphicData>
        </a:graphic>
      </p:graphicFrame>
      <p:sp>
        <p:nvSpPr>
          <p:cNvPr id="21" name="Rounded Rectangle 20"/>
          <p:cNvSpPr/>
          <p:nvPr/>
        </p:nvSpPr>
        <p:spPr>
          <a:xfrm>
            <a:off x="457200" y="2743200"/>
            <a:ext cx="1353312" cy="1188720"/>
          </a:xfrm>
          <a:prstGeom prst="roundRect">
            <a:avLst>
              <a:gd name="adj" fmla="val 615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788920"/>
            <a:ext cx="1353312" cy="548640"/>
          </a:xfrm>
          <a:prstGeom prst="rect">
            <a:avLst/>
          </a:prstGeom>
          <a:noFill/>
        </p:spPr>
        <p:txBody>
          <a:bodyPr wrap="square" lIns="0" rIns="0" tIns="0" bIns="0" anchor="t">
            <a:spAutoFit/>
          </a:bodyPr>
          <a:lstStyle/>
          <a:p>
            <a:pPr algn="ctr"/>
            <a:r>
              <a:rPr sz="2800" b="1" i="0">
                <a:solidFill>
                  <a:srgbClr val="0F1B2D"/>
                </a:solidFill>
                <a:latin typeface="Cambria"/>
              </a:rPr>
              <a:t>289 s</a:t>
            </a:r>
          </a:p>
        </p:txBody>
      </p:sp>
      <p:sp>
        <p:nvSpPr>
          <p:cNvPr id="23" name="TextBox 22"/>
          <p:cNvSpPr txBox="1"/>
          <p:nvPr/>
        </p:nvSpPr>
        <p:spPr>
          <a:xfrm>
            <a:off x="530352" y="3337560"/>
            <a:ext cx="1207008" cy="548640"/>
          </a:xfrm>
          <a:prstGeom prst="rect">
            <a:avLst/>
          </a:prstGeom>
          <a:noFill/>
        </p:spPr>
        <p:txBody>
          <a:bodyPr wrap="square" lIns="0" rIns="0" tIns="0" bIns="0" anchor="t">
            <a:spAutoFit/>
          </a:bodyPr>
          <a:lstStyle/>
          <a:p>
            <a:pPr algn="ctr"/>
            <a:r>
              <a:rPr sz="1400" b="0" i="0">
                <a:solidFill>
                  <a:srgbClr val="5B6B80"/>
                </a:solidFill>
                <a:latin typeface="Calibri"/>
              </a:rPr>
              <a:t>first prototype, cold</a:t>
            </a:r>
          </a:p>
        </p:txBody>
      </p:sp>
      <p:sp>
        <p:nvSpPr>
          <p:cNvPr id="24" name="Rounded Rectangle 23"/>
          <p:cNvSpPr/>
          <p:nvPr/>
        </p:nvSpPr>
        <p:spPr>
          <a:xfrm>
            <a:off x="1920240" y="2743200"/>
            <a:ext cx="1353312" cy="1188720"/>
          </a:xfrm>
          <a:prstGeom prst="roundRect">
            <a:avLst>
              <a:gd name="adj" fmla="val 615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2788920"/>
            <a:ext cx="1353312" cy="548640"/>
          </a:xfrm>
          <a:prstGeom prst="rect">
            <a:avLst/>
          </a:prstGeom>
          <a:noFill/>
        </p:spPr>
        <p:txBody>
          <a:bodyPr wrap="square" lIns="0" rIns="0" tIns="0" bIns="0" anchor="t">
            <a:spAutoFit/>
          </a:bodyPr>
          <a:lstStyle/>
          <a:p>
            <a:pPr algn="ctr"/>
            <a:r>
              <a:rPr sz="2800" b="1" i="0">
                <a:solidFill>
                  <a:srgbClr val="0F1B2D"/>
                </a:solidFill>
                <a:latin typeface="Cambria"/>
              </a:rPr>
              <a:t>58 s</a:t>
            </a:r>
          </a:p>
        </p:txBody>
      </p:sp>
      <p:sp>
        <p:nvSpPr>
          <p:cNvPr id="26" name="TextBox 25"/>
          <p:cNvSpPr txBox="1"/>
          <p:nvPr/>
        </p:nvSpPr>
        <p:spPr>
          <a:xfrm>
            <a:off x="1993392" y="3337560"/>
            <a:ext cx="1207008" cy="548640"/>
          </a:xfrm>
          <a:prstGeom prst="rect">
            <a:avLst/>
          </a:prstGeom>
          <a:noFill/>
        </p:spPr>
        <p:txBody>
          <a:bodyPr wrap="square" lIns="0" rIns="0" tIns="0" bIns="0" anchor="t">
            <a:spAutoFit/>
          </a:bodyPr>
          <a:lstStyle/>
          <a:p>
            <a:pPr algn="ctr"/>
            <a:r>
              <a:rPr sz="1400" b="0" i="0">
                <a:solidFill>
                  <a:srgbClr val="5B6B80"/>
                </a:solidFill>
                <a:latin typeface="Calibri"/>
              </a:rPr>
              <a:t>first prototype, warm</a:t>
            </a:r>
          </a:p>
        </p:txBody>
      </p:sp>
      <p:sp>
        <p:nvSpPr>
          <p:cNvPr id="27" name="Rounded Rectangle 26"/>
          <p:cNvSpPr/>
          <p:nvPr/>
        </p:nvSpPr>
        <p:spPr>
          <a:xfrm>
            <a:off x="3383280" y="2743200"/>
            <a:ext cx="1353312" cy="1188720"/>
          </a:xfrm>
          <a:prstGeom prst="roundRect">
            <a:avLst>
              <a:gd name="adj" fmla="val 6153"/>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80" y="2788920"/>
            <a:ext cx="1353312" cy="548640"/>
          </a:xfrm>
          <a:prstGeom prst="rect">
            <a:avLst/>
          </a:prstGeom>
          <a:noFill/>
        </p:spPr>
        <p:txBody>
          <a:bodyPr wrap="square" lIns="0" rIns="0" tIns="0" bIns="0" anchor="t">
            <a:spAutoFit/>
          </a:bodyPr>
          <a:lstStyle/>
          <a:p>
            <a:pPr algn="ctr"/>
            <a:r>
              <a:rPr sz="2800" b="1" i="0">
                <a:solidFill>
                  <a:srgbClr val="F5A623"/>
                </a:solidFill>
                <a:latin typeface="Cambria"/>
              </a:rPr>
              <a:t>8.2 s</a:t>
            </a:r>
          </a:p>
        </p:txBody>
      </p:sp>
      <p:sp>
        <p:nvSpPr>
          <p:cNvPr id="29" name="TextBox 28"/>
          <p:cNvSpPr txBox="1"/>
          <p:nvPr/>
        </p:nvSpPr>
        <p:spPr>
          <a:xfrm>
            <a:off x="3456432" y="3337560"/>
            <a:ext cx="1207008" cy="548640"/>
          </a:xfrm>
          <a:prstGeom prst="rect">
            <a:avLst/>
          </a:prstGeom>
          <a:noFill/>
        </p:spPr>
        <p:txBody>
          <a:bodyPr wrap="square" lIns="0" rIns="0" tIns="0" bIns="0" anchor="t">
            <a:spAutoFit/>
          </a:bodyPr>
          <a:lstStyle/>
          <a:p>
            <a:pPr algn="ctr"/>
            <a:r>
              <a:rPr sz="1400" b="0" i="0">
                <a:solidFill>
                  <a:srgbClr val="5B6B80"/>
                </a:solidFill>
                <a:latin typeface="Calibri"/>
              </a:rPr>
              <a:t>now, 8 threads, warm</a:t>
            </a:r>
          </a:p>
        </p:txBody>
      </p:sp>
      <p:sp>
        <p:nvSpPr>
          <p:cNvPr id="30" name="Rounded Rectangle 29"/>
          <p:cNvSpPr/>
          <p:nvPr/>
        </p:nvSpPr>
        <p:spPr>
          <a:xfrm>
            <a:off x="457200" y="4114800"/>
            <a:ext cx="8229600" cy="502920"/>
          </a:xfrm>
          <a:prstGeom prst="roundRect">
            <a:avLst>
              <a:gd name="adj" fmla="val 14545"/>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114800"/>
            <a:ext cx="7772400" cy="502920"/>
          </a:xfrm>
          <a:prstGeom prst="rect">
            <a:avLst/>
          </a:prstGeom>
          <a:noFill/>
        </p:spPr>
        <p:txBody>
          <a:bodyPr wrap="square" lIns="0" rIns="0" tIns="0" bIns="0" anchor="ctr">
            <a:spAutoFit/>
          </a:bodyPr>
          <a:lstStyle/>
          <a:p>
            <a:pPr algn="l"/>
            <a:r>
              <a:rPr sz="1700" b="1" i="0">
                <a:solidFill>
                  <a:srgbClr val="F5A623"/>
                </a:solidFill>
                <a:latin typeface="Calibri"/>
              </a:rPr>
              <a:t>Cold cache with the new scanner: </a:t>
            </a:r>
            <a:r>
              <a:rPr sz="1700" b="0" i="0">
                <a:solidFill>
                  <a:srgbClr val="FFFFFF"/>
                </a:solidFill>
                <a:latin typeface="Calibri"/>
              </a:rPr>
              <a:t>TBD. Elevated MFT path: 16.4 s (serial version); parallel TBD.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Methodology</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24</a:t>
            </a:r>
          </a:p>
        </p:txBody>
      </p:sp>
      <p:sp>
        <p:nvSpPr>
          <p:cNvPr id="5" name="Rounded Rectangle 4"/>
          <p:cNvSpPr/>
          <p:nvPr/>
        </p:nvSpPr>
        <p:spPr>
          <a:xfrm>
            <a:off x="457200" y="1051560"/>
            <a:ext cx="4937760" cy="603504"/>
          </a:xfrm>
          <a:prstGeom prst="roundRect">
            <a:avLst>
              <a:gd name="adj" fmla="val 121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6928" y="1161288"/>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01</a:t>
            </a:r>
          </a:p>
        </p:txBody>
      </p:sp>
      <p:sp>
        <p:nvSpPr>
          <p:cNvPr id="7" name="TextBox 6"/>
          <p:cNvSpPr txBox="1"/>
          <p:nvPr/>
        </p:nvSpPr>
        <p:spPr>
          <a:xfrm>
            <a:off x="1097280" y="1051560"/>
            <a:ext cx="1645920" cy="603504"/>
          </a:xfrm>
          <a:prstGeom prst="rect">
            <a:avLst/>
          </a:prstGeom>
          <a:noFill/>
        </p:spPr>
        <p:txBody>
          <a:bodyPr wrap="square" lIns="0" rIns="0" tIns="0" bIns="0" anchor="ctr">
            <a:spAutoFit/>
          </a:bodyPr>
          <a:lstStyle/>
          <a:p>
            <a:pPr algn="l"/>
            <a:r>
              <a:rPr sz="1900" b="1" i="0">
                <a:solidFill>
                  <a:srgbClr val="0F1B2D"/>
                </a:solidFill>
                <a:latin typeface="Calibri"/>
              </a:rPr>
              <a:t>Scan</a:t>
            </a:r>
          </a:p>
        </p:txBody>
      </p:sp>
      <p:sp>
        <p:nvSpPr>
          <p:cNvPr id="8" name="TextBox 7"/>
          <p:cNvSpPr txBox="1"/>
          <p:nvPr/>
        </p:nvSpPr>
        <p:spPr>
          <a:xfrm>
            <a:off x="2743200" y="1051560"/>
            <a:ext cx="2560320" cy="603504"/>
          </a:xfrm>
          <a:prstGeom prst="rect">
            <a:avLst/>
          </a:prstGeom>
          <a:noFill/>
        </p:spPr>
        <p:txBody>
          <a:bodyPr wrap="square" lIns="0" rIns="0" tIns="0" bIns="0" anchor="ctr">
            <a:spAutoFit/>
          </a:bodyPr>
          <a:lstStyle/>
          <a:p>
            <a:pPr algn="l"/>
            <a:r>
              <a:rPr sz="1600" b="0" i="0">
                <a:solidFill>
                  <a:srgbClr val="5B6B80"/>
                </a:solidFill>
                <a:latin typeface="Calibri"/>
              </a:rPr>
              <a:t>Parallel enumeration or MFT read</a:t>
            </a:r>
          </a:p>
        </p:txBody>
      </p:sp>
      <p:sp>
        <p:nvSpPr>
          <p:cNvPr id="9" name="Rounded Rectangle 8"/>
          <p:cNvSpPr/>
          <p:nvPr/>
        </p:nvSpPr>
        <p:spPr>
          <a:xfrm>
            <a:off x="457200" y="1764792"/>
            <a:ext cx="4937760" cy="603504"/>
          </a:xfrm>
          <a:prstGeom prst="roundRect">
            <a:avLst>
              <a:gd name="adj" fmla="val 121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6928" y="1874519"/>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02</a:t>
            </a:r>
          </a:p>
        </p:txBody>
      </p:sp>
      <p:sp>
        <p:nvSpPr>
          <p:cNvPr id="11" name="TextBox 10"/>
          <p:cNvSpPr txBox="1"/>
          <p:nvPr/>
        </p:nvSpPr>
        <p:spPr>
          <a:xfrm>
            <a:off x="1097280" y="1764792"/>
            <a:ext cx="1645920" cy="603504"/>
          </a:xfrm>
          <a:prstGeom prst="rect">
            <a:avLst/>
          </a:prstGeom>
          <a:noFill/>
        </p:spPr>
        <p:txBody>
          <a:bodyPr wrap="square" lIns="0" rIns="0" tIns="0" bIns="0" anchor="ctr">
            <a:spAutoFit/>
          </a:bodyPr>
          <a:lstStyle/>
          <a:p>
            <a:pPr algn="l"/>
            <a:r>
              <a:rPr sz="1900" b="1" i="0">
                <a:solidFill>
                  <a:srgbClr val="0F1B2D"/>
                </a:solidFill>
                <a:latin typeface="Calibri"/>
              </a:rPr>
              <a:t>Model</a:t>
            </a:r>
          </a:p>
        </p:txBody>
      </p:sp>
      <p:sp>
        <p:nvSpPr>
          <p:cNvPr id="12" name="TextBox 11"/>
          <p:cNvSpPr txBox="1"/>
          <p:nvPr/>
        </p:nvSpPr>
        <p:spPr>
          <a:xfrm>
            <a:off x="2743200" y="1764792"/>
            <a:ext cx="2560320" cy="603504"/>
          </a:xfrm>
          <a:prstGeom prst="rect">
            <a:avLst/>
          </a:prstGeom>
          <a:noFill/>
        </p:spPr>
        <p:txBody>
          <a:bodyPr wrap="square" lIns="0" rIns="0" tIns="0" bIns="0" anchor="ctr">
            <a:spAutoFit/>
          </a:bodyPr>
          <a:lstStyle/>
          <a:p>
            <a:pPr algn="l"/>
            <a:r>
              <a:rPr sz="1600" b="0" i="0">
                <a:solidFill>
                  <a:srgbClr val="5B6B80"/>
                </a:solidFill>
                <a:latin typeface="Calibri"/>
              </a:rPr>
              <a:t>Compact tree, kinds, roll-up</a:t>
            </a:r>
          </a:p>
        </p:txBody>
      </p:sp>
      <p:sp>
        <p:nvSpPr>
          <p:cNvPr id="13" name="Rounded Rectangle 12"/>
          <p:cNvSpPr/>
          <p:nvPr/>
        </p:nvSpPr>
        <p:spPr>
          <a:xfrm>
            <a:off x="457200" y="2478024"/>
            <a:ext cx="4937760" cy="603504"/>
          </a:xfrm>
          <a:prstGeom prst="roundRect">
            <a:avLst>
              <a:gd name="adj" fmla="val 121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6928" y="2587752"/>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03</a:t>
            </a:r>
          </a:p>
        </p:txBody>
      </p:sp>
      <p:sp>
        <p:nvSpPr>
          <p:cNvPr id="15" name="TextBox 14"/>
          <p:cNvSpPr txBox="1"/>
          <p:nvPr/>
        </p:nvSpPr>
        <p:spPr>
          <a:xfrm>
            <a:off x="1097280" y="2478024"/>
            <a:ext cx="1645920" cy="603504"/>
          </a:xfrm>
          <a:prstGeom prst="rect">
            <a:avLst/>
          </a:prstGeom>
          <a:noFill/>
        </p:spPr>
        <p:txBody>
          <a:bodyPr wrap="square" lIns="0" rIns="0" tIns="0" bIns="0" anchor="ctr">
            <a:spAutoFit/>
          </a:bodyPr>
          <a:lstStyle/>
          <a:p>
            <a:pPr algn="l"/>
            <a:r>
              <a:rPr sz="1900" b="1" i="0">
                <a:solidFill>
                  <a:srgbClr val="0F1B2D"/>
                </a:solidFill>
                <a:latin typeface="Calibri"/>
              </a:rPr>
              <a:t>Analyse</a:t>
            </a:r>
          </a:p>
        </p:txBody>
      </p:sp>
      <p:sp>
        <p:nvSpPr>
          <p:cNvPr id="16" name="TextBox 15"/>
          <p:cNvSpPr txBox="1"/>
          <p:nvPr/>
        </p:nvSpPr>
        <p:spPr>
          <a:xfrm>
            <a:off x="2743200" y="2478024"/>
            <a:ext cx="2560320" cy="603504"/>
          </a:xfrm>
          <a:prstGeom prst="rect">
            <a:avLst/>
          </a:prstGeom>
          <a:noFill/>
        </p:spPr>
        <p:txBody>
          <a:bodyPr wrap="square" lIns="0" rIns="0" tIns="0" bIns="0" anchor="ctr">
            <a:spAutoFit/>
          </a:bodyPr>
          <a:lstStyle/>
          <a:p>
            <a:pPr algn="l"/>
            <a:r>
              <a:rPr sz="1600" b="0" i="0">
                <a:solidFill>
                  <a:srgbClr val="5B6B80"/>
                </a:solidFill>
                <a:latin typeface="Calibri"/>
              </a:rPr>
              <a:t>Categories, stale, duplicates</a:t>
            </a:r>
          </a:p>
        </p:txBody>
      </p:sp>
      <p:sp>
        <p:nvSpPr>
          <p:cNvPr id="17" name="Rounded Rectangle 16"/>
          <p:cNvSpPr/>
          <p:nvPr/>
        </p:nvSpPr>
        <p:spPr>
          <a:xfrm>
            <a:off x="457200" y="3191256"/>
            <a:ext cx="4937760" cy="603504"/>
          </a:xfrm>
          <a:prstGeom prst="roundRect">
            <a:avLst>
              <a:gd name="adj" fmla="val 121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66928" y="3300984"/>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04</a:t>
            </a:r>
          </a:p>
        </p:txBody>
      </p:sp>
      <p:sp>
        <p:nvSpPr>
          <p:cNvPr id="19" name="TextBox 18"/>
          <p:cNvSpPr txBox="1"/>
          <p:nvPr/>
        </p:nvSpPr>
        <p:spPr>
          <a:xfrm>
            <a:off x="1097280" y="3191256"/>
            <a:ext cx="1645920" cy="603504"/>
          </a:xfrm>
          <a:prstGeom prst="rect">
            <a:avLst/>
          </a:prstGeom>
          <a:noFill/>
        </p:spPr>
        <p:txBody>
          <a:bodyPr wrap="square" lIns="0" rIns="0" tIns="0" bIns="0" anchor="ctr">
            <a:spAutoFit/>
          </a:bodyPr>
          <a:lstStyle/>
          <a:p>
            <a:pPr algn="l"/>
            <a:r>
              <a:rPr sz="1900" b="1" i="0">
                <a:solidFill>
                  <a:srgbClr val="0F1B2D"/>
                </a:solidFill>
                <a:latin typeface="Calibri"/>
              </a:rPr>
              <a:t>Decide</a:t>
            </a:r>
          </a:p>
        </p:txBody>
      </p:sp>
      <p:sp>
        <p:nvSpPr>
          <p:cNvPr id="20" name="TextBox 19"/>
          <p:cNvSpPr txBox="1"/>
          <p:nvPr/>
        </p:nvSpPr>
        <p:spPr>
          <a:xfrm>
            <a:off x="2743200" y="3191256"/>
            <a:ext cx="2560320" cy="603504"/>
          </a:xfrm>
          <a:prstGeom prst="rect">
            <a:avLst/>
          </a:prstGeom>
          <a:noFill/>
        </p:spPr>
        <p:txBody>
          <a:bodyPr wrap="square" lIns="0" rIns="0" tIns="0" bIns="0" anchor="ctr">
            <a:spAutoFit/>
          </a:bodyPr>
          <a:lstStyle/>
          <a:p>
            <a:pPr algn="l"/>
            <a:r>
              <a:rPr sz="1600" b="0" i="0">
                <a:solidFill>
                  <a:srgbClr val="5B6B80"/>
                </a:solidFill>
                <a:latin typeface="Calibri"/>
              </a:rPr>
              <a:t>Review list with safety badges</a:t>
            </a:r>
          </a:p>
        </p:txBody>
      </p:sp>
      <p:sp>
        <p:nvSpPr>
          <p:cNvPr id="21" name="Rounded Rectangle 20"/>
          <p:cNvSpPr/>
          <p:nvPr/>
        </p:nvSpPr>
        <p:spPr>
          <a:xfrm>
            <a:off x="457200" y="3904487"/>
            <a:ext cx="4937760" cy="603504"/>
          </a:xfrm>
          <a:prstGeom prst="roundRect">
            <a:avLst>
              <a:gd name="adj" fmla="val 121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6928" y="4014215"/>
            <a:ext cx="384048" cy="38404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F1B2D"/>
                </a:solidFill>
                <a:latin typeface="Calibri"/>
              </a:rPr>
              <a:t>05</a:t>
            </a:r>
          </a:p>
        </p:txBody>
      </p:sp>
      <p:sp>
        <p:nvSpPr>
          <p:cNvPr id="23" name="TextBox 22"/>
          <p:cNvSpPr txBox="1"/>
          <p:nvPr/>
        </p:nvSpPr>
        <p:spPr>
          <a:xfrm>
            <a:off x="1097280" y="3904487"/>
            <a:ext cx="1645920" cy="603504"/>
          </a:xfrm>
          <a:prstGeom prst="rect">
            <a:avLst/>
          </a:prstGeom>
          <a:noFill/>
        </p:spPr>
        <p:txBody>
          <a:bodyPr wrap="square" lIns="0" rIns="0" tIns="0" bIns="0" anchor="ctr">
            <a:spAutoFit/>
          </a:bodyPr>
          <a:lstStyle/>
          <a:p>
            <a:pPr algn="l"/>
            <a:r>
              <a:rPr sz="1900" b="1" i="0">
                <a:solidFill>
                  <a:srgbClr val="0F1B2D"/>
                </a:solidFill>
                <a:latin typeface="Calibri"/>
              </a:rPr>
              <a:t>Act and undo</a:t>
            </a:r>
          </a:p>
        </p:txBody>
      </p:sp>
      <p:sp>
        <p:nvSpPr>
          <p:cNvPr id="24" name="TextBox 23"/>
          <p:cNvSpPr txBox="1"/>
          <p:nvPr/>
        </p:nvSpPr>
        <p:spPr>
          <a:xfrm>
            <a:off x="2743200" y="3904487"/>
            <a:ext cx="2560320" cy="603504"/>
          </a:xfrm>
          <a:prstGeom prst="rect">
            <a:avLst/>
          </a:prstGeom>
          <a:noFill/>
        </p:spPr>
        <p:txBody>
          <a:bodyPr wrap="square" lIns="0" rIns="0" tIns="0" bIns="0" anchor="ctr">
            <a:spAutoFit/>
          </a:bodyPr>
          <a:lstStyle/>
          <a:p>
            <a:pPr algn="l"/>
            <a:r>
              <a:rPr sz="1600" b="0" i="0">
                <a:solidFill>
                  <a:srgbClr val="5B6B80"/>
                </a:solidFill>
                <a:latin typeface="Calibri"/>
              </a:rPr>
              <a:t>Recycle, quarantine, compress</a:t>
            </a:r>
          </a:p>
        </p:txBody>
      </p:sp>
      <p:sp>
        <p:nvSpPr>
          <p:cNvPr id="25" name="Rounded Rectangle 24"/>
          <p:cNvSpPr/>
          <p:nvPr/>
        </p:nvSpPr>
        <p:spPr>
          <a:xfrm>
            <a:off x="5623560" y="1051560"/>
            <a:ext cx="3063240" cy="3456432"/>
          </a:xfrm>
          <a:prstGeom prst="roundRect">
            <a:avLst>
              <a:gd name="adj" fmla="val 2388"/>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06440" y="1143000"/>
            <a:ext cx="2743200" cy="411480"/>
          </a:xfrm>
          <a:prstGeom prst="rect">
            <a:avLst/>
          </a:prstGeom>
          <a:noFill/>
        </p:spPr>
        <p:txBody>
          <a:bodyPr wrap="square" lIns="0" rIns="0" tIns="0" bIns="0" anchor="t">
            <a:spAutoFit/>
          </a:bodyPr>
          <a:lstStyle/>
          <a:p>
            <a:pPr algn="l"/>
            <a:r>
              <a:rPr sz="2000" b="1" i="0">
                <a:solidFill>
                  <a:srgbClr val="F5A623"/>
                </a:solidFill>
                <a:latin typeface="Calibri"/>
              </a:rPr>
              <a:t>How we validated</a:t>
            </a:r>
          </a:p>
        </p:txBody>
      </p:sp>
      <p:sp>
        <p:nvSpPr>
          <p:cNvPr id="27" name="TextBox 26"/>
          <p:cNvSpPr txBox="1"/>
          <p:nvPr/>
        </p:nvSpPr>
        <p:spPr>
          <a:xfrm>
            <a:off x="5806440" y="1600200"/>
            <a:ext cx="2743200" cy="2834640"/>
          </a:xfrm>
          <a:prstGeom prst="rect">
            <a:avLst/>
          </a:prstGeom>
          <a:noFill/>
        </p:spPr>
        <p:txBody>
          <a:bodyPr wrap="square" lIns="0" rIns="0" tIns="0" bIns="0" anchor="t">
            <a:spAutoFit/>
          </a:bodyPr>
          <a:lstStyle/>
          <a:p>
            <a:pPr algn="l">
              <a:spcAft>
                <a:spcPts val="700"/>
              </a:spcAft>
            </a:pPr>
            <a:r>
              <a:rPr sz="1600" b="0" i="0">
                <a:solidFill>
                  <a:srgbClr val="FFFFFF"/>
                </a:solidFill>
                <a:latin typeface="Calibri"/>
              </a:rPr>
              <a:t>Scan benchmarks: threads, cold vs warm</a:t>
            </a:r>
          </a:p>
          <a:p>
            <a:pPr algn="l">
              <a:spcAft>
                <a:spcPts val="700"/>
              </a:spcAft>
            </a:pPr>
            <a:r>
              <a:rPr sz="1600" b="0" i="0">
                <a:solidFill>
                  <a:srgbClr val="FFFFFF"/>
                </a:solidFill>
                <a:latin typeface="Calibri"/>
              </a:rPr>
              <a:t>Extents vs fsutil queryextents</a:t>
            </a:r>
          </a:p>
          <a:p>
            <a:pPr algn="l">
              <a:spcAft>
                <a:spcPts val="700"/>
              </a:spcAft>
            </a:pPr>
            <a:r>
              <a:rPr sz="1600" b="0" i="0">
                <a:solidFill>
                  <a:srgbClr val="FFFFFF"/>
                </a:solidFill>
                <a:latin typeface="Calibri"/>
              </a:rPr>
              <a:t>Alert thresholds: 11/11 tests</a:t>
            </a:r>
          </a:p>
          <a:p>
            <a:pPr algn="l">
              <a:spcAft>
                <a:spcPts val="700"/>
              </a:spcAft>
            </a:pPr>
            <a:r>
              <a:rPr sz="1600" b="0" i="0">
                <a:solidFill>
                  <a:srgbClr val="FFFFFF"/>
                </a:solidFill>
                <a:latin typeface="Calibri"/>
              </a:rPr>
              <a:t>UI click tests with frame snapshots</a:t>
            </a:r>
          </a:p>
          <a:p>
            <a:pPr algn="l">
              <a:spcAft>
                <a:spcPts val="700"/>
              </a:spcAft>
            </a:pPr>
            <a:r>
              <a:rPr sz="1600" b="0" i="0">
                <a:solidFill>
                  <a:srgbClr val="FFFFFF"/>
                </a:solidFill>
                <a:latin typeface="Calibri"/>
              </a:rPr>
              <a:t>Pending: 0-byte VHDX, install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System architecture</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25</a:t>
            </a:r>
          </a:p>
        </p:txBody>
      </p:sp>
      <p:sp>
        <p:nvSpPr>
          <p:cNvPr id="5" name="Rounded Rectangle 4"/>
          <p:cNvSpPr/>
          <p:nvPr/>
        </p:nvSpPr>
        <p:spPr>
          <a:xfrm>
            <a:off x="457200" y="1051560"/>
            <a:ext cx="2057400" cy="457200"/>
          </a:xfrm>
          <a:prstGeom prst="roundRect">
            <a:avLst>
              <a:gd name="adj" fmla="val 16000"/>
            </a:avLst>
          </a:prstGeom>
          <a:solidFill>
            <a:srgbClr val="1B2B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51560"/>
            <a:ext cx="2057400" cy="457200"/>
          </a:xfrm>
          <a:prstGeom prst="rect">
            <a:avLst/>
          </a:prstGeom>
          <a:noFill/>
        </p:spPr>
        <p:txBody>
          <a:bodyPr wrap="square" lIns="0" rIns="0" tIns="0" bIns="0" anchor="ctr">
            <a:spAutoFit/>
          </a:bodyPr>
          <a:lstStyle/>
          <a:p>
            <a:pPr algn="ctr"/>
            <a:r>
              <a:rPr sz="1800" b="1" i="0">
                <a:solidFill>
                  <a:srgbClr val="FFFFFF"/>
                </a:solidFill>
                <a:latin typeface="Calibri"/>
              </a:rPr>
              <a:t>User</a:t>
            </a:r>
          </a:p>
        </p:txBody>
      </p:sp>
      <p:sp>
        <p:nvSpPr>
          <p:cNvPr id="7" name="Rounded Rectangle 6"/>
          <p:cNvSpPr/>
          <p:nvPr/>
        </p:nvSpPr>
        <p:spPr>
          <a:xfrm>
            <a:off x="457200" y="160020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60020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Explorer right-click</a:t>
            </a:r>
          </a:p>
        </p:txBody>
      </p:sp>
      <p:sp>
        <p:nvSpPr>
          <p:cNvPr id="9" name="Rounded Rectangle 8"/>
          <p:cNvSpPr/>
          <p:nvPr/>
        </p:nvSpPr>
        <p:spPr>
          <a:xfrm>
            <a:off x="457200" y="210312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210312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Tray alert</a:t>
            </a:r>
          </a:p>
        </p:txBody>
      </p:sp>
      <p:sp>
        <p:nvSpPr>
          <p:cNvPr id="11" name="Rounded Rectangle 10"/>
          <p:cNvSpPr/>
          <p:nvPr/>
        </p:nvSpPr>
        <p:spPr>
          <a:xfrm>
            <a:off x="457200" y="260604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260604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App window</a:t>
            </a:r>
          </a:p>
        </p:txBody>
      </p:sp>
      <p:cxnSp>
        <p:nvCxnSpPr>
          <p:cNvPr id="13" name="Connector 12"/>
          <p:cNvCxnSpPr/>
          <p:nvPr/>
        </p:nvCxnSpPr>
        <p:spPr>
          <a:xfrm>
            <a:off x="2532888" y="1280160"/>
            <a:ext cx="192024"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514600" y="1051560"/>
            <a:ext cx="2057400" cy="457200"/>
          </a:xfrm>
          <a:prstGeom prst="roundRect">
            <a:avLst>
              <a:gd name="adj" fmla="val 16000"/>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4600" y="1051560"/>
            <a:ext cx="2057400" cy="457200"/>
          </a:xfrm>
          <a:prstGeom prst="rect">
            <a:avLst/>
          </a:prstGeom>
          <a:noFill/>
        </p:spPr>
        <p:txBody>
          <a:bodyPr wrap="square" lIns="0" rIns="0" tIns="0" bIns="0" anchor="ctr">
            <a:spAutoFit/>
          </a:bodyPr>
          <a:lstStyle/>
          <a:p>
            <a:pPr algn="ctr"/>
            <a:r>
              <a:rPr sz="1800" b="1" i="0">
                <a:solidFill>
                  <a:srgbClr val="FFFFFF"/>
                </a:solidFill>
                <a:latin typeface="Calibri"/>
              </a:rPr>
              <a:t>UI layer</a:t>
            </a:r>
          </a:p>
        </p:txBody>
      </p:sp>
      <p:sp>
        <p:nvSpPr>
          <p:cNvPr id="16" name="Rounded Rectangle 15"/>
          <p:cNvSpPr/>
          <p:nvPr/>
        </p:nvSpPr>
        <p:spPr>
          <a:xfrm>
            <a:off x="2514600" y="160020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87752" y="160020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Eight tabs (Direct2D)</a:t>
            </a:r>
          </a:p>
        </p:txBody>
      </p:sp>
      <p:sp>
        <p:nvSpPr>
          <p:cNvPr id="18" name="Rounded Rectangle 17"/>
          <p:cNvSpPr/>
          <p:nvPr/>
        </p:nvSpPr>
        <p:spPr>
          <a:xfrm>
            <a:off x="2514600" y="210312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87752" y="210312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Review + undo toast</a:t>
            </a:r>
          </a:p>
        </p:txBody>
      </p:sp>
      <p:sp>
        <p:nvSpPr>
          <p:cNvPr id="20" name="Rounded Rectangle 19"/>
          <p:cNvSpPr/>
          <p:nvPr/>
        </p:nvSpPr>
        <p:spPr>
          <a:xfrm>
            <a:off x="2514600" y="260604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87752" y="260604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Search, Back, Forward</a:t>
            </a:r>
          </a:p>
        </p:txBody>
      </p:sp>
      <p:cxnSp>
        <p:nvCxnSpPr>
          <p:cNvPr id="22" name="Connector 21"/>
          <p:cNvCxnSpPr/>
          <p:nvPr/>
        </p:nvCxnSpPr>
        <p:spPr>
          <a:xfrm>
            <a:off x="4590288" y="1280160"/>
            <a:ext cx="192024"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572000" y="1051560"/>
            <a:ext cx="2057400" cy="457200"/>
          </a:xfrm>
          <a:prstGeom prst="roundRect">
            <a:avLst>
              <a:gd name="adj" fmla="val 1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1051560"/>
            <a:ext cx="2057400" cy="457200"/>
          </a:xfrm>
          <a:prstGeom prst="rect">
            <a:avLst/>
          </a:prstGeom>
          <a:noFill/>
        </p:spPr>
        <p:txBody>
          <a:bodyPr wrap="square" lIns="0" rIns="0" tIns="0" bIns="0" anchor="ctr">
            <a:spAutoFit/>
          </a:bodyPr>
          <a:lstStyle/>
          <a:p>
            <a:pPr algn="ctr"/>
            <a:r>
              <a:rPr sz="1800" b="1" i="0">
                <a:solidFill>
                  <a:srgbClr val="FFFFFF"/>
                </a:solidFill>
                <a:latin typeface="Calibri"/>
              </a:rPr>
              <a:t>Engine</a:t>
            </a:r>
          </a:p>
        </p:txBody>
      </p:sp>
      <p:sp>
        <p:nvSpPr>
          <p:cNvPr id="25" name="Rounded Rectangle 24"/>
          <p:cNvSpPr/>
          <p:nvPr/>
        </p:nvSpPr>
        <p:spPr>
          <a:xfrm>
            <a:off x="4572000" y="160020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5152" y="160020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Parallel scanner + MFT</a:t>
            </a:r>
          </a:p>
        </p:txBody>
      </p:sp>
      <p:sp>
        <p:nvSpPr>
          <p:cNvPr id="27" name="Rounded Rectangle 26"/>
          <p:cNvSpPr/>
          <p:nvPr/>
        </p:nvSpPr>
        <p:spPr>
          <a:xfrm>
            <a:off x="4572000" y="210312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210312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Insights and cleanup</a:t>
            </a:r>
          </a:p>
        </p:txBody>
      </p:sp>
      <p:sp>
        <p:nvSpPr>
          <p:cNvPr id="29" name="Rounded Rectangle 28"/>
          <p:cNvSpPr/>
          <p:nvPr/>
        </p:nvSpPr>
        <p:spPr>
          <a:xfrm>
            <a:off x="4572000" y="260604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5152" y="260604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Actions + undo log</a:t>
            </a:r>
          </a:p>
        </p:txBody>
      </p:sp>
      <p:sp>
        <p:nvSpPr>
          <p:cNvPr id="31" name="Rounded Rectangle 30"/>
          <p:cNvSpPr/>
          <p:nvPr/>
        </p:nvSpPr>
        <p:spPr>
          <a:xfrm>
            <a:off x="4572000" y="310896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5152" y="310896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Disk internals</a:t>
            </a:r>
          </a:p>
        </p:txBody>
      </p:sp>
      <p:sp>
        <p:nvSpPr>
          <p:cNvPr id="33" name="Rounded Rectangle 32"/>
          <p:cNvSpPr/>
          <p:nvPr/>
        </p:nvSpPr>
        <p:spPr>
          <a:xfrm>
            <a:off x="4572000" y="361188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45152" y="361188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Alerts</a:t>
            </a:r>
          </a:p>
        </p:txBody>
      </p:sp>
      <p:cxnSp>
        <p:nvCxnSpPr>
          <p:cNvPr id="35" name="Connector 34"/>
          <p:cNvCxnSpPr/>
          <p:nvPr/>
        </p:nvCxnSpPr>
        <p:spPr>
          <a:xfrm>
            <a:off x="6647688" y="1280160"/>
            <a:ext cx="192024" cy="0"/>
          </a:xfrm>
          <a:prstGeom prst="line">
            <a:avLst/>
          </a:prstGeom>
          <a:ln w="31750">
            <a:solidFill>
              <a:srgbClr val="F5A62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629400" y="1051560"/>
            <a:ext cx="2057400" cy="457200"/>
          </a:xfrm>
          <a:prstGeom prst="roundRect">
            <a:avLst>
              <a:gd name="adj" fmla="val 16000"/>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1051560"/>
            <a:ext cx="2057400" cy="457200"/>
          </a:xfrm>
          <a:prstGeom prst="rect">
            <a:avLst/>
          </a:prstGeom>
          <a:noFill/>
        </p:spPr>
        <p:txBody>
          <a:bodyPr wrap="square" lIns="0" rIns="0" tIns="0" bIns="0" anchor="ctr">
            <a:spAutoFit/>
          </a:bodyPr>
          <a:lstStyle/>
          <a:p>
            <a:pPr algn="ctr"/>
            <a:r>
              <a:rPr sz="1800" b="1" i="0">
                <a:solidFill>
                  <a:srgbClr val="FFFFFF"/>
                </a:solidFill>
                <a:latin typeface="Calibri"/>
              </a:rPr>
              <a:t>OS interfaces</a:t>
            </a:r>
          </a:p>
        </p:txBody>
      </p:sp>
      <p:sp>
        <p:nvSpPr>
          <p:cNvPr id="38" name="Rounded Rectangle 37"/>
          <p:cNvSpPr/>
          <p:nvPr/>
        </p:nvSpPr>
        <p:spPr>
          <a:xfrm>
            <a:off x="6629400" y="160020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02552" y="160020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NtQueryDirectoryFile</a:t>
            </a:r>
          </a:p>
        </p:txBody>
      </p:sp>
      <p:sp>
        <p:nvSpPr>
          <p:cNvPr id="40" name="Rounded Rectangle 39"/>
          <p:cNvSpPr/>
          <p:nvPr/>
        </p:nvSpPr>
        <p:spPr>
          <a:xfrm>
            <a:off x="6629400" y="210312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02552" y="210312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NTFS FSCTLs</a:t>
            </a:r>
          </a:p>
        </p:txBody>
      </p:sp>
      <p:sp>
        <p:nvSpPr>
          <p:cNvPr id="42" name="Rounded Rectangle 41"/>
          <p:cNvSpPr/>
          <p:nvPr/>
        </p:nvSpPr>
        <p:spPr>
          <a:xfrm>
            <a:off x="6629400" y="260604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02552" y="260604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Shell, DWM, Direct2D</a:t>
            </a:r>
          </a:p>
        </p:txBody>
      </p:sp>
      <p:sp>
        <p:nvSpPr>
          <p:cNvPr id="44" name="Rounded Rectangle 43"/>
          <p:cNvSpPr/>
          <p:nvPr/>
        </p:nvSpPr>
        <p:spPr>
          <a:xfrm>
            <a:off x="6629400" y="3108960"/>
            <a:ext cx="2057400" cy="429768"/>
          </a:xfrm>
          <a:prstGeom prst="roundRect">
            <a:avLst>
              <a:gd name="adj" fmla="val 17021"/>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02552" y="3108960"/>
            <a:ext cx="1920240" cy="429768"/>
          </a:xfrm>
          <a:prstGeom prst="rect">
            <a:avLst/>
          </a:prstGeom>
          <a:noFill/>
        </p:spPr>
        <p:txBody>
          <a:bodyPr wrap="square" lIns="0" rIns="0" tIns="0" bIns="0" anchor="ctr">
            <a:spAutoFit/>
          </a:bodyPr>
          <a:lstStyle/>
          <a:p>
            <a:pPr algn="ctr"/>
            <a:r>
              <a:rPr sz="1500" b="0" i="0">
                <a:solidFill>
                  <a:srgbClr val="0F1B2D"/>
                </a:solidFill>
                <a:latin typeface="Calibri"/>
              </a:rPr>
              <a:t>NTFS + work volume</a:t>
            </a:r>
          </a:p>
        </p:txBody>
      </p:sp>
      <p:sp>
        <p:nvSpPr>
          <p:cNvPr id="46" name="TextBox 45"/>
          <p:cNvSpPr txBox="1"/>
          <p:nvPr/>
        </p:nvSpPr>
        <p:spPr>
          <a:xfrm>
            <a:off x="4572000" y="4160520"/>
            <a:ext cx="2057400" cy="274320"/>
          </a:xfrm>
          <a:prstGeom prst="rect">
            <a:avLst/>
          </a:prstGeom>
          <a:noFill/>
        </p:spPr>
        <p:txBody>
          <a:bodyPr wrap="square" lIns="0" rIns="0" tIns="0" bIns="0" anchor="t">
            <a:spAutoFit/>
          </a:bodyPr>
          <a:lstStyle/>
          <a:p>
            <a:pPr algn="ctr"/>
            <a:r>
              <a:rPr sz="1400" b="0" i="0">
                <a:solidFill>
                  <a:srgbClr val="5B6B80"/>
                </a:solidFill>
                <a:latin typeface="Calibri"/>
              </a:rPr>
              <a:t>8 worker threads</a:t>
            </a:r>
          </a:p>
        </p:txBody>
      </p:sp>
      <p:sp>
        <p:nvSpPr>
          <p:cNvPr id="47" name="Rounded Rectangle 46"/>
          <p:cNvSpPr/>
          <p:nvPr/>
        </p:nvSpPr>
        <p:spPr>
          <a:xfrm>
            <a:off x="457200" y="4206240"/>
            <a:ext cx="3931920" cy="502920"/>
          </a:xfrm>
          <a:prstGeom prst="roundRect">
            <a:avLst>
              <a:gd name="adj" fmla="val 14545"/>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4206240"/>
            <a:ext cx="3749039" cy="502920"/>
          </a:xfrm>
          <a:prstGeom prst="rect">
            <a:avLst/>
          </a:prstGeom>
          <a:noFill/>
        </p:spPr>
        <p:txBody>
          <a:bodyPr wrap="square" lIns="0" rIns="0" tIns="0" bIns="0" anchor="ctr">
            <a:spAutoFit/>
          </a:bodyPr>
          <a:lstStyle/>
          <a:p>
            <a:pPr algn="l"/>
            <a:r>
              <a:rPr sz="1500" b="1" i="0">
                <a:solidFill>
                  <a:srgbClr val="F5A623"/>
                </a:solidFill>
                <a:latin typeface="Calibri"/>
              </a:rPr>
              <a:t>Never on the full drive: </a:t>
            </a:r>
            <a:r>
              <a:rPr sz="1500" b="0" i="0">
                <a:solidFill>
                  <a:srgbClr val="FFFFFF"/>
                </a:solidFill>
                <a:latin typeface="Calibri"/>
              </a:rPr>
              <a:t>tree, caches, logs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The product</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26</a:t>
            </a:r>
          </a:p>
        </p:txBody>
      </p:sp>
      <p:pic>
        <p:nvPicPr>
          <p:cNvPr id="5" name="Picture 4" descr="app-overview.png"/>
          <p:cNvPicPr>
            <a:picLocks noChangeAspect="1"/>
          </p:cNvPicPr>
          <p:nvPr/>
        </p:nvPicPr>
        <p:blipFill>
          <a:blip r:embed="rId2"/>
          <a:stretch>
            <a:fillRect/>
          </a:stretch>
        </p:blipFill>
        <p:spPr>
          <a:xfrm>
            <a:off x="457200" y="1005840"/>
            <a:ext cx="5394960" cy="3396422"/>
          </a:xfrm>
          <a:prstGeom prst="rect">
            <a:avLst/>
          </a:prstGeom>
          <a:ln w="12700">
            <a:solidFill>
              <a:srgbClr val="D5DCE5"/>
            </a:solidFill>
          </a:ln>
        </p:spPr>
      </p:pic>
      <p:sp>
        <p:nvSpPr>
          <p:cNvPr id="6" name="TextBox 5"/>
          <p:cNvSpPr txBox="1"/>
          <p:nvPr/>
        </p:nvSpPr>
        <p:spPr>
          <a:xfrm>
            <a:off x="6080760" y="1097280"/>
            <a:ext cx="2606040" cy="3291840"/>
          </a:xfrm>
          <a:prstGeom prst="rect">
            <a:avLst/>
          </a:prstGeom>
          <a:noFill/>
        </p:spPr>
        <p:txBody>
          <a:bodyPr wrap="square" lIns="0" rIns="0" tIns="0" bIns="0" anchor="t">
            <a:spAutoFit/>
          </a:bodyPr>
          <a:lstStyle/>
          <a:p>
            <a:pPr algn="l">
              <a:spcAft>
                <a:spcPts val="1400"/>
              </a:spcAft>
            </a:pPr>
            <a:r>
              <a:rPr sz="1800" b="0" i="0">
                <a:solidFill>
                  <a:srgbClr val="0F1B2D"/>
                </a:solidFill>
                <a:latin typeface="Calibri"/>
              </a:rPr>
              <a:t>Sunburst of the drive, free space in the centre</a:t>
            </a:r>
          </a:p>
          <a:p>
            <a:pPr algn="l">
              <a:spcAft>
                <a:spcPts val="1400"/>
              </a:spcAft>
            </a:pPr>
            <a:r>
              <a:rPr sz="1800" b="0" i="0">
                <a:solidFill>
                  <a:srgbClr val="0F1B2D"/>
                </a:solidFill>
                <a:latin typeface="Calibri"/>
              </a:rPr>
              <a:t>29 GB safely reclaimable on our C:</a:t>
            </a:r>
          </a:p>
          <a:p>
            <a:pPr algn="l">
              <a:spcAft>
                <a:spcPts val="1400"/>
              </a:spcAft>
            </a:pPr>
            <a:r>
              <a:rPr sz="1800" b="0" i="0">
                <a:solidFill>
                  <a:srgbClr val="0F1B2D"/>
                </a:solidFill>
                <a:latin typeface="Calibri"/>
              </a:rPr>
              <a:t>Top space users, click to explore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Clean up and System</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27</a:t>
            </a:r>
          </a:p>
        </p:txBody>
      </p:sp>
      <p:pic>
        <p:nvPicPr>
          <p:cNvPr id="5" name="Picture 4" descr="app-cleanup.png"/>
          <p:cNvPicPr>
            <a:picLocks noChangeAspect="1"/>
          </p:cNvPicPr>
          <p:nvPr/>
        </p:nvPicPr>
        <p:blipFill>
          <a:blip r:embed="rId2"/>
          <a:stretch>
            <a:fillRect/>
          </a:stretch>
        </p:blipFill>
        <p:spPr>
          <a:xfrm>
            <a:off x="457200" y="1051560"/>
            <a:ext cx="4023360" cy="2532925"/>
          </a:xfrm>
          <a:prstGeom prst="rect">
            <a:avLst/>
          </a:prstGeom>
          <a:ln w="12700">
            <a:solidFill>
              <a:srgbClr val="D5DCE5"/>
            </a:solidFill>
          </a:ln>
        </p:spPr>
      </p:pic>
      <p:pic>
        <p:nvPicPr>
          <p:cNvPr id="6" name="Picture 5" descr="app-system.png"/>
          <p:cNvPicPr>
            <a:picLocks noChangeAspect="1"/>
          </p:cNvPicPr>
          <p:nvPr/>
        </p:nvPicPr>
        <p:blipFill>
          <a:blip r:embed="rId3"/>
          <a:stretch>
            <a:fillRect/>
          </a:stretch>
        </p:blipFill>
        <p:spPr>
          <a:xfrm>
            <a:off x="4663440" y="1051560"/>
            <a:ext cx="4023360" cy="2532925"/>
          </a:xfrm>
          <a:prstGeom prst="rect">
            <a:avLst/>
          </a:prstGeom>
          <a:ln w="12700">
            <a:solidFill>
              <a:srgbClr val="D5DCE5"/>
            </a:solidFill>
          </a:ln>
        </p:spPr>
      </p:pic>
      <p:sp>
        <p:nvSpPr>
          <p:cNvPr id="7" name="TextBox 6"/>
          <p:cNvSpPr txBox="1"/>
          <p:nvPr/>
        </p:nvSpPr>
        <p:spPr>
          <a:xfrm>
            <a:off x="457200" y="3703320"/>
            <a:ext cx="4023360" cy="548640"/>
          </a:xfrm>
          <a:prstGeom prst="rect">
            <a:avLst/>
          </a:prstGeom>
          <a:noFill/>
        </p:spPr>
        <p:txBody>
          <a:bodyPr wrap="square" lIns="0" rIns="0" tIns="0" bIns="0" anchor="t">
            <a:spAutoFit/>
          </a:bodyPr>
          <a:lstStyle/>
          <a:p>
            <a:pPr algn="l"/>
            <a:r>
              <a:rPr sz="1600" b="0" i="0">
                <a:solidFill>
                  <a:srgbClr val="0F1B2D"/>
                </a:solidFill>
                <a:latin typeface="Calibri"/>
              </a:rPr>
              <a:t>Four sections with safety badges and per-project groups</a:t>
            </a:r>
          </a:p>
        </p:txBody>
      </p:sp>
      <p:sp>
        <p:nvSpPr>
          <p:cNvPr id="8" name="TextBox 7"/>
          <p:cNvSpPr txBox="1"/>
          <p:nvPr/>
        </p:nvSpPr>
        <p:spPr>
          <a:xfrm>
            <a:off x="4663440" y="3703320"/>
            <a:ext cx="4023360" cy="548640"/>
          </a:xfrm>
          <a:prstGeom prst="rect">
            <a:avLst/>
          </a:prstGeom>
          <a:noFill/>
        </p:spPr>
        <p:txBody>
          <a:bodyPr wrap="square" lIns="0" rIns="0" tIns="0" bIns="0" anchor="t">
            <a:spAutoFit/>
          </a:bodyPr>
          <a:lstStyle/>
          <a:p>
            <a:pPr algn="l"/>
            <a:r>
              <a:rPr sz="1600" b="0" i="0">
                <a:solidFill>
                  <a:srgbClr val="0F1B2D"/>
                </a:solidFill>
                <a:latin typeface="Calibri"/>
              </a:rPr>
              <a:t>Windows uses 70.8 GB; each item gets the safe Windows tool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Disk internals and Rescue Mode</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28</a:t>
            </a:r>
          </a:p>
        </p:txBody>
      </p:sp>
      <p:pic>
        <p:nvPicPr>
          <p:cNvPr id="5" name="Picture 4" descr="app-internals.png"/>
          <p:cNvPicPr>
            <a:picLocks noChangeAspect="1"/>
          </p:cNvPicPr>
          <p:nvPr/>
        </p:nvPicPr>
        <p:blipFill>
          <a:blip r:embed="rId2"/>
          <a:stretch>
            <a:fillRect/>
          </a:stretch>
        </p:blipFill>
        <p:spPr>
          <a:xfrm>
            <a:off x="457200" y="1051560"/>
            <a:ext cx="4023360" cy="2532925"/>
          </a:xfrm>
          <a:prstGeom prst="rect">
            <a:avLst/>
          </a:prstGeom>
          <a:ln w="12700">
            <a:solidFill>
              <a:srgbClr val="D5DCE5"/>
            </a:solidFill>
          </a:ln>
        </p:spPr>
      </p:pic>
      <p:pic>
        <p:nvPicPr>
          <p:cNvPr id="6" name="Picture 5" descr="app-rescue.png"/>
          <p:cNvPicPr>
            <a:picLocks noChangeAspect="1"/>
          </p:cNvPicPr>
          <p:nvPr/>
        </p:nvPicPr>
        <p:blipFill>
          <a:blip r:embed="rId3"/>
          <a:stretch>
            <a:fillRect/>
          </a:stretch>
        </p:blipFill>
        <p:spPr>
          <a:xfrm>
            <a:off x="4663440" y="1051560"/>
            <a:ext cx="4023360" cy="2532925"/>
          </a:xfrm>
          <a:prstGeom prst="rect">
            <a:avLst/>
          </a:prstGeom>
          <a:ln w="12700">
            <a:solidFill>
              <a:srgbClr val="D5DCE5"/>
            </a:solidFill>
          </a:ln>
        </p:spPr>
      </p:pic>
      <p:sp>
        <p:nvSpPr>
          <p:cNvPr id="7" name="TextBox 6"/>
          <p:cNvSpPr txBox="1"/>
          <p:nvPr/>
        </p:nvSpPr>
        <p:spPr>
          <a:xfrm>
            <a:off x="457200" y="3703320"/>
            <a:ext cx="4023360" cy="548640"/>
          </a:xfrm>
          <a:prstGeom prst="rect">
            <a:avLst/>
          </a:prstGeom>
          <a:noFill/>
        </p:spPr>
        <p:txBody>
          <a:bodyPr wrap="square" lIns="0" rIns="0" tIns="0" bIns="0" anchor="t">
            <a:spAutoFit/>
          </a:bodyPr>
          <a:lstStyle/>
          <a:p>
            <a:pPr algn="l"/>
            <a:r>
              <a:rPr sz="1600" b="0" i="0">
                <a:solidFill>
                  <a:srgbClr val="0F1B2D"/>
                </a:solidFill>
                <a:latin typeface="Calibri"/>
              </a:rPr>
              <a:t>8 GB system image stored in 58 fragments</a:t>
            </a:r>
          </a:p>
        </p:txBody>
      </p:sp>
      <p:sp>
        <p:nvSpPr>
          <p:cNvPr id="8" name="TextBox 7"/>
          <p:cNvSpPr txBox="1"/>
          <p:nvPr/>
        </p:nvSpPr>
        <p:spPr>
          <a:xfrm>
            <a:off x="4663440" y="3703320"/>
            <a:ext cx="4023360" cy="548640"/>
          </a:xfrm>
          <a:prstGeom prst="rect">
            <a:avLst/>
          </a:prstGeom>
          <a:noFill/>
        </p:spPr>
        <p:txBody>
          <a:bodyPr wrap="square" lIns="0" rIns="0" tIns="0" bIns="0" anchor="t">
            <a:spAutoFit/>
          </a:bodyPr>
          <a:lstStyle/>
          <a:p>
            <a:pPr algn="l"/>
            <a:r>
              <a:rPr sz="1600" b="0" i="0">
                <a:solidFill>
                  <a:srgbClr val="0F1B2D"/>
                </a:solidFill>
                <a:latin typeface="Calibri"/>
              </a:rPr>
              <a:t>Rescue banner: nothing is written to 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Tools and technologies</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29</a:t>
            </a:r>
          </a:p>
        </p:txBody>
      </p:sp>
      <p:sp>
        <p:nvSpPr>
          <p:cNvPr id="5" name="Rounded Rectangle 4"/>
          <p:cNvSpPr/>
          <p:nvPr/>
        </p:nvSpPr>
        <p:spPr>
          <a:xfrm>
            <a:off x="457200" y="1097280"/>
            <a:ext cx="1920240" cy="1554480"/>
          </a:xfrm>
          <a:prstGeom prst="roundRect">
            <a:avLst>
              <a:gd name="adj" fmla="val 4705"/>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94360" y="1261872"/>
            <a:ext cx="438912" cy="438912"/>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0">
                <a:solidFill>
                  <a:srgbClr val="FFFFFF"/>
                </a:solidFill>
                <a:latin typeface="Segoe MDL2 Assets"/>
              </a:rPr>
              <a:t></a:t>
            </a:r>
          </a:p>
        </p:txBody>
      </p:sp>
      <p:sp>
        <p:nvSpPr>
          <p:cNvPr id="7" name="TextBox 6"/>
          <p:cNvSpPr txBox="1"/>
          <p:nvPr/>
        </p:nvSpPr>
        <p:spPr>
          <a:xfrm>
            <a:off x="1143000" y="1207007"/>
            <a:ext cx="1188720" cy="548640"/>
          </a:xfrm>
          <a:prstGeom prst="rect">
            <a:avLst/>
          </a:prstGeom>
          <a:noFill/>
        </p:spPr>
        <p:txBody>
          <a:bodyPr wrap="square" lIns="0" rIns="0" tIns="0" bIns="0" anchor="ctr">
            <a:spAutoFit/>
          </a:bodyPr>
          <a:lstStyle/>
          <a:p>
            <a:pPr algn="l"/>
            <a:r>
              <a:rPr sz="1800" b="1" i="0">
                <a:solidFill>
                  <a:srgbClr val="0F1B2D"/>
                </a:solidFill>
                <a:latin typeface="Calibri"/>
              </a:rPr>
              <a:t>C++23</a:t>
            </a:r>
          </a:p>
        </p:txBody>
      </p:sp>
      <p:sp>
        <p:nvSpPr>
          <p:cNvPr id="8" name="TextBox 7"/>
          <p:cNvSpPr txBox="1"/>
          <p:nvPr/>
        </p:nvSpPr>
        <p:spPr>
          <a:xfrm>
            <a:off x="594360" y="1874519"/>
            <a:ext cx="1691640" cy="731520"/>
          </a:xfrm>
          <a:prstGeom prst="rect">
            <a:avLst/>
          </a:prstGeom>
          <a:noFill/>
        </p:spPr>
        <p:txBody>
          <a:bodyPr wrap="square" lIns="0" rIns="0" tIns="0" bIns="0" anchor="t">
            <a:spAutoFit/>
          </a:bodyPr>
          <a:lstStyle/>
          <a:p>
            <a:pPr algn="l"/>
            <a:r>
              <a:rPr sz="1600" b="0" i="0">
                <a:solidFill>
                  <a:srgbClr val="5B6B80"/>
                </a:solidFill>
                <a:latin typeface="Calibri"/>
              </a:rPr>
              <a:t>Engine and UI</a:t>
            </a:r>
          </a:p>
        </p:txBody>
      </p:sp>
      <p:sp>
        <p:nvSpPr>
          <p:cNvPr id="9" name="Rounded Rectangle 8"/>
          <p:cNvSpPr/>
          <p:nvPr/>
        </p:nvSpPr>
        <p:spPr>
          <a:xfrm>
            <a:off x="2560320" y="1097280"/>
            <a:ext cx="1920240" cy="1554480"/>
          </a:xfrm>
          <a:prstGeom prst="roundRect">
            <a:avLst>
              <a:gd name="adj" fmla="val 4705"/>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697479" y="1261872"/>
            <a:ext cx="438912" cy="438912"/>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0">
                <a:solidFill>
                  <a:srgbClr val="FFFFFF"/>
                </a:solidFill>
                <a:latin typeface="Segoe MDL2 Assets"/>
              </a:rPr>
              <a:t></a:t>
            </a:r>
          </a:p>
        </p:txBody>
      </p:sp>
      <p:sp>
        <p:nvSpPr>
          <p:cNvPr id="11" name="TextBox 10"/>
          <p:cNvSpPr txBox="1"/>
          <p:nvPr/>
        </p:nvSpPr>
        <p:spPr>
          <a:xfrm>
            <a:off x="3246120" y="1207007"/>
            <a:ext cx="1188720" cy="548640"/>
          </a:xfrm>
          <a:prstGeom prst="rect">
            <a:avLst/>
          </a:prstGeom>
          <a:noFill/>
        </p:spPr>
        <p:txBody>
          <a:bodyPr wrap="square" lIns="0" rIns="0" tIns="0" bIns="0" anchor="ctr">
            <a:spAutoFit/>
          </a:bodyPr>
          <a:lstStyle/>
          <a:p>
            <a:pPr algn="l"/>
            <a:r>
              <a:rPr sz="1800" b="1" i="0">
                <a:solidFill>
                  <a:srgbClr val="0F1B2D"/>
                </a:solidFill>
                <a:latin typeface="Calibri"/>
              </a:rPr>
              <a:t>Win32 API</a:t>
            </a:r>
          </a:p>
        </p:txBody>
      </p:sp>
      <p:sp>
        <p:nvSpPr>
          <p:cNvPr id="12" name="TextBox 11"/>
          <p:cNvSpPr txBox="1"/>
          <p:nvPr/>
        </p:nvSpPr>
        <p:spPr>
          <a:xfrm>
            <a:off x="2697479" y="1874519"/>
            <a:ext cx="1691640" cy="731520"/>
          </a:xfrm>
          <a:prstGeom prst="rect">
            <a:avLst/>
          </a:prstGeom>
          <a:noFill/>
        </p:spPr>
        <p:txBody>
          <a:bodyPr wrap="square" lIns="0" rIns="0" tIns="0" bIns="0" anchor="t">
            <a:spAutoFit/>
          </a:bodyPr>
          <a:lstStyle/>
          <a:p>
            <a:pPr algn="l"/>
            <a:r>
              <a:rPr sz="1600" b="0" i="0">
                <a:solidFill>
                  <a:srgbClr val="5B6B80"/>
                </a:solidFill>
                <a:latin typeface="Calibri"/>
              </a:rPr>
              <a:t>Files, threads, shell</a:t>
            </a:r>
          </a:p>
        </p:txBody>
      </p:sp>
      <p:sp>
        <p:nvSpPr>
          <p:cNvPr id="13" name="Rounded Rectangle 12"/>
          <p:cNvSpPr/>
          <p:nvPr/>
        </p:nvSpPr>
        <p:spPr>
          <a:xfrm>
            <a:off x="4663440" y="1097280"/>
            <a:ext cx="1920240" cy="1554480"/>
          </a:xfrm>
          <a:prstGeom prst="roundRect">
            <a:avLst>
              <a:gd name="adj" fmla="val 4705"/>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00600" y="1261872"/>
            <a:ext cx="438912" cy="438912"/>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0">
                <a:solidFill>
                  <a:srgbClr val="FFFFFF"/>
                </a:solidFill>
                <a:latin typeface="Segoe MDL2 Assets"/>
              </a:rPr>
              <a:t></a:t>
            </a:r>
          </a:p>
        </p:txBody>
      </p:sp>
      <p:sp>
        <p:nvSpPr>
          <p:cNvPr id="15" name="TextBox 14"/>
          <p:cNvSpPr txBox="1"/>
          <p:nvPr/>
        </p:nvSpPr>
        <p:spPr>
          <a:xfrm>
            <a:off x="5349240" y="1207007"/>
            <a:ext cx="1188720" cy="548640"/>
          </a:xfrm>
          <a:prstGeom prst="rect">
            <a:avLst/>
          </a:prstGeom>
          <a:noFill/>
        </p:spPr>
        <p:txBody>
          <a:bodyPr wrap="square" lIns="0" rIns="0" tIns="0" bIns="0" anchor="ctr">
            <a:spAutoFit/>
          </a:bodyPr>
          <a:lstStyle/>
          <a:p>
            <a:pPr algn="l"/>
            <a:r>
              <a:rPr sz="1800" b="1" i="0">
                <a:solidFill>
                  <a:srgbClr val="0F1B2D"/>
                </a:solidFill>
                <a:latin typeface="Calibri"/>
              </a:rPr>
              <a:t>Direct2D</a:t>
            </a:r>
          </a:p>
        </p:txBody>
      </p:sp>
      <p:sp>
        <p:nvSpPr>
          <p:cNvPr id="16" name="TextBox 15"/>
          <p:cNvSpPr txBox="1"/>
          <p:nvPr/>
        </p:nvSpPr>
        <p:spPr>
          <a:xfrm>
            <a:off x="4800600" y="1874519"/>
            <a:ext cx="1691640" cy="731520"/>
          </a:xfrm>
          <a:prstGeom prst="rect">
            <a:avLst/>
          </a:prstGeom>
          <a:noFill/>
        </p:spPr>
        <p:txBody>
          <a:bodyPr wrap="square" lIns="0" rIns="0" tIns="0" bIns="0" anchor="t">
            <a:spAutoFit/>
          </a:bodyPr>
          <a:lstStyle/>
          <a:p>
            <a:pPr algn="l"/>
            <a:r>
              <a:rPr sz="1600" b="0" i="0">
                <a:solidFill>
                  <a:srgbClr val="5B6B80"/>
                </a:solidFill>
                <a:latin typeface="Calibri"/>
              </a:rPr>
              <a:t>With DirectWrite: GPU-drawn interface</a:t>
            </a:r>
          </a:p>
        </p:txBody>
      </p:sp>
      <p:sp>
        <p:nvSpPr>
          <p:cNvPr id="17" name="Rounded Rectangle 16"/>
          <p:cNvSpPr/>
          <p:nvPr/>
        </p:nvSpPr>
        <p:spPr>
          <a:xfrm>
            <a:off x="6766559" y="1097280"/>
            <a:ext cx="1920240" cy="1554480"/>
          </a:xfrm>
          <a:prstGeom prst="roundRect">
            <a:avLst>
              <a:gd name="adj" fmla="val 4705"/>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03720" y="1261872"/>
            <a:ext cx="438912" cy="438912"/>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0">
                <a:solidFill>
                  <a:srgbClr val="FFFFFF"/>
                </a:solidFill>
                <a:latin typeface="Segoe MDL2 Assets"/>
              </a:rPr>
              <a:t></a:t>
            </a:r>
          </a:p>
        </p:txBody>
      </p:sp>
      <p:sp>
        <p:nvSpPr>
          <p:cNvPr id="19" name="TextBox 18"/>
          <p:cNvSpPr txBox="1"/>
          <p:nvPr/>
        </p:nvSpPr>
        <p:spPr>
          <a:xfrm>
            <a:off x="7452359" y="1207007"/>
            <a:ext cx="1188720" cy="548640"/>
          </a:xfrm>
          <a:prstGeom prst="rect">
            <a:avLst/>
          </a:prstGeom>
          <a:noFill/>
        </p:spPr>
        <p:txBody>
          <a:bodyPr wrap="square" lIns="0" rIns="0" tIns="0" bIns="0" anchor="ctr">
            <a:spAutoFit/>
          </a:bodyPr>
          <a:lstStyle/>
          <a:p>
            <a:pPr algn="l"/>
            <a:r>
              <a:rPr sz="1800" b="1" i="0">
                <a:solidFill>
                  <a:srgbClr val="0F1B2D"/>
                </a:solidFill>
                <a:latin typeface="Calibri"/>
              </a:rPr>
              <a:t>clang</a:t>
            </a:r>
          </a:p>
        </p:txBody>
      </p:sp>
      <p:sp>
        <p:nvSpPr>
          <p:cNvPr id="20" name="TextBox 19"/>
          <p:cNvSpPr txBox="1"/>
          <p:nvPr/>
        </p:nvSpPr>
        <p:spPr>
          <a:xfrm>
            <a:off x="6903720" y="1874519"/>
            <a:ext cx="1691640" cy="731520"/>
          </a:xfrm>
          <a:prstGeom prst="rect">
            <a:avLst/>
          </a:prstGeom>
          <a:noFill/>
        </p:spPr>
        <p:txBody>
          <a:bodyPr wrap="square" lIns="0" rIns="0" tIns="0" bIns="0" anchor="t">
            <a:spAutoFit/>
          </a:bodyPr>
          <a:lstStyle/>
          <a:p>
            <a:pPr algn="l"/>
            <a:r>
              <a:rPr sz="1600" b="0" i="0">
                <a:solidFill>
                  <a:srgbClr val="5B6B80"/>
                </a:solidFill>
                <a:latin typeface="Calibri"/>
              </a:rPr>
              <a:t>llvm-mingw: one static x64 exe</a:t>
            </a:r>
          </a:p>
        </p:txBody>
      </p:sp>
      <p:sp>
        <p:nvSpPr>
          <p:cNvPr id="21" name="Rounded Rectangle 20"/>
          <p:cNvSpPr/>
          <p:nvPr/>
        </p:nvSpPr>
        <p:spPr>
          <a:xfrm>
            <a:off x="457200" y="2834639"/>
            <a:ext cx="1920240" cy="1554480"/>
          </a:xfrm>
          <a:prstGeom prst="roundRect">
            <a:avLst>
              <a:gd name="adj" fmla="val 4705"/>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4360" y="2999232"/>
            <a:ext cx="438912" cy="438912"/>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0">
                <a:solidFill>
                  <a:srgbClr val="FFFFFF"/>
                </a:solidFill>
                <a:latin typeface="Segoe MDL2 Assets"/>
              </a:rPr>
              <a:t></a:t>
            </a:r>
          </a:p>
        </p:txBody>
      </p:sp>
      <p:sp>
        <p:nvSpPr>
          <p:cNvPr id="23" name="TextBox 22"/>
          <p:cNvSpPr txBox="1"/>
          <p:nvPr/>
        </p:nvSpPr>
        <p:spPr>
          <a:xfrm>
            <a:off x="1143000" y="2944368"/>
            <a:ext cx="1188720" cy="548640"/>
          </a:xfrm>
          <a:prstGeom prst="rect">
            <a:avLst/>
          </a:prstGeom>
          <a:noFill/>
        </p:spPr>
        <p:txBody>
          <a:bodyPr wrap="square" lIns="0" rIns="0" tIns="0" bIns="0" anchor="ctr">
            <a:spAutoFit/>
          </a:bodyPr>
          <a:lstStyle/>
          <a:p>
            <a:pPr algn="l"/>
            <a:r>
              <a:rPr sz="1800" b="1" i="0">
                <a:solidFill>
                  <a:srgbClr val="0F1B2D"/>
                </a:solidFill>
                <a:latin typeface="Calibri"/>
              </a:rPr>
              <a:t>PowerShell</a:t>
            </a:r>
          </a:p>
        </p:txBody>
      </p:sp>
      <p:sp>
        <p:nvSpPr>
          <p:cNvPr id="24" name="TextBox 23"/>
          <p:cNvSpPr txBox="1"/>
          <p:nvPr/>
        </p:nvSpPr>
        <p:spPr>
          <a:xfrm>
            <a:off x="594360" y="3611879"/>
            <a:ext cx="1691640" cy="731520"/>
          </a:xfrm>
          <a:prstGeom prst="rect">
            <a:avLst/>
          </a:prstGeom>
          <a:noFill/>
        </p:spPr>
        <p:txBody>
          <a:bodyPr wrap="square" lIns="0" rIns="0" tIns="0" bIns="0" anchor="t">
            <a:spAutoFit/>
          </a:bodyPr>
          <a:lstStyle/>
          <a:p>
            <a:pPr algn="l"/>
            <a:r>
              <a:rPr sz="1600" b="0" i="0">
                <a:solidFill>
                  <a:srgbClr val="5B6B80"/>
                </a:solidFill>
                <a:latin typeface="Calibri"/>
              </a:rPr>
              <a:t>Build, package, tests</a:t>
            </a:r>
          </a:p>
        </p:txBody>
      </p:sp>
      <p:sp>
        <p:nvSpPr>
          <p:cNvPr id="25" name="Rounded Rectangle 24"/>
          <p:cNvSpPr/>
          <p:nvPr/>
        </p:nvSpPr>
        <p:spPr>
          <a:xfrm>
            <a:off x="2560320" y="2834639"/>
            <a:ext cx="1920240" cy="1554480"/>
          </a:xfrm>
          <a:prstGeom prst="roundRect">
            <a:avLst>
              <a:gd name="adj" fmla="val 4705"/>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697479" y="2999232"/>
            <a:ext cx="438912" cy="438912"/>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0">
                <a:solidFill>
                  <a:srgbClr val="FFFFFF"/>
                </a:solidFill>
                <a:latin typeface="Segoe MDL2 Assets"/>
              </a:rPr>
              <a:t></a:t>
            </a:r>
          </a:p>
        </p:txBody>
      </p:sp>
      <p:sp>
        <p:nvSpPr>
          <p:cNvPr id="27" name="TextBox 26"/>
          <p:cNvSpPr txBox="1"/>
          <p:nvPr/>
        </p:nvSpPr>
        <p:spPr>
          <a:xfrm>
            <a:off x="3246120" y="2944368"/>
            <a:ext cx="1188720" cy="548640"/>
          </a:xfrm>
          <a:prstGeom prst="rect">
            <a:avLst/>
          </a:prstGeom>
          <a:noFill/>
        </p:spPr>
        <p:txBody>
          <a:bodyPr wrap="square" lIns="0" rIns="0" tIns="0" bIns="0" anchor="ctr">
            <a:spAutoFit/>
          </a:bodyPr>
          <a:lstStyle/>
          <a:p>
            <a:pPr algn="l"/>
            <a:r>
              <a:rPr sz="1800" b="1" i="0">
                <a:solidFill>
                  <a:srgbClr val="0F1B2D"/>
                </a:solidFill>
                <a:latin typeface="Calibri"/>
              </a:rPr>
              <a:t>Git</a:t>
            </a:r>
          </a:p>
        </p:txBody>
      </p:sp>
      <p:sp>
        <p:nvSpPr>
          <p:cNvPr id="28" name="TextBox 27"/>
          <p:cNvSpPr txBox="1"/>
          <p:nvPr/>
        </p:nvSpPr>
        <p:spPr>
          <a:xfrm>
            <a:off x="2697479" y="3611879"/>
            <a:ext cx="1691640" cy="731520"/>
          </a:xfrm>
          <a:prstGeom prst="rect">
            <a:avLst/>
          </a:prstGeom>
          <a:noFill/>
        </p:spPr>
        <p:txBody>
          <a:bodyPr wrap="square" lIns="0" rIns="0" tIns="0" bIns="0" anchor="t">
            <a:spAutoFit/>
          </a:bodyPr>
          <a:lstStyle/>
          <a:p>
            <a:pPr algn="l"/>
            <a:r>
              <a:rPr sz="1600" b="0" i="0">
                <a:solidFill>
                  <a:srgbClr val="5B6B80"/>
                </a:solidFill>
                <a:latin typeface="Calibri"/>
              </a:rPr>
              <a:t>GitHub, commits per module</a:t>
            </a:r>
          </a:p>
        </p:txBody>
      </p:sp>
      <p:sp>
        <p:nvSpPr>
          <p:cNvPr id="29" name="Rounded Rectangle 28"/>
          <p:cNvSpPr/>
          <p:nvPr/>
        </p:nvSpPr>
        <p:spPr>
          <a:xfrm>
            <a:off x="4663440" y="2834639"/>
            <a:ext cx="1920240" cy="1554480"/>
          </a:xfrm>
          <a:prstGeom prst="roundRect">
            <a:avLst>
              <a:gd name="adj" fmla="val 4705"/>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800600" y="2999232"/>
            <a:ext cx="438912" cy="438912"/>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0">
                <a:solidFill>
                  <a:srgbClr val="FFFFFF"/>
                </a:solidFill>
                <a:latin typeface="Segoe MDL2 Assets"/>
              </a:rPr>
              <a:t></a:t>
            </a:r>
          </a:p>
        </p:txBody>
      </p:sp>
      <p:sp>
        <p:nvSpPr>
          <p:cNvPr id="31" name="TextBox 30"/>
          <p:cNvSpPr txBox="1"/>
          <p:nvPr/>
        </p:nvSpPr>
        <p:spPr>
          <a:xfrm>
            <a:off x="5349240" y="2944368"/>
            <a:ext cx="1188720" cy="548640"/>
          </a:xfrm>
          <a:prstGeom prst="rect">
            <a:avLst/>
          </a:prstGeom>
          <a:noFill/>
        </p:spPr>
        <p:txBody>
          <a:bodyPr wrap="square" lIns="0" rIns="0" tIns="0" bIns="0" anchor="ctr">
            <a:spAutoFit/>
          </a:bodyPr>
          <a:lstStyle/>
          <a:p>
            <a:pPr algn="l"/>
            <a:r>
              <a:rPr sz="1800" b="1" i="0">
                <a:solidFill>
                  <a:srgbClr val="0F1B2D"/>
                </a:solidFill>
                <a:latin typeface="Calibri"/>
              </a:rPr>
              <a:t>Claude Code</a:t>
            </a:r>
          </a:p>
        </p:txBody>
      </p:sp>
      <p:sp>
        <p:nvSpPr>
          <p:cNvPr id="32" name="TextBox 31"/>
          <p:cNvSpPr txBox="1"/>
          <p:nvPr/>
        </p:nvSpPr>
        <p:spPr>
          <a:xfrm>
            <a:off x="4800600" y="3611879"/>
            <a:ext cx="1691640" cy="731520"/>
          </a:xfrm>
          <a:prstGeom prst="rect">
            <a:avLst/>
          </a:prstGeom>
          <a:noFill/>
        </p:spPr>
        <p:txBody>
          <a:bodyPr wrap="square" lIns="0" rIns="0" tIns="0" bIns="0" anchor="t">
            <a:spAutoFit/>
          </a:bodyPr>
          <a:lstStyle/>
          <a:p>
            <a:pPr algn="l"/>
            <a:r>
              <a:rPr sz="1600" b="0" i="0">
                <a:solidFill>
                  <a:srgbClr val="5B6B80"/>
                </a:solidFill>
                <a:latin typeface="Calibri"/>
              </a:rPr>
              <a:t>Pair programming and code audits</a:t>
            </a:r>
          </a:p>
        </p:txBody>
      </p:sp>
      <p:sp>
        <p:nvSpPr>
          <p:cNvPr id="33" name="Rounded Rectangle 32"/>
          <p:cNvSpPr/>
          <p:nvPr/>
        </p:nvSpPr>
        <p:spPr>
          <a:xfrm>
            <a:off x="6766559" y="2834639"/>
            <a:ext cx="1920240" cy="1554480"/>
          </a:xfrm>
          <a:prstGeom prst="roundRect">
            <a:avLst>
              <a:gd name="adj" fmla="val 4705"/>
            </a:avLst>
          </a:prstGeom>
          <a:solidFill>
            <a:srgbClr val="FFFFFF"/>
          </a:solidFill>
          <a:ln w="1270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903720" y="2999232"/>
            <a:ext cx="438912" cy="438912"/>
          </a:xfrm>
          <a:prstGeom prst="ellipse">
            <a:avLst/>
          </a:prstGeom>
          <a:solidFill>
            <a:srgbClr val="3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0">
                <a:solidFill>
                  <a:srgbClr val="FFFFFF"/>
                </a:solidFill>
                <a:latin typeface="Segoe MDL2 Assets"/>
              </a:rPr>
              <a:t></a:t>
            </a:r>
          </a:p>
        </p:txBody>
      </p:sp>
      <p:sp>
        <p:nvSpPr>
          <p:cNvPr id="35" name="TextBox 34"/>
          <p:cNvSpPr txBox="1"/>
          <p:nvPr/>
        </p:nvSpPr>
        <p:spPr>
          <a:xfrm>
            <a:off x="7452359" y="2944368"/>
            <a:ext cx="1188720" cy="548640"/>
          </a:xfrm>
          <a:prstGeom prst="rect">
            <a:avLst/>
          </a:prstGeom>
          <a:noFill/>
        </p:spPr>
        <p:txBody>
          <a:bodyPr wrap="square" lIns="0" rIns="0" tIns="0" bIns="0" anchor="ctr">
            <a:spAutoFit/>
          </a:bodyPr>
          <a:lstStyle/>
          <a:p>
            <a:pPr algn="l"/>
            <a:r>
              <a:rPr sz="1800" b="1" i="0">
                <a:solidFill>
                  <a:srgbClr val="0F1B2D"/>
                </a:solidFill>
                <a:latin typeface="Calibri"/>
              </a:rPr>
              <a:t>Python</a:t>
            </a:r>
          </a:p>
        </p:txBody>
      </p:sp>
      <p:sp>
        <p:nvSpPr>
          <p:cNvPr id="36" name="TextBox 35"/>
          <p:cNvSpPr txBox="1"/>
          <p:nvPr/>
        </p:nvSpPr>
        <p:spPr>
          <a:xfrm>
            <a:off x="6903720" y="3611879"/>
            <a:ext cx="1691640" cy="731520"/>
          </a:xfrm>
          <a:prstGeom prst="rect">
            <a:avLst/>
          </a:prstGeom>
          <a:noFill/>
        </p:spPr>
        <p:txBody>
          <a:bodyPr wrap="square" lIns="0" rIns="0" tIns="0" bIns="0" anchor="t">
            <a:spAutoFit/>
          </a:bodyPr>
          <a:lstStyle/>
          <a:p>
            <a:pPr algn="l"/>
            <a:r>
              <a:rPr sz="1600" b="0" i="0">
                <a:solidFill>
                  <a:srgbClr val="5B6B80"/>
                </a:solidFill>
                <a:latin typeface="Calibri"/>
              </a:rPr>
              <a:t>Icon, strings, this deck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Results</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30</a:t>
            </a:r>
          </a:p>
        </p:txBody>
      </p:sp>
      <p:sp>
        <p:nvSpPr>
          <p:cNvPr id="5" name="Rounded Rectangle 4"/>
          <p:cNvSpPr/>
          <p:nvPr/>
        </p:nvSpPr>
        <p:spPr>
          <a:xfrm>
            <a:off x="457200" y="1051560"/>
            <a:ext cx="2615184" cy="1417320"/>
          </a:xfrm>
          <a:prstGeom prst="roundRect">
            <a:avLst>
              <a:gd name="adj" fmla="val 5161"/>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19"/>
            <a:ext cx="2615184" cy="685800"/>
          </a:xfrm>
          <a:prstGeom prst="rect">
            <a:avLst/>
          </a:prstGeom>
          <a:noFill/>
        </p:spPr>
        <p:txBody>
          <a:bodyPr wrap="square" lIns="0" rIns="0" tIns="0" bIns="0" anchor="t">
            <a:spAutoFit/>
          </a:bodyPr>
          <a:lstStyle/>
          <a:p>
            <a:pPr algn="ctr"/>
            <a:r>
              <a:rPr sz="3600" b="1" i="0">
                <a:solidFill>
                  <a:srgbClr val="F5A623"/>
                </a:solidFill>
                <a:latin typeface="Cambria"/>
              </a:rPr>
              <a:t>58 → 8.2 s</a:t>
            </a:r>
          </a:p>
        </p:txBody>
      </p:sp>
      <p:sp>
        <p:nvSpPr>
          <p:cNvPr id="7" name="TextBox 6"/>
          <p:cNvSpPr txBox="1"/>
          <p:nvPr/>
        </p:nvSpPr>
        <p:spPr>
          <a:xfrm>
            <a:off x="548640" y="1892807"/>
            <a:ext cx="2432304" cy="502920"/>
          </a:xfrm>
          <a:prstGeom prst="rect">
            <a:avLst/>
          </a:prstGeom>
          <a:noFill/>
        </p:spPr>
        <p:txBody>
          <a:bodyPr wrap="square" lIns="0" rIns="0" tIns="0" bIns="0" anchor="t">
            <a:spAutoFit/>
          </a:bodyPr>
          <a:lstStyle/>
          <a:p>
            <a:pPr algn="ctr"/>
            <a:r>
              <a:rPr sz="1600" b="0" i="0">
                <a:solidFill>
                  <a:srgbClr val="FFFFFF"/>
                </a:solidFill>
                <a:latin typeface="Calibri"/>
              </a:rPr>
              <a:t>full C: scan, warm cache</a:t>
            </a:r>
          </a:p>
        </p:txBody>
      </p:sp>
      <p:sp>
        <p:nvSpPr>
          <p:cNvPr id="8" name="Rounded Rectangle 7"/>
          <p:cNvSpPr/>
          <p:nvPr/>
        </p:nvSpPr>
        <p:spPr>
          <a:xfrm>
            <a:off x="3264408" y="1051560"/>
            <a:ext cx="2615184" cy="1417320"/>
          </a:xfrm>
          <a:prstGeom prst="roundRect">
            <a:avLst>
              <a:gd name="adj" fmla="val 5161"/>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64408" y="1188719"/>
            <a:ext cx="2615184" cy="685800"/>
          </a:xfrm>
          <a:prstGeom prst="rect">
            <a:avLst/>
          </a:prstGeom>
          <a:noFill/>
        </p:spPr>
        <p:txBody>
          <a:bodyPr wrap="square" lIns="0" rIns="0" tIns="0" bIns="0" anchor="t">
            <a:spAutoFit/>
          </a:bodyPr>
          <a:lstStyle/>
          <a:p>
            <a:pPr algn="ctr"/>
            <a:r>
              <a:rPr sz="3600" b="1" i="0">
                <a:solidFill>
                  <a:srgbClr val="F5A623"/>
                </a:solidFill>
                <a:latin typeface="Cambria"/>
              </a:rPr>
              <a:t>3.0 s</a:t>
            </a:r>
          </a:p>
        </p:txBody>
      </p:sp>
      <p:sp>
        <p:nvSpPr>
          <p:cNvPr id="10" name="TextBox 9"/>
          <p:cNvSpPr txBox="1"/>
          <p:nvPr/>
        </p:nvSpPr>
        <p:spPr>
          <a:xfrm>
            <a:off x="3355848" y="1892807"/>
            <a:ext cx="2432304" cy="502920"/>
          </a:xfrm>
          <a:prstGeom prst="rect">
            <a:avLst/>
          </a:prstGeom>
          <a:noFill/>
        </p:spPr>
        <p:txBody>
          <a:bodyPr wrap="square" lIns="0" rIns="0" tIns="0" bIns="0" anchor="t">
            <a:spAutoFit/>
          </a:bodyPr>
          <a:lstStyle/>
          <a:p>
            <a:pPr algn="ctr"/>
            <a:r>
              <a:rPr sz="1600" b="0" i="0">
                <a:solidFill>
                  <a:srgbClr val="FFFFFF"/>
                </a:solidFill>
                <a:latin typeface="Calibri"/>
              </a:rPr>
              <a:t>first “you can free” answer</a:t>
            </a:r>
          </a:p>
        </p:txBody>
      </p:sp>
      <p:sp>
        <p:nvSpPr>
          <p:cNvPr id="11" name="Rounded Rectangle 10"/>
          <p:cNvSpPr/>
          <p:nvPr/>
        </p:nvSpPr>
        <p:spPr>
          <a:xfrm>
            <a:off x="6071616" y="1051560"/>
            <a:ext cx="2615184" cy="1417320"/>
          </a:xfrm>
          <a:prstGeom prst="roundRect">
            <a:avLst>
              <a:gd name="adj" fmla="val 5161"/>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71616" y="1188719"/>
            <a:ext cx="2615184" cy="685800"/>
          </a:xfrm>
          <a:prstGeom prst="rect">
            <a:avLst/>
          </a:prstGeom>
          <a:noFill/>
        </p:spPr>
        <p:txBody>
          <a:bodyPr wrap="square" lIns="0" rIns="0" tIns="0" bIns="0" anchor="t">
            <a:spAutoFit/>
          </a:bodyPr>
          <a:lstStyle/>
          <a:p>
            <a:pPr algn="ctr"/>
            <a:r>
              <a:rPr sz="3600" b="1" i="0">
                <a:solidFill>
                  <a:srgbClr val="F5A623"/>
                </a:solidFill>
                <a:latin typeface="Cambria"/>
              </a:rPr>
              <a:t>255 MB</a:t>
            </a:r>
          </a:p>
        </p:txBody>
      </p:sp>
      <p:sp>
        <p:nvSpPr>
          <p:cNvPr id="13" name="TextBox 12"/>
          <p:cNvSpPr txBox="1"/>
          <p:nvPr/>
        </p:nvSpPr>
        <p:spPr>
          <a:xfrm>
            <a:off x="6163055" y="1892807"/>
            <a:ext cx="2432304" cy="502920"/>
          </a:xfrm>
          <a:prstGeom prst="rect">
            <a:avLst/>
          </a:prstGeom>
          <a:noFill/>
        </p:spPr>
        <p:txBody>
          <a:bodyPr wrap="square" lIns="0" rIns="0" tIns="0" bIns="0" anchor="t">
            <a:spAutoFit/>
          </a:bodyPr>
          <a:lstStyle/>
          <a:p>
            <a:pPr algn="ctr"/>
            <a:r>
              <a:rPr sz="1600" b="0" i="0">
                <a:solidFill>
                  <a:srgbClr val="FFFFFF"/>
                </a:solidFill>
                <a:latin typeface="Calibri"/>
              </a:rPr>
              <a:t>peak RAM, 1.68M files</a:t>
            </a:r>
          </a:p>
        </p:txBody>
      </p:sp>
      <p:sp>
        <p:nvSpPr>
          <p:cNvPr id="14" name="Rounded Rectangle 13"/>
          <p:cNvSpPr/>
          <p:nvPr/>
        </p:nvSpPr>
        <p:spPr>
          <a:xfrm>
            <a:off x="457200" y="2651760"/>
            <a:ext cx="2615184" cy="1417320"/>
          </a:xfrm>
          <a:prstGeom prst="roundRect">
            <a:avLst>
              <a:gd name="adj" fmla="val 5161"/>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788920"/>
            <a:ext cx="2615184" cy="685800"/>
          </a:xfrm>
          <a:prstGeom prst="rect">
            <a:avLst/>
          </a:prstGeom>
          <a:noFill/>
        </p:spPr>
        <p:txBody>
          <a:bodyPr wrap="square" lIns="0" rIns="0" tIns="0" bIns="0" anchor="t">
            <a:spAutoFit/>
          </a:bodyPr>
          <a:lstStyle/>
          <a:p>
            <a:pPr algn="ctr"/>
            <a:r>
              <a:rPr sz="3600" b="1" i="0">
                <a:solidFill>
                  <a:srgbClr val="F5A623"/>
                </a:solidFill>
                <a:latin typeface="Cambria"/>
              </a:rPr>
              <a:t>1.6 MB</a:t>
            </a:r>
          </a:p>
        </p:txBody>
      </p:sp>
      <p:sp>
        <p:nvSpPr>
          <p:cNvPr id="16" name="TextBox 15"/>
          <p:cNvSpPr txBox="1"/>
          <p:nvPr/>
        </p:nvSpPr>
        <p:spPr>
          <a:xfrm>
            <a:off x="548640" y="3493008"/>
            <a:ext cx="2432304" cy="502920"/>
          </a:xfrm>
          <a:prstGeom prst="rect">
            <a:avLst/>
          </a:prstGeom>
          <a:noFill/>
        </p:spPr>
        <p:txBody>
          <a:bodyPr wrap="square" lIns="0" rIns="0" tIns="0" bIns="0" anchor="t">
            <a:spAutoFit/>
          </a:bodyPr>
          <a:lstStyle/>
          <a:p>
            <a:pPr algn="ctr"/>
            <a:r>
              <a:rPr sz="1600" b="0" i="0">
                <a:solidFill>
                  <a:srgbClr val="FFFFFF"/>
                </a:solidFill>
                <a:latin typeface="Calibri"/>
              </a:rPr>
              <a:t>tray alert process</a:t>
            </a:r>
          </a:p>
        </p:txBody>
      </p:sp>
      <p:sp>
        <p:nvSpPr>
          <p:cNvPr id="17" name="Rounded Rectangle 16"/>
          <p:cNvSpPr/>
          <p:nvPr/>
        </p:nvSpPr>
        <p:spPr>
          <a:xfrm>
            <a:off x="3264408" y="2651760"/>
            <a:ext cx="2615184" cy="1417320"/>
          </a:xfrm>
          <a:prstGeom prst="roundRect">
            <a:avLst>
              <a:gd name="adj" fmla="val 5161"/>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64408" y="2788920"/>
            <a:ext cx="2615184" cy="685800"/>
          </a:xfrm>
          <a:prstGeom prst="rect">
            <a:avLst/>
          </a:prstGeom>
          <a:noFill/>
        </p:spPr>
        <p:txBody>
          <a:bodyPr wrap="square" lIns="0" rIns="0" tIns="0" bIns="0" anchor="t">
            <a:spAutoFit/>
          </a:bodyPr>
          <a:lstStyle/>
          <a:p>
            <a:pPr algn="ctr"/>
            <a:r>
              <a:rPr sz="3600" b="1" i="0">
                <a:solidFill>
                  <a:srgbClr val="F5A623"/>
                </a:solidFill>
                <a:latin typeface="Cambria"/>
              </a:rPr>
              <a:t>76 ms</a:t>
            </a:r>
          </a:p>
        </p:txBody>
      </p:sp>
      <p:sp>
        <p:nvSpPr>
          <p:cNvPr id="19" name="TextBox 18"/>
          <p:cNvSpPr txBox="1"/>
          <p:nvPr/>
        </p:nvSpPr>
        <p:spPr>
          <a:xfrm>
            <a:off x="3355848" y="3493008"/>
            <a:ext cx="2432304" cy="502920"/>
          </a:xfrm>
          <a:prstGeom prst="rect">
            <a:avLst/>
          </a:prstGeom>
          <a:noFill/>
        </p:spPr>
        <p:txBody>
          <a:bodyPr wrap="square" lIns="0" rIns="0" tIns="0" bIns="0" anchor="t">
            <a:spAutoFit/>
          </a:bodyPr>
          <a:lstStyle/>
          <a:p>
            <a:pPr algn="ctr"/>
            <a:r>
              <a:rPr sz="1600" b="0" i="0">
                <a:solidFill>
                  <a:srgbClr val="FFFFFF"/>
                </a:solidFill>
                <a:latin typeface="Calibri"/>
              </a:rPr>
              <a:t>treemap of all of C:</a:t>
            </a:r>
          </a:p>
        </p:txBody>
      </p:sp>
      <p:sp>
        <p:nvSpPr>
          <p:cNvPr id="20" name="Rounded Rectangle 19"/>
          <p:cNvSpPr/>
          <p:nvPr/>
        </p:nvSpPr>
        <p:spPr>
          <a:xfrm>
            <a:off x="6071616" y="2651760"/>
            <a:ext cx="2615184" cy="1417320"/>
          </a:xfrm>
          <a:prstGeom prst="roundRect">
            <a:avLst>
              <a:gd name="adj" fmla="val 5161"/>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71616" y="2788920"/>
            <a:ext cx="2615184" cy="685800"/>
          </a:xfrm>
          <a:prstGeom prst="rect">
            <a:avLst/>
          </a:prstGeom>
          <a:noFill/>
        </p:spPr>
        <p:txBody>
          <a:bodyPr wrap="square" lIns="0" rIns="0" tIns="0" bIns="0" anchor="t">
            <a:spAutoFit/>
          </a:bodyPr>
          <a:lstStyle/>
          <a:p>
            <a:pPr algn="ctr"/>
            <a:r>
              <a:rPr sz="3600" b="1" i="0">
                <a:solidFill>
                  <a:srgbClr val="F5A623"/>
                </a:solidFill>
                <a:latin typeface="Cambria"/>
              </a:rPr>
              <a:t>TBD</a:t>
            </a:r>
          </a:p>
        </p:txBody>
      </p:sp>
      <p:sp>
        <p:nvSpPr>
          <p:cNvPr id="22" name="TextBox 21"/>
          <p:cNvSpPr txBox="1"/>
          <p:nvPr/>
        </p:nvSpPr>
        <p:spPr>
          <a:xfrm>
            <a:off x="6163055" y="3493008"/>
            <a:ext cx="2432304" cy="502920"/>
          </a:xfrm>
          <a:prstGeom prst="rect">
            <a:avLst/>
          </a:prstGeom>
          <a:noFill/>
        </p:spPr>
        <p:txBody>
          <a:bodyPr wrap="square" lIns="0" rIns="0" tIns="0" bIns="0" anchor="t">
            <a:spAutoFit/>
          </a:bodyPr>
          <a:lstStyle/>
          <a:p>
            <a:pPr algn="ctr"/>
            <a:r>
              <a:rPr sz="1600" b="0" i="0">
                <a:solidFill>
                  <a:srgbClr val="FFFFFF"/>
                </a:solidFill>
                <a:latin typeface="Calibri"/>
              </a:rPr>
              <a:t>space freed in 0-byte test</a:t>
            </a:r>
          </a:p>
        </p:txBody>
      </p:sp>
      <p:sp>
        <p:nvSpPr>
          <p:cNvPr id="23" name="TextBox 22"/>
          <p:cNvSpPr txBox="1"/>
          <p:nvPr/>
        </p:nvSpPr>
        <p:spPr>
          <a:xfrm>
            <a:off x="457200" y="4343400"/>
            <a:ext cx="8229600" cy="320040"/>
          </a:xfrm>
          <a:prstGeom prst="rect">
            <a:avLst/>
          </a:prstGeom>
          <a:noFill/>
        </p:spPr>
        <p:txBody>
          <a:bodyPr wrap="square" lIns="0" rIns="0" tIns="0" bIns="0" anchor="t">
            <a:spAutoFit/>
          </a:bodyPr>
          <a:lstStyle/>
          <a:p>
            <a:pPr algn="l"/>
            <a:r>
              <a:rPr sz="1400" b="0" i="0">
                <a:solidFill>
                  <a:srgbClr val="5B6B80"/>
                </a:solidFill>
                <a:latin typeface="Calibri"/>
              </a:rPr>
              <a:t>Test machine: Intel Core i5-1335U, 16 GB RAM, Windows 11, C: 292 GB NTFS, 1.68M files.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FFFFFF"/>
                </a:solidFill>
                <a:latin typeface="Cambria"/>
              </a:rPr>
              <a:t>Conclusion</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8A9AAF"/>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8A9AAF"/>
                </a:solidFill>
                <a:latin typeface="Calibri"/>
              </a:rPr>
              <a:t>31</a:t>
            </a:r>
          </a:p>
        </p:txBody>
      </p:sp>
      <p:sp>
        <p:nvSpPr>
          <p:cNvPr id="5" name="TextBox 4"/>
          <p:cNvSpPr txBox="1"/>
          <p:nvPr/>
        </p:nvSpPr>
        <p:spPr>
          <a:xfrm>
            <a:off x="457200" y="1051560"/>
            <a:ext cx="3931920" cy="411480"/>
          </a:xfrm>
          <a:prstGeom prst="rect">
            <a:avLst/>
          </a:prstGeom>
          <a:noFill/>
        </p:spPr>
        <p:txBody>
          <a:bodyPr wrap="square" lIns="0" rIns="0" tIns="0" bIns="0" anchor="t">
            <a:spAutoFit/>
          </a:bodyPr>
          <a:lstStyle/>
          <a:p>
            <a:pPr algn="l"/>
            <a:r>
              <a:rPr sz="2200" b="1" i="0">
                <a:solidFill>
                  <a:srgbClr val="F5A623"/>
                </a:solidFill>
                <a:latin typeface="Calibri"/>
              </a:rPr>
              <a:t>What we delivered</a:t>
            </a:r>
          </a:p>
        </p:txBody>
      </p:sp>
      <p:sp>
        <p:nvSpPr>
          <p:cNvPr id="6" name="TextBox 5"/>
          <p:cNvSpPr txBox="1"/>
          <p:nvPr/>
        </p:nvSpPr>
        <p:spPr>
          <a:xfrm>
            <a:off x="457200" y="1554480"/>
            <a:ext cx="3931920" cy="2926080"/>
          </a:xfrm>
          <a:prstGeom prst="rect">
            <a:avLst/>
          </a:prstGeom>
          <a:noFill/>
        </p:spPr>
        <p:txBody>
          <a:bodyPr wrap="square" lIns="0" rIns="0" tIns="0" bIns="0" anchor="t">
            <a:spAutoFit/>
          </a:bodyPr>
          <a:lstStyle/>
          <a:p>
            <a:pPr algn="l">
              <a:spcAft>
                <a:spcPts val="800"/>
              </a:spcAft>
            </a:pPr>
            <a:r>
              <a:rPr sz="1700" b="0" i="0">
                <a:solidFill>
                  <a:srgbClr val="FFFFFF"/>
                </a:solidFill>
                <a:latin typeface="Calibri"/>
              </a:rPr>
              <a:t>Scan of C: in 8.2 s, answer in 3 s</a:t>
            </a:r>
          </a:p>
          <a:p>
            <a:pPr algn="l">
              <a:spcAft>
                <a:spcPts val="800"/>
              </a:spcAft>
            </a:pPr>
            <a:r>
              <a:rPr sz="1700" b="0" i="0">
                <a:solidFill>
                  <a:srgbClr val="FFFFFF"/>
                </a:solidFill>
                <a:latin typeface="Calibri"/>
              </a:rPr>
              <a:t>Zero-write Rescue Mode, reserve file</a:t>
            </a:r>
          </a:p>
          <a:p>
            <a:pPr algn="l">
              <a:spcAft>
                <a:spcPts val="800"/>
              </a:spcAft>
            </a:pPr>
            <a:r>
              <a:rPr sz="1700" b="0" i="0">
                <a:solidFill>
                  <a:srgbClr val="FFFFFF"/>
                </a:solidFill>
                <a:latin typeface="Calibri"/>
              </a:rPr>
              <a:t>Review, quarantine and undo</a:t>
            </a:r>
          </a:p>
          <a:p>
            <a:pPr algn="l">
              <a:spcAft>
                <a:spcPts val="800"/>
              </a:spcAft>
            </a:pPr>
            <a:r>
              <a:rPr sz="1700" b="0" i="0">
                <a:solidFill>
                  <a:srgbClr val="FFFFFF"/>
                </a:solidFill>
                <a:latin typeface="Calibri"/>
              </a:rPr>
              <a:t>Alerts at 8 thresholds</a:t>
            </a:r>
          </a:p>
          <a:p>
            <a:pPr algn="l">
              <a:spcAft>
                <a:spcPts val="800"/>
              </a:spcAft>
            </a:pPr>
            <a:r>
              <a:rPr sz="1700" b="0" i="0">
                <a:solidFill>
                  <a:srgbClr val="FFFFFF"/>
                </a:solidFill>
                <a:latin typeface="Calibri"/>
              </a:rPr>
              <a:t>Disk internals on a real disk</a:t>
            </a:r>
          </a:p>
        </p:txBody>
      </p:sp>
      <p:sp>
        <p:nvSpPr>
          <p:cNvPr id="7" name="Rounded Rectangle 6"/>
          <p:cNvSpPr/>
          <p:nvPr/>
        </p:nvSpPr>
        <p:spPr>
          <a:xfrm>
            <a:off x="4663440" y="1005840"/>
            <a:ext cx="4023360" cy="3520440"/>
          </a:xfrm>
          <a:prstGeom prst="roundRect">
            <a:avLst>
              <a:gd name="adj" fmla="val 2077"/>
            </a:avLst>
          </a:prstGeom>
          <a:solidFill>
            <a:srgbClr val="1B2B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097280"/>
            <a:ext cx="3657600" cy="411480"/>
          </a:xfrm>
          <a:prstGeom prst="rect">
            <a:avLst/>
          </a:prstGeom>
          <a:noFill/>
        </p:spPr>
        <p:txBody>
          <a:bodyPr wrap="square" lIns="0" rIns="0" tIns="0" bIns="0" anchor="t">
            <a:spAutoFit/>
          </a:bodyPr>
          <a:lstStyle/>
          <a:p>
            <a:pPr algn="l"/>
            <a:r>
              <a:rPr sz="2000" b="1" i="0">
                <a:solidFill>
                  <a:srgbClr val="F5A623"/>
                </a:solidFill>
                <a:latin typeface="Calibri"/>
              </a:rPr>
              <a:t>Limitations and future work</a:t>
            </a:r>
          </a:p>
        </p:txBody>
      </p:sp>
      <p:sp>
        <p:nvSpPr>
          <p:cNvPr id="9" name="TextBox 8"/>
          <p:cNvSpPr txBox="1"/>
          <p:nvPr/>
        </p:nvSpPr>
        <p:spPr>
          <a:xfrm>
            <a:off x="4846320" y="1600200"/>
            <a:ext cx="3657600" cy="2834640"/>
          </a:xfrm>
          <a:prstGeom prst="rect">
            <a:avLst/>
          </a:prstGeom>
          <a:noFill/>
        </p:spPr>
        <p:txBody>
          <a:bodyPr wrap="square" lIns="0" rIns="0" tIns="0" bIns="0" anchor="t">
            <a:spAutoFit/>
          </a:bodyPr>
          <a:lstStyle/>
          <a:p>
            <a:pPr algn="l">
              <a:spcAft>
                <a:spcPts val="700"/>
              </a:spcAft>
            </a:pPr>
            <a:r>
              <a:rPr sz="1600" b="0" i="0">
                <a:solidFill>
                  <a:srgbClr val="DCE3EE"/>
                </a:solidFill>
                <a:latin typeface="Calibri"/>
              </a:rPr>
              <a:t>0-byte VHDX test still to run</a:t>
            </a:r>
          </a:p>
          <a:p>
            <a:pPr algn="l">
              <a:spcAft>
                <a:spcPts val="700"/>
              </a:spcAft>
            </a:pPr>
            <a:r>
              <a:rPr sz="1600" b="0" i="0">
                <a:solidFill>
                  <a:srgbClr val="DCE3EE"/>
                </a:solidFill>
                <a:latin typeface="Calibri"/>
              </a:rPr>
              <a:t>Parallel MFT path: elevated benchmark</a:t>
            </a:r>
          </a:p>
          <a:p>
            <a:pPr algn="l">
              <a:spcAft>
                <a:spcPts val="700"/>
              </a:spcAft>
            </a:pPr>
            <a:r>
              <a:rPr sz="1600" b="0" i="0">
                <a:solidFill>
                  <a:srgbClr val="DCE3EE"/>
                </a:solidFill>
                <a:latin typeface="Calibri"/>
              </a:rPr>
              <a:t>Cold-cache timing of new scanner</a:t>
            </a:r>
          </a:p>
          <a:p>
            <a:pPr algn="l">
              <a:spcAft>
                <a:spcPts val="700"/>
              </a:spcAft>
            </a:pPr>
            <a:r>
              <a:rPr sz="1600" b="0" i="0">
                <a:solidFill>
                  <a:srgbClr val="DCE3EE"/>
                </a:solidFill>
                <a:latin typeface="Calibri"/>
              </a:rPr>
              <a:t>Installer unsigned, per-user only</a:t>
            </a:r>
          </a:p>
          <a:p>
            <a:pPr algn="l">
              <a:spcAft>
                <a:spcPts val="700"/>
              </a:spcAft>
            </a:pPr>
            <a:r>
              <a:rPr sz="1600" b="0" i="0">
                <a:solidFill>
                  <a:srgbClr val="DCE3EE"/>
                </a:solidFill>
                <a:latin typeface="Calibri"/>
              </a:rPr>
              <a:t>Windows 11 top-level menu entry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lIns="0" rIns="0" tIns="0" bIns="0" anchor="ctr">
            <a:spAutoFit/>
          </a:bodyPr>
          <a:lstStyle/>
          <a:p>
            <a:pPr algn="l"/>
            <a:r>
              <a:rPr sz="3600" b="1" i="0">
                <a:solidFill>
                  <a:srgbClr val="0F1B2D"/>
                </a:solidFill>
                <a:latin typeface="Cambria"/>
              </a:rPr>
              <a:t>References</a:t>
            </a:r>
          </a:p>
        </p:txBody>
      </p:sp>
      <p:sp>
        <p:nvSpPr>
          <p:cNvPr id="3" name="TextBox 2"/>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5B6B80"/>
                </a:solidFill>
                <a:latin typeface="Calibri"/>
              </a:rPr>
              <a:t>SpaceRescue · OS Course Project</a:t>
            </a:r>
          </a:p>
        </p:txBody>
      </p:sp>
      <p:sp>
        <p:nvSpPr>
          <p:cNvPr id="4" name="TextBox 3"/>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5B6B80"/>
                </a:solidFill>
                <a:latin typeface="Calibri"/>
              </a:rPr>
              <a:t>32</a:t>
            </a:r>
          </a:p>
        </p:txBody>
      </p:sp>
      <p:sp>
        <p:nvSpPr>
          <p:cNvPr id="5" name="TextBox 4"/>
          <p:cNvSpPr txBox="1"/>
          <p:nvPr/>
        </p:nvSpPr>
        <p:spPr>
          <a:xfrm>
            <a:off x="457200" y="1051560"/>
            <a:ext cx="4023360" cy="3566160"/>
          </a:xfrm>
          <a:prstGeom prst="rect">
            <a:avLst/>
          </a:prstGeom>
          <a:noFill/>
        </p:spPr>
        <p:txBody>
          <a:bodyPr wrap="square" lIns="0" rIns="0" tIns="0" bIns="0" anchor="t">
            <a:spAutoFit/>
          </a:bodyPr>
          <a:lstStyle/>
          <a:p>
            <a:pPr algn="l">
              <a:spcAft>
                <a:spcPts val="1000"/>
              </a:spcAft>
            </a:pPr>
            <a:r>
              <a:rPr sz="1400" b="0" i="0">
                <a:solidFill>
                  <a:srgbClr val="0F1B2D"/>
                </a:solidFill>
                <a:latin typeface="Calibri"/>
              </a:rPr>
              <a:t>[1] A. Silberschatz, P. B. Galvin, G. Gagne. Operating System Concepts, 10th ed. Wiley, 2018.</a:t>
            </a:r>
          </a:p>
          <a:p>
            <a:pPr algn="l">
              <a:spcAft>
                <a:spcPts val="1000"/>
              </a:spcAft>
            </a:pPr>
            <a:r>
              <a:rPr sz="1400" b="0" i="0">
                <a:solidFill>
                  <a:srgbClr val="0F1B2D"/>
                </a:solidFill>
                <a:latin typeface="Calibri"/>
              </a:rPr>
              <a:t>[2] B. Shneiderman. Tree visualization with tree-maps: 2-d space-filling approach. ACM Trans. on Graphics 11(1):92–99, 1992.</a:t>
            </a:r>
          </a:p>
          <a:p>
            <a:pPr algn="l">
              <a:spcAft>
                <a:spcPts val="1000"/>
              </a:spcAft>
            </a:pPr>
            <a:r>
              <a:rPr sz="1400" b="0" i="0">
                <a:solidFill>
                  <a:srgbClr val="0F1B2D"/>
                </a:solidFill>
                <a:latin typeface="Calibri"/>
              </a:rPr>
              <a:t>[3] J. J. van Wijk, H. van de Wetering. Cushion treemaps: visualization of hierarchical information. Proc. IEEE InfoVis, 1999.</a:t>
            </a:r>
          </a:p>
          <a:p>
            <a:pPr algn="l">
              <a:spcAft>
                <a:spcPts val="1000"/>
              </a:spcAft>
            </a:pPr>
            <a:r>
              <a:rPr sz="1400" b="0" i="0">
                <a:solidFill>
                  <a:srgbClr val="0F1B2D"/>
                </a:solidFill>
                <a:latin typeface="Calibri"/>
              </a:rPr>
              <a:t>[4] M. Bruls, K. Huizing, J. J. van Wijk. Squarified treemaps. Proc. Joint Eurographics/IEEE TCVG VisSym, 2000.</a:t>
            </a:r>
          </a:p>
        </p:txBody>
      </p:sp>
      <p:sp>
        <p:nvSpPr>
          <p:cNvPr id="6" name="TextBox 5"/>
          <p:cNvSpPr txBox="1"/>
          <p:nvPr/>
        </p:nvSpPr>
        <p:spPr>
          <a:xfrm>
            <a:off x="4663440" y="1051560"/>
            <a:ext cx="4023360" cy="3566160"/>
          </a:xfrm>
          <a:prstGeom prst="rect">
            <a:avLst/>
          </a:prstGeom>
          <a:noFill/>
        </p:spPr>
        <p:txBody>
          <a:bodyPr wrap="square" lIns="0" rIns="0" tIns="0" bIns="0" anchor="t">
            <a:spAutoFit/>
          </a:bodyPr>
          <a:lstStyle/>
          <a:p>
            <a:pPr algn="l">
              <a:spcAft>
                <a:spcPts val="1000"/>
              </a:spcAft>
            </a:pPr>
            <a:r>
              <a:rPr sz="1400" b="0" i="0">
                <a:solidFill>
                  <a:srgbClr val="0F1B2D"/>
                </a:solidFill>
                <a:latin typeface="Calibri"/>
              </a:rPr>
              <a:t>[5] J. Stasko, E. Zhang. Focus+context display and navigation techniques for radial, space-filling hierarchy visualizations. Proc. IEEE InfoVis, 2000.</a:t>
            </a:r>
          </a:p>
          <a:p>
            <a:pPr algn="l">
              <a:spcAft>
                <a:spcPts val="1000"/>
              </a:spcAft>
            </a:pPr>
            <a:r>
              <a:rPr sz="1400" b="0" i="0">
                <a:solidFill>
                  <a:srgbClr val="0F1B2D"/>
                </a:solidFill>
                <a:latin typeface="Calibri"/>
              </a:rPr>
              <a:t>[6] WinDirStat Team. WinDirStat 2.10, windirstat.net (studied as a reference).</a:t>
            </a:r>
          </a:p>
          <a:p>
            <a:pPr algn="l">
              <a:spcAft>
                <a:spcPts val="1000"/>
              </a:spcAft>
            </a:pPr>
            <a:r>
              <a:rPr sz="1400" b="0" i="0">
                <a:solidFill>
                  <a:srgbClr val="0F1B2D"/>
                </a:solidFill>
                <a:latin typeface="Calibri"/>
              </a:rPr>
              <a:t>[7] Microsoft Learn: FSCTL_GET_NTFS_VOLUME_DATA, FSCTL_GET_RETRIEVAL_POINTERS, NtQueryDirectoryFile.</a:t>
            </a:r>
          </a:p>
          <a:p>
            <a:pPr algn="l">
              <a:spcAft>
                <a:spcPts val="1000"/>
              </a:spcAft>
            </a:pPr>
            <a:r>
              <a:rPr sz="1400" b="0" i="0">
                <a:solidFill>
                  <a:srgbClr val="0F1B2D"/>
                </a:solidFill>
                <a:latin typeface="Calibri"/>
              </a:rPr>
              <a:t>[8] Microsoft Learn: Slim Reader/Writer (SRW) Locks; Condition Variables; Shell_NotifyIcon.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457200" y="4846320"/>
            <a:ext cx="4572000" cy="182880"/>
          </a:xfrm>
          <a:prstGeom prst="rect">
            <a:avLst/>
          </a:prstGeom>
          <a:noFill/>
        </p:spPr>
        <p:txBody>
          <a:bodyPr wrap="square" lIns="0" rIns="0" tIns="0" bIns="0" anchor="t">
            <a:spAutoFit/>
          </a:bodyPr>
          <a:lstStyle/>
          <a:p>
            <a:pPr algn="l"/>
            <a:r>
              <a:rPr sz="1000" b="0" i="0">
                <a:solidFill>
                  <a:srgbClr val="8A9AAF"/>
                </a:solidFill>
                <a:latin typeface="Calibri"/>
              </a:rPr>
              <a:t>SpaceRescue · OS Course Project</a:t>
            </a:r>
          </a:p>
        </p:txBody>
      </p:sp>
      <p:sp>
        <p:nvSpPr>
          <p:cNvPr id="3" name="TextBox 2"/>
          <p:cNvSpPr txBox="1"/>
          <p:nvPr/>
        </p:nvSpPr>
        <p:spPr>
          <a:xfrm>
            <a:off x="7772400" y="4846320"/>
            <a:ext cx="914400" cy="182880"/>
          </a:xfrm>
          <a:prstGeom prst="rect">
            <a:avLst/>
          </a:prstGeom>
          <a:noFill/>
        </p:spPr>
        <p:txBody>
          <a:bodyPr wrap="square" lIns="0" rIns="0" tIns="0" bIns="0" anchor="t">
            <a:spAutoFit/>
          </a:bodyPr>
          <a:lstStyle/>
          <a:p>
            <a:pPr algn="r"/>
            <a:r>
              <a:rPr sz="1000" b="0" i="0">
                <a:solidFill>
                  <a:srgbClr val="8A9AAF"/>
                </a:solidFill>
                <a:latin typeface="Calibri"/>
              </a:rPr>
              <a:t>33</a:t>
            </a:r>
          </a:p>
        </p:txBody>
      </p:sp>
      <p:sp>
        <p:nvSpPr>
          <p:cNvPr id="4" name="TextBox 3"/>
          <p:cNvSpPr txBox="1"/>
          <p:nvPr/>
        </p:nvSpPr>
        <p:spPr>
          <a:xfrm>
            <a:off x="548640" y="1371600"/>
            <a:ext cx="4572000" cy="914400"/>
          </a:xfrm>
          <a:prstGeom prst="rect">
            <a:avLst/>
          </a:prstGeom>
          <a:noFill/>
        </p:spPr>
        <p:txBody>
          <a:bodyPr wrap="square" lIns="0" rIns="0" tIns="0" bIns="0" anchor="t">
            <a:spAutoFit/>
          </a:bodyPr>
          <a:lstStyle/>
          <a:p>
            <a:pPr algn="l"/>
            <a:r>
              <a:rPr sz="5400" b="1" i="0">
                <a:solidFill>
                  <a:srgbClr val="FFFFFF"/>
                </a:solidFill>
                <a:latin typeface="Cambria"/>
              </a:rPr>
              <a:t>Thank you</a:t>
            </a:r>
          </a:p>
        </p:txBody>
      </p:sp>
      <p:sp>
        <p:nvSpPr>
          <p:cNvPr id="5" name="TextBox 4"/>
          <p:cNvSpPr txBox="1"/>
          <p:nvPr/>
        </p:nvSpPr>
        <p:spPr>
          <a:xfrm>
            <a:off x="548640" y="2331720"/>
            <a:ext cx="4572000" cy="457200"/>
          </a:xfrm>
          <a:prstGeom prst="rect">
            <a:avLst/>
          </a:prstGeom>
          <a:noFill/>
        </p:spPr>
        <p:txBody>
          <a:bodyPr wrap="square" lIns="0" rIns="0" tIns="0" bIns="0" anchor="t">
            <a:spAutoFit/>
          </a:bodyPr>
          <a:lstStyle/>
          <a:p>
            <a:pPr algn="l"/>
            <a:r>
              <a:rPr sz="2200" b="0" i="0">
                <a:solidFill>
                  <a:srgbClr val="F5A623"/>
                </a:solidFill>
                <a:latin typeface="Calibri"/>
              </a:rPr>
              <a:t>Questions are welcome</a:t>
            </a:r>
          </a:p>
        </p:txBody>
      </p:sp>
      <p:sp>
        <p:nvSpPr>
          <p:cNvPr id="6" name="TextBox 5"/>
          <p:cNvSpPr txBox="1"/>
          <p:nvPr/>
        </p:nvSpPr>
        <p:spPr>
          <a:xfrm>
            <a:off x="548640" y="3017520"/>
            <a:ext cx="4572000" cy="365760"/>
          </a:xfrm>
          <a:prstGeom prst="rect">
            <a:avLst/>
          </a:prstGeom>
          <a:noFill/>
        </p:spPr>
        <p:txBody>
          <a:bodyPr wrap="square" lIns="0" rIns="0" tIns="0" bIns="0" anchor="t">
            <a:spAutoFit/>
          </a:bodyPr>
          <a:lstStyle/>
          <a:p>
            <a:pPr algn="l"/>
            <a:r>
              <a:rPr sz="1500" b="0" i="0">
                <a:solidFill>
                  <a:srgbClr val="B8C4D6"/>
                </a:solidFill>
                <a:latin typeface="Calibri"/>
              </a:rPr>
              <a:t>SpaceRescue · Operating Systems Course Project</a:t>
            </a:r>
          </a:p>
        </p:txBody>
      </p:sp>
      <p:sp>
        <p:nvSpPr>
          <p:cNvPr id="7" name="Donut 6"/>
          <p:cNvSpPr/>
          <p:nvPr/>
        </p:nvSpPr>
        <p:spPr>
          <a:xfrm>
            <a:off x="5806440" y="1188719"/>
            <a:ext cx="2286000" cy="2286000"/>
          </a:xfrm>
          <a:prstGeom prst="donut">
            <a:avLst>
              <a:gd name="adj" fmla="val 13000"/>
            </a:avLst>
          </a:prstGeom>
          <a:solidFill>
            <a:srgbClr val="2A3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lock Arc 7"/>
          <p:cNvSpPr/>
          <p:nvPr/>
        </p:nvSpPr>
        <p:spPr>
          <a:xfrm>
            <a:off x="5806440" y="1188719"/>
            <a:ext cx="2286000" cy="2286000"/>
          </a:xfrm>
          <a:prstGeom prst="blockArc">
            <a:avLst>
              <a:gd name="adj1" fmla="val 27000000"/>
              <a:gd name="adj2" fmla="val 21239999"/>
              <a:gd name="adj3" fmla="val 13000"/>
            </a:avLst>
          </a:prstGeom>
          <a:solidFill>
            <a:srgbClr val="1F9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2039112"/>
            <a:ext cx="2286000" cy="365760"/>
          </a:xfrm>
          <a:prstGeom prst="rect">
            <a:avLst/>
          </a:prstGeom>
          <a:noFill/>
        </p:spPr>
        <p:txBody>
          <a:bodyPr wrap="square" lIns="0" rIns="0" tIns="0" bIns="0" anchor="t">
            <a:spAutoFit/>
          </a:bodyPr>
          <a:lstStyle/>
          <a:p>
            <a:pPr algn="ctr"/>
            <a:r>
              <a:rPr sz="2200" b="1" i="0">
                <a:solidFill>
                  <a:srgbClr val="FFFFFF"/>
                </a:solidFill>
                <a:latin typeface="Cambria"/>
              </a:rPr>
              <a:t>29 GB</a:t>
            </a:r>
          </a:p>
        </p:txBody>
      </p:sp>
      <p:sp>
        <p:nvSpPr>
          <p:cNvPr id="10" name="TextBox 9"/>
          <p:cNvSpPr txBox="1"/>
          <p:nvPr/>
        </p:nvSpPr>
        <p:spPr>
          <a:xfrm>
            <a:off x="5806440" y="2404872"/>
            <a:ext cx="2286000" cy="274320"/>
          </a:xfrm>
          <a:prstGeom prst="rect">
            <a:avLst/>
          </a:prstGeom>
          <a:noFill/>
        </p:spPr>
        <p:txBody>
          <a:bodyPr wrap="square" lIns="0" rIns="0" tIns="0" bIns="0" anchor="t">
            <a:spAutoFit/>
          </a:bodyPr>
          <a:lstStyle/>
          <a:p>
            <a:pPr algn="ctr"/>
            <a:r>
              <a:rPr sz="1400" b="0" i="0">
                <a:solidFill>
                  <a:srgbClr val="B8C4D6"/>
                </a:solidFill>
                <a:latin typeface="Calibri"/>
              </a:rPr>
              <a:t>safe to free on C:</a:t>
            </a:r>
          </a:p>
        </p:txBody>
      </p:sp>
      <p:sp>
        <p:nvSpPr>
          <p:cNvPr id="11" name="Rounded Rectangle 10"/>
          <p:cNvSpPr/>
          <p:nvPr/>
        </p:nvSpPr>
        <p:spPr>
          <a:xfrm>
            <a:off x="5989320" y="3794760"/>
            <a:ext cx="1920240" cy="384048"/>
          </a:xfrm>
          <a:prstGeom prst="roundRect">
            <a:avLst>
              <a:gd name="adj" fmla="val 50000"/>
            </a:avLst>
          </a:prstGeom>
          <a:solidFill>
            <a:srgbClr val="1F9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20" y="3794760"/>
            <a:ext cx="1920240" cy="384048"/>
          </a:xfrm>
          <a:prstGeom prst="rect">
            <a:avLst/>
          </a:prstGeom>
          <a:noFill/>
        </p:spPr>
        <p:txBody>
          <a:bodyPr wrap="square" lIns="0" rIns="0" tIns="0" bIns="0" anchor="ctr">
            <a:spAutoFit/>
          </a:bodyPr>
          <a:lstStyle/>
          <a:p>
            <a:pPr algn="ctr"/>
            <a:r>
              <a:rPr sz="1500" b="1" i="0">
                <a:solidFill>
                  <a:srgbClr val="FFFFFF"/>
                </a:solidFill>
                <a:latin typeface="Calibri"/>
              </a:rPr>
              <a:t>Drive under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